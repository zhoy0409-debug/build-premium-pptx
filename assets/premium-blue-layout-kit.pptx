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df578add414daf" /><Relationship Type="http://schemas.openxmlformats.org/officeDocument/2006/relationships/extended-properties" Target="/docProps/app.xml" Id="Rd25677f110b04e66" /><Relationship Type="http://schemas.openxmlformats.org/officeDocument/2006/relationships/officeDocument" Target="/ppt/presentation.xml" Id="R081a48d00a0f4e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d18bb7f1e048c8"/>
  </p:sldMasterIdLst>
  <p:notesMasterIdLst>
    <p:notesMasterId xmlns:r="http://schemas.openxmlformats.org/officeDocument/2006/relationships" r:id="R1e56aa91e359400d"/>
  </p:notesMasterIdLst>
  <p:sldIdLst>
    <p:sldId xmlns:r="http://schemas.openxmlformats.org/officeDocument/2006/relationships" id="256" r:id="R57291a3a265d4c72"/>
    <p:sldId xmlns:r="http://schemas.openxmlformats.org/officeDocument/2006/relationships" id="257" r:id="R8ac3cac5ec01450b"/>
    <p:sldId xmlns:r="http://schemas.openxmlformats.org/officeDocument/2006/relationships" id="258" r:id="R747dd2c1cce34ed5"/>
    <p:sldId xmlns:r="http://schemas.openxmlformats.org/officeDocument/2006/relationships" id="259" r:id="R27868ef7287f4e9d"/>
    <p:sldId xmlns:r="http://schemas.openxmlformats.org/officeDocument/2006/relationships" id="260" r:id="Rbc95a4926ad842ff"/>
    <p:sldId xmlns:r="http://schemas.openxmlformats.org/officeDocument/2006/relationships" id="261" r:id="R170da19bf6f7427b"/>
    <p:sldId xmlns:r="http://schemas.openxmlformats.org/officeDocument/2006/relationships" id="262" r:id="R6e2c73c789234ac3"/>
    <p:sldId xmlns:r="http://schemas.openxmlformats.org/officeDocument/2006/relationships" id="263" r:id="R5221f73f4f9c4fc2"/>
    <p:sldId xmlns:r="http://schemas.openxmlformats.org/officeDocument/2006/relationships" id="264" r:id="R68eab77b226d47c6"/>
    <p:sldId xmlns:r="http://schemas.openxmlformats.org/officeDocument/2006/relationships" id="265" r:id="Rfa99e9a0dca34228"/>
    <p:sldId xmlns:r="http://schemas.openxmlformats.org/officeDocument/2006/relationships" id="266" r:id="Rdc9cd0a9dc8b4f86"/>
    <p:sldId xmlns:r="http://schemas.openxmlformats.org/officeDocument/2006/relationships" id="267" r:id="R474c59bbf7e74ec0"/>
    <p:sldId xmlns:r="http://schemas.openxmlformats.org/officeDocument/2006/relationships" id="268" r:id="Ra4cd3fe6d13e4d1a"/>
    <p:sldId xmlns:r="http://schemas.openxmlformats.org/officeDocument/2006/relationships" id="269" r:id="Rcf80d0e841294ff0"/>
    <p:sldId xmlns:r="http://schemas.openxmlformats.org/officeDocument/2006/relationships" id="270" r:id="Re2ccc27ce0b448ff"/>
    <p:sldId xmlns:r="http://schemas.openxmlformats.org/officeDocument/2006/relationships" id="271" r:id="R9949bff7ea124460"/>
    <p:sldId xmlns:r="http://schemas.openxmlformats.org/officeDocument/2006/relationships" id="272" r:id="R729acbcec03148e6"/>
    <p:sldId xmlns:r="http://schemas.openxmlformats.org/officeDocument/2006/relationships" id="273" r:id="Rbfbdedd1420b4881"/>
    <p:sldId xmlns:r="http://schemas.openxmlformats.org/officeDocument/2006/relationships" id="274" r:id="R5d75bf220ee74624"/>
    <p:sldId xmlns:r="http://schemas.openxmlformats.org/officeDocument/2006/relationships" id="275" r:id="R72cc66d534d246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22c6579324f72" /><Relationship Type="http://schemas.openxmlformats.org/officeDocument/2006/relationships/slideMaster" Target="/ppt/slideMasters/slideMaster1.xml" Id="R77d18bb7f1e048c8" /><Relationship Type="http://schemas.openxmlformats.org/officeDocument/2006/relationships/notesMaster" Target="/ppt/notesMasters/notesMaster1.xml" Id="R1e56aa91e359400d" /><Relationship Type="http://schemas.openxmlformats.org/officeDocument/2006/relationships/presProps" Target="/ppt/presProps.xml" Id="Rf34806fc5dee4260" /><Relationship Type="http://schemas.openxmlformats.org/officeDocument/2006/relationships/tableStyles" Target="/ppt/tableStyles.xml" Id="R904b9f2cfad64200" /><Relationship Type="http://schemas.openxmlformats.org/officeDocument/2006/relationships/slide" Target="/ppt/slides/slide1.xml" Id="R57291a3a265d4c72" /><Relationship Type="http://schemas.openxmlformats.org/officeDocument/2006/relationships/slide" Target="/ppt/slides/slide2.xml" Id="R8ac3cac5ec01450b" /><Relationship Type="http://schemas.openxmlformats.org/officeDocument/2006/relationships/slide" Target="/ppt/slides/slide3.xml" Id="R747dd2c1cce34ed5" /><Relationship Type="http://schemas.openxmlformats.org/officeDocument/2006/relationships/slide" Target="/ppt/slides/slide4.xml" Id="R27868ef7287f4e9d" /><Relationship Type="http://schemas.openxmlformats.org/officeDocument/2006/relationships/slide" Target="/ppt/slides/slide5.xml" Id="Rbc95a4926ad842ff" /><Relationship Type="http://schemas.openxmlformats.org/officeDocument/2006/relationships/slide" Target="/ppt/slides/slide6.xml" Id="R170da19bf6f7427b" /><Relationship Type="http://schemas.openxmlformats.org/officeDocument/2006/relationships/slide" Target="/ppt/slides/slide7.xml" Id="R6e2c73c789234ac3" /><Relationship Type="http://schemas.openxmlformats.org/officeDocument/2006/relationships/slide" Target="/ppt/slides/slide8.xml" Id="R5221f73f4f9c4fc2" /><Relationship Type="http://schemas.openxmlformats.org/officeDocument/2006/relationships/slide" Target="/ppt/slides/slide9.xml" Id="R68eab77b226d47c6" /><Relationship Type="http://schemas.openxmlformats.org/officeDocument/2006/relationships/slide" Target="/ppt/slides/slide10.xml" Id="Rfa99e9a0dca34228" /><Relationship Type="http://schemas.openxmlformats.org/officeDocument/2006/relationships/slide" Target="/ppt/slides/slide11.xml" Id="Rdc9cd0a9dc8b4f86" /><Relationship Type="http://schemas.openxmlformats.org/officeDocument/2006/relationships/slide" Target="/ppt/slides/slide12.xml" Id="R474c59bbf7e74ec0" /><Relationship Type="http://schemas.openxmlformats.org/officeDocument/2006/relationships/slide" Target="/ppt/slides/slide13.xml" Id="Ra4cd3fe6d13e4d1a" /><Relationship Type="http://schemas.openxmlformats.org/officeDocument/2006/relationships/slide" Target="/ppt/slides/slide14.xml" Id="Rcf80d0e841294ff0" /><Relationship Type="http://schemas.openxmlformats.org/officeDocument/2006/relationships/slide" Target="/ppt/slides/slide15.xml" Id="Re2ccc27ce0b448ff" /><Relationship Type="http://schemas.openxmlformats.org/officeDocument/2006/relationships/slide" Target="/ppt/slides/slide16.xml" Id="R9949bff7ea124460" /><Relationship Type="http://schemas.openxmlformats.org/officeDocument/2006/relationships/slide" Target="/ppt/slides/slide17.xml" Id="R729acbcec03148e6" /><Relationship Type="http://schemas.openxmlformats.org/officeDocument/2006/relationships/slide" Target="/ppt/slides/slide18.xml" Id="Rbfbdedd1420b4881" /><Relationship Type="http://schemas.openxmlformats.org/officeDocument/2006/relationships/slide" Target="/ppt/slides/slide19.xml" Id="R5d75bf220ee74624" /><Relationship Type="http://schemas.openxmlformats.org/officeDocument/2006/relationships/slide" Target="/ppt/slides/slide20.xml" Id="R72cc66d534d2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3f78abf3c0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c0075640af420a" /><Relationship Type="http://schemas.openxmlformats.org/officeDocument/2006/relationships/notesMaster" Target="/ppt/notesMasters/notesMaster1.xml" Id="R9e36d1cf39e0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df7d0af1ed49eb" /><Relationship Type="http://schemas.openxmlformats.org/officeDocument/2006/relationships/notesMaster" Target="/ppt/notesMasters/notesMaster1.xml" Id="Ra660833a4e7e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bc3acbc6c49d6" /><Relationship Type="http://schemas.openxmlformats.org/officeDocument/2006/relationships/notesMaster" Target="/ppt/notesMasters/notesMaster1.xml" Id="Rdeafe62e5b99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b397abc23e43d9" /><Relationship Type="http://schemas.openxmlformats.org/officeDocument/2006/relationships/notesMaster" Target="/ppt/notesMasters/notesMaster1.xml" Id="R26c538d53c2b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0967d3f3ac4057" /><Relationship Type="http://schemas.openxmlformats.org/officeDocument/2006/relationships/notesMaster" Target="/ppt/notesMasters/notesMaster1.xml" Id="Rcc29a42cfd7e41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7552748334c35" /><Relationship Type="http://schemas.openxmlformats.org/officeDocument/2006/relationships/notesMaster" Target="/ppt/notesMasters/notesMaster1.xml" Id="Rd1cab1a1c1e743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e5c9ec79a4b75" /><Relationship Type="http://schemas.openxmlformats.org/officeDocument/2006/relationships/notesMaster" Target="/ppt/notesMasters/notesMaster1.xml" Id="Rfa8235458e194f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b3a2c3f34f4849" /><Relationship Type="http://schemas.openxmlformats.org/officeDocument/2006/relationships/notesMaster" Target="/ppt/notesMasters/notesMaster1.xml" Id="R1479c8dc92a247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f992a583de4bab" /><Relationship Type="http://schemas.openxmlformats.org/officeDocument/2006/relationships/notesMaster" Target="/ppt/notesMasters/notesMaster1.xml" Id="Rc187756600464f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ffc8a7485c4e07" /><Relationship Type="http://schemas.openxmlformats.org/officeDocument/2006/relationships/notesMaster" Target="/ppt/notesMasters/notesMaster1.xml" Id="R4cb7be2341ce47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4fe91a5ad34aac" /><Relationship Type="http://schemas.openxmlformats.org/officeDocument/2006/relationships/notesMaster" Target="/ppt/notesMasters/notesMaster1.xml" Id="Rb393482185f342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53650848184b09" /><Relationship Type="http://schemas.openxmlformats.org/officeDocument/2006/relationships/notesMaster" Target="/ppt/notesMasters/notesMaster1.xml" Id="R9ee14c3699864c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4772dcd6684547" /><Relationship Type="http://schemas.openxmlformats.org/officeDocument/2006/relationships/notesMaster" Target="/ppt/notesMasters/notesMaster1.xml" Id="R8634274f18ca43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70306166164b4f" /><Relationship Type="http://schemas.openxmlformats.org/officeDocument/2006/relationships/notesMaster" Target="/ppt/notesMasters/notesMaster1.xml" Id="R2da2534cf2b94e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b5d609ca0145f7" /><Relationship Type="http://schemas.openxmlformats.org/officeDocument/2006/relationships/notesMaster" Target="/ppt/notesMasters/notesMaster1.xml" Id="R5c1097b67ea442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31064ed7784403" /><Relationship Type="http://schemas.openxmlformats.org/officeDocument/2006/relationships/notesMaster" Target="/ppt/notesMasters/notesMaster1.xml" Id="R12c6eafcc53040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470e6cc77f4770" /><Relationship Type="http://schemas.openxmlformats.org/officeDocument/2006/relationships/notesMaster" Target="/ppt/notesMasters/notesMaster1.xml" Id="Rc1a6b7d5b54649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75058863f14f0c" /><Relationship Type="http://schemas.openxmlformats.org/officeDocument/2006/relationships/notesMaster" Target="/ppt/notesMasters/notesMaster1.xml" Id="R7a27b02d2a4a4b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b8b5303a9c4ba5" /><Relationship Type="http://schemas.openxmlformats.org/officeDocument/2006/relationships/notesMaster" Target="/ppt/notesMasters/notesMaster1.xml" Id="R4308f05573bf40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9f9bce106f4f7b" /><Relationship Type="http://schemas.openxmlformats.org/officeDocument/2006/relationships/notesMaster" Target="/ppt/notesMasters/notesMaster1.xml" Id="Rb28f1549c750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956fcc9b343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c4fc7f33a4739" /><Relationship Type="http://schemas.openxmlformats.org/officeDocument/2006/relationships/slideLayout" Target="/ppt/slideLayouts/slideLayout1.xml" Id="R3a7ff97de551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ff97de551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4d324897b4611" /><Relationship Type="http://schemas.openxmlformats.org/officeDocument/2006/relationships/image" Target="/ppt/media/image.png" Id="Rc79ae5c170574a63" /><Relationship Type="http://schemas.openxmlformats.org/officeDocument/2006/relationships/notesSlide" Target="/ppt/notesSlides/notesSlide1.xml" Id="R09453f432e0942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4587ef7cf4744" /><Relationship Type="http://schemas.openxmlformats.org/officeDocument/2006/relationships/image" Target="/ppt/media/image2.png" Id="R8df502d6a4504887" /><Relationship Type="http://schemas.openxmlformats.org/officeDocument/2006/relationships/notesSlide" Target="/ppt/notesSlides/notesSlide2.xml" Id="R0b506eee523842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0fb564a3c45b3" /><Relationship Type="http://schemas.openxmlformats.org/officeDocument/2006/relationships/image" Target="/ppt/media/image3.png" Id="R77f8e213adc6472d" /><Relationship Type="http://schemas.openxmlformats.org/officeDocument/2006/relationships/notesSlide" Target="/ppt/notesSlides/notesSlide3.xml" Id="R3b7f98353e62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417816b154d4e" /><Relationship Type="http://schemas.openxmlformats.org/officeDocument/2006/relationships/notesSlide" Target="/ppt/notesSlides/notesSlide4.xml" Id="R9f0bd1a9883f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bfcf79d6446f0" /><Relationship Type="http://schemas.openxmlformats.org/officeDocument/2006/relationships/notesSlide" Target="/ppt/notesSlides/notesSlide5.xml" Id="Rea1f692ef8bd4e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aaf5b8729475d" /><Relationship Type="http://schemas.openxmlformats.org/officeDocument/2006/relationships/notesSlide" Target="/ppt/notesSlides/notesSlide6.xml" Id="R1cddc82f654e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fe403a27e4e67" /><Relationship Type="http://schemas.openxmlformats.org/officeDocument/2006/relationships/notesSlide" Target="/ppt/notesSlides/notesSlide7.xml" Id="R72770054640e4f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35b7105ec4e68" /><Relationship Type="http://schemas.openxmlformats.org/officeDocument/2006/relationships/notesSlide" Target="/ppt/notesSlides/notesSlide8.xml" Id="R2bcdc8cc7c39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1d26559d3475d" /><Relationship Type="http://schemas.openxmlformats.org/officeDocument/2006/relationships/notesSlide" Target="/ppt/notesSlides/notesSlide9.xml" Id="Rb8538e6a2919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b4bbe58164834" /><Relationship Type="http://schemas.openxmlformats.org/officeDocument/2006/relationships/notesSlide" Target="/ppt/notesSlides/notesSlide10.xml" Id="R2bc21932a8bd49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ac9e96eeb47c1" /><Relationship Type="http://schemas.openxmlformats.org/officeDocument/2006/relationships/notesSlide" Target="/ppt/notesSlides/notesSlide11.xml" Id="R701b23ccfdaf4e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10d66909f4a73" /><Relationship Type="http://schemas.openxmlformats.org/officeDocument/2006/relationships/notesSlide" Target="/ppt/notesSlides/notesSlide12.xml" Id="R746567e7b6154c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744d25c9747ad" /><Relationship Type="http://schemas.openxmlformats.org/officeDocument/2006/relationships/chart" Target="/ppt/slides/charts/chart1.xml" Id="R5e72e12efbfe4129" /><Relationship Type="http://schemas.openxmlformats.org/officeDocument/2006/relationships/notesSlide" Target="/ppt/notesSlides/notesSlide13.xml" Id="R768d47b7624e48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a18e641684a39" /><Relationship Type="http://schemas.openxmlformats.org/officeDocument/2006/relationships/chart" Target="/ppt/slides/charts/chart2.xml" Id="R5ddccd0313de45d5" /><Relationship Type="http://schemas.openxmlformats.org/officeDocument/2006/relationships/notesSlide" Target="/ppt/notesSlides/notesSlide14.xml" Id="R529d55fc77c644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70dfc65854abd" /><Relationship Type="http://schemas.openxmlformats.org/officeDocument/2006/relationships/chart" Target="/ppt/slides/charts/chart3.xml" Id="R52149d8adbf34dc4" /><Relationship Type="http://schemas.openxmlformats.org/officeDocument/2006/relationships/notesSlide" Target="/ppt/notesSlides/notesSlide15.xml" Id="R0f2bb8ecfedb4d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780f5e397455c" /><Relationship Type="http://schemas.openxmlformats.org/officeDocument/2006/relationships/notesSlide" Target="/ppt/notesSlides/notesSlide16.xml" Id="Rd62fae6d3ee644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3c3a3907c47f0" /><Relationship Type="http://schemas.openxmlformats.org/officeDocument/2006/relationships/notesSlide" Target="/ppt/notesSlides/notesSlide17.xml" Id="R2b0fc65d39b548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6af8208b44160" /><Relationship Type="http://schemas.openxmlformats.org/officeDocument/2006/relationships/notesSlide" Target="/ppt/notesSlides/notesSlide18.xml" Id="R7e5f1f91918446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6284f2fa04e64" /><Relationship Type="http://schemas.openxmlformats.org/officeDocument/2006/relationships/notesSlide" Target="/ppt/notesSlides/notesSlide19.xml" Id="Rf7d7e941c8bd46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98f1ff4443f3" /><Relationship Type="http://schemas.openxmlformats.org/officeDocument/2006/relationships/notesSlide" Target="/ppt/notesSlides/notesSlide20.xml" Id="Ree44274948e2408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2E5D91"/>
            </a:solidFill>
          </c:spPr>
          <c:cat>
            <c:strLit>
              <c:ptCount val="4"/>
              <c:pt idx="0">
                <c:v>材料整理</c:v>
              </c:pt>
              <c:pt idx="1">
                <c:v>故事组织</c:v>
              </c:pt>
              <c:pt idx="2">
                <c:v>版式制作</c:v>
              </c:pt>
              <c:pt idx="3">
                <c:v>最终质检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31</c:v>
              </c:pt>
              <c:pt idx="2">
                <c:v>18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2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28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B"/>
        </a:solidFill>
      </c:spPr>
    </c:plotArea>
    <c:plotVisOnly val="1"/>
  </c:chart>
  <c:spPr>
    <a:solidFill xmlns:a="http://schemas.openxmlformats.org/drawingml/2006/main">
      <a:srgbClr val="F7F9FB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完成度</c:v>
          </c:tx>
          <c:spPr>
            <a:ln xmlns:a="http://schemas.openxmlformats.org/drawingml/2006/main" w="38100">
              <a:solidFill>
                <a:srgbClr val="2E5D91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第1次</c:v>
              </c:pt>
              <c:pt idx="1">
                <c:v>第2次</c:v>
              </c:pt>
              <c:pt idx="2">
                <c:v>第3次</c:v>
              </c:pt>
              <c:pt idx="3">
                <c:v>第4次</c:v>
              </c:pt>
              <c:pt idx="4">
                <c:v>第5次</c:v>
              </c:pt>
            </c:strLit>
          </c:cat>
          <c:val>
            <c:numLit>
              <c:formatCode>0%</c:formatCode>
              <c:ptCount val="5"/>
              <c:pt idx="0">
                <c:v>0.58</c:v>
              </c:pt>
              <c:pt idx="1">
                <c:v>0.66</c:v>
              </c:pt>
              <c:pt idx="2">
                <c:v>0.74</c:v>
              </c:pt>
              <c:pt idx="3">
                <c:v>0.85</c:v>
              </c:pt>
              <c:pt idx="4">
                <c:v>0.92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8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6E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28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B"/>
        </a:solidFill>
      </c:spPr>
    </c:plotArea>
    <c:plotVisOnly val="1"/>
  </c:chart>
  <c:spPr>
    <a:solidFill xmlns:a="http://schemas.openxmlformats.org/drawingml/2006/main">
      <a:srgbClr val="F7F9FB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投入</c:v>
          </c:tx>
          <c:dPt>
            <c:idx val="0"/>
            <c:spPr>
              <a:solidFill xmlns:a="http://schemas.openxmlformats.org/drawingml/2006/main">
                <a:srgbClr val="173A5E"/>
              </a:solidFill>
            </c:spPr>
          </c:dPt>
          <c:dPt>
            <c:idx val="1"/>
            <c:spPr>
              <a:solidFill xmlns:a="http://schemas.openxmlformats.org/drawingml/2006/main">
                <a:srgbClr val="2E5D91"/>
              </a:solidFill>
            </c:spPr>
          </c:dPt>
          <c:dPt>
            <c:idx val="2"/>
            <c:spPr>
              <a:solidFill xmlns:a="http://schemas.openxmlformats.org/drawingml/2006/main">
                <a:srgbClr val="B8C9DA"/>
              </a:solidFill>
            </c:spPr>
          </c:dPt>
          <c:dPt>
            <c:idx val="3"/>
            <c:spPr>
              <a:solidFill xmlns:a="http://schemas.openxmlformats.org/drawingml/2006/main">
                <a:srgbClr val="C58A32"/>
              </a:solidFill>
            </c:spPr>
          </c:dPt>
          <c:cat>
            <c:strLit>
              <c:ptCount val="4"/>
              <c:pt idx="0">
                <c:v>结构</c:v>
              </c:pt>
              <c:pt idx="1">
                <c:v>证据</c:v>
              </c:pt>
              <c:pt idx="2">
                <c:v>视觉</c:v>
              </c:pt>
              <c:pt idx="3">
                <c:v>装饰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30</c:v>
              </c:pt>
              <c:pt idx="2">
                <c:v>25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235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7F9FB"/>
        </a:solidFill>
      </c:spPr>
    </c:plotArea>
    <c:plotVisOnly val="1"/>
  </c:chart>
  <c:spPr>
    <a:solidFill xmlns:a="http://schemas.openxmlformats.org/drawingml/2006/main">
      <a:srgbClr val="F7F9FB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ae5c170574a63"/>
          <a:srcRect xmlns:a="http://schemas.openxmlformats.org/drawingml/2006/main" l="18733" t="0" r="1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0"/>
            <a:ext cx="7620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3A55C-5BF8-4790-B969-25943339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86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F7F9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7FC42-CB1D-4531-AA9B-53DB722F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C8CDB-5474-4EBE-853A-89AD7FD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PREMIUM STORY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EB78B-271C-46D2-8F1A-6BC5E15E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让复杂内容，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变成清晰结论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388F3-ABEE-4BCD-8ED7-A7ED5A2E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适合工作汇报 · 项目提案 · 科研分享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7C2C6-6DD2-4FD1-818A-C428DAC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9395D-64C6-4308-805E-4DC9A240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12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6E0A9-221D-4D24-B423-658C9B19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演讲时长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AAE6A-D962-4B0C-B170-6F57E5DF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1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64601-FEC2-4EA1-AF62-B9DF5784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326C9-53E4-43C6-9C1F-434B9BD4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B38EF-1407-4DFC-A5DB-DBC8D8C8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530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可编辑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6839C-55F3-4FEF-B33E-0D5DC9D6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PROJECT BRIEF /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4A73D-492B-4C24-BE9F-38C6896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87012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502d6a45048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81D6C-1212-419E-B440-232FEDB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0960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B0093-A53B-4C1F-AEE3-E03413C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SCIENCE /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75A25-1E2B-40BB-B07A-14C1565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81150"/>
            <a:ext cx="4457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从问题出发，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让证据说话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3AE8C-6243-429F-BC40-C73DEE7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学术报告 · 论文答辩 · 技术分享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E1DEC-9ED6-4F1E-93A3-C073BAF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09955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8e213adc647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3847B-FF35-491C-8C72-3D40A570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81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STRATEGY /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BC662-7551-4835-BE0B-F9F317AD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81100"/>
            <a:ext cx="43243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把选择，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变成行动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FAB01-983F-4819-8CAE-5CBBD540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643F-95EB-4D67-88D0-8BB3F4D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年度规划 · 商业方案 · 复盘总结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05588-4258-4DEE-9973-7C45C9D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72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1098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A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CBB47-0CA1-44E9-A160-9475DD6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FBF8-B57D-4EBE-90F3-A51FE34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rPr>
              <a:t>SECTION DIVIDER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2E6AE-DB25-4E31-90BE-CDACEE41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D4560-F19B-4B75-A5A9-1A22F07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952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99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9C636-6614-4404-B660-985424F9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77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38B03-0723-4652-89B6-A1AB85D7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8115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先确定故事，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再选择版式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8C994-A258-4824-BFB9-90D9CA1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24200"/>
            <a:ext cx="588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章节页负责切换节奏，不承担解释任务。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2DEA4-EF1D-4DF2-A4CA-9CB9D34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68B3-4E6C-44D8-ABC2-C599461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91F59-88EF-45D5-9F9B-4034C5A9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D1C00-2BDD-4A7A-BD6C-81ACE091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为什么现在重要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66E81-A91E-420E-B7AA-28CEAFDE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279F7-4D17-4A3B-A180-34D397E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5EAEC-C4F9-4501-A5AF-EE7334E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755E9-B9E9-47DB-AEC1-BFC75B4D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哪些事实支持判断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8D4CA-A157-4B90-8D75-43B1FFB4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E3564-AE64-4FE0-A3A0-E61ED43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8D597-1B46-488C-BF90-F8EAA8B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44299-A856-47E5-80A1-C8353ED4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148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下一步需要做什么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09A3F-4493-4A84-88B8-38D81B66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785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B8A87-69D7-4B2B-A08B-41761D30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STRUCTURE BEFORE DECORATION</a:t>
            </a:r>
          </a:p>
        </p:txBody>
      </p:sp>
    </p:spTree>
    <p:extLst>
      <p:ext uri="{BB962C8B-B14F-4D97-AF65-F5344CB8AC3E}">
        <p14:creationId xmlns:p14="http://schemas.microsoft.com/office/powerpoint/2010/main" val="1775352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87C2A-0E7E-46F5-B787-28F0499A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B7171-4527-4D24-9DC7-2D4061B4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AGENDA / CHAPTER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63D99-D6D2-4410-87F0-D9E4FE89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62FA5-0348-4091-9818-43F64FB2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ONE CLEAR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069DF-E15F-4A21-B99E-B96588E4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四个章节，回答一个核心问题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E6AEF-3E55-4CB3-8E03-5C39596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让听众始终知道：现在讲到哪里，下一步为什么重要。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147E1-BD48-4E2A-8F2A-063B6ED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02E72-5308-474D-A3B7-5185D28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55706-DC78-4520-9B4D-91FBD19A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F08DF-E177-43E1-833F-4C167AC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BF101-FD54-4418-A9C0-1212FB1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为什么现在必须讨论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FF8B5-B8D0-4E69-A3AB-E771DD00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971DA-60C9-43F9-B73C-96238E7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形成共同背景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C284A-8654-4484-81A0-99F72237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7656A-E21E-456A-AAA3-2A252BC1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A61D5-DCC5-4F95-8B52-733D712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4B4B9-BE8D-45BD-8F25-ECAD4695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5EBC6-93A0-45C4-B1B0-010DEA6D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证据揭示了什么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DAF49-502F-482A-9BA7-442ADAB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11F9F-3EA6-433F-BB36-D99991E3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提炼关键判断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D903D-6A96-4834-B074-AD94400C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956C9-4461-48ED-9BB1-FAD03A44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34A43-43CA-444E-847E-F96F1304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3E61E-D462-4041-A6E1-24B1DE0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2F151-A9A0-46B6-9AD6-D5851195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我们准备如何行动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F049D-350E-4A6F-9571-EFA6224B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8B516-8B92-46AA-8B3D-0242E4E2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明确执行路径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2078BA-9D79-49AE-837C-90CCD2D0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CB6B3-67B8-4322-A79D-19A0C459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CF0ECC-988B-4C4B-8768-2CB7DDC4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86100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7AC09-E566-4CBE-8D20-EB67D30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681A1-6E34-4BFA-B57B-0CE2EB6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成功将如何衡量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557FE-8FFF-4CFF-857A-17B02C7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99B5C-E461-4246-9EE3-E4E837EF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76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定义衡量标准</a:t>
            </a:r>
          </a:p>
        </p:txBody>
      </p:sp>
    </p:spTree>
    <p:extLst>
      <p:ext uri="{BB962C8B-B14F-4D97-AF65-F5344CB8AC3E}">
        <p14:creationId xmlns:p14="http://schemas.microsoft.com/office/powerpoint/2010/main" val="2034854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2DF07-D6CB-4C61-8A9B-05E1734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8AC11-9BEF-47D5-AC6E-34474C9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OPENING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E8D96-6988-40B9-9661-770AB119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09160-6484-4D4F-8264-D0820369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ONE THESIS / THREE PROOFS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7321B-448D-4C31-B58B-9A247E1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515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真正高级的演示，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不是信息更多，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而是判断更清楚。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96E00-6C1C-4448-8EAE-D3C5D0C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9AB4-CEEB-4B07-A1C4-3CEE01D4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611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结论先行，证据随后，行动收束。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每一页都承担清晰的叙事任务。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4FE68-176A-474C-B7CA-0CAE25FA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51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C8C1C-5644-4031-ABCD-4A4E2BA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判断标准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2ACD1-E844-4671-B247-F157172F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听众能否在 5 秒内复述这一页的结论？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33FB4-45FC-4D77-8F53-0E07D98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957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9EDAD-81DA-472C-8004-0AC671C2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9CDB7-8BAB-4E89-B45E-D370AFE7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3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少而关键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D9688-D39C-474A-A447-38DDEE91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只保留推动结论的信息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E0010-9D6F-4509-8679-7A3094B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824BD-7020-49BD-A2F9-2CEBC645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CB30D-0F16-4ECF-8C59-86F0222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标题有判断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60C8F-1D04-42CA-8FD1-E60F248F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让听众先知道这页意味着什么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19471-33AD-48A3-ABDC-78BB2BE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D6EA3-5B17-4626-84CC-BF59EE9F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E668D-91A9-4632-B65B-EB38DB70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系统要稳定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41DD6-D311-475E-95FE-22B92AA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33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图像、字体和节奏保持一致</a:t>
            </a:r>
          </a:p>
        </p:txBody>
      </p:sp>
    </p:spTree>
    <p:extLst>
      <p:ext uri="{BB962C8B-B14F-4D97-AF65-F5344CB8AC3E}">
        <p14:creationId xmlns:p14="http://schemas.microsoft.com/office/powerpoint/2010/main" val="2001976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57C23-4DC9-419B-B2D8-6F6268D5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7E37C-20BC-4F05-87E8-301C1735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VISUAL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BCF9-1265-4452-9916-17E0261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2D981-4F3C-4CDD-BE20-B25D9001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IMAGE +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E34A5-93AF-4728-8914-AE85335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一张图，只负责证明一个结论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910AD-B5FB-4D39-B82D-A6CA11BC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用可替换主视觉建立情境，用三条证据完成解释。</a:t>
            </a:r>
          </a:p>
        </p:txBody>
      </p:sp>
      <p:sp>
        <p:nvSpPr>
          <p:cNvPr id="7" name="replaceable-visual-frame">
            <a:extLst xmlns:a="http://schemas.openxmlformats.org/drawingml/2006/main">
              <a:ext uri="{FF2B5EF4-FFF2-40B4-BE49-F238E27FC236}">
                <a16:creationId xmlns:a16="http://schemas.microsoft.com/office/drawing/2014/main" id="{C61B4545-6C07-456F-8FAF-B2F65A3F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153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B7F26-143A-4CA2-B585-C7C75A2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69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60027-3FF7-408C-8E46-8ABEF297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2905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可替换主视觉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3F0D1-CC97-41F9-A6E6-E1421C76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316E4-C9A2-4B7C-AF25-0918C67D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rPr>
              <a:t>CAPTION / SOURCE / KEY 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0D3A0-E65A-4A5B-91F9-1014036B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5CA0C-5EAC-4A34-ACB0-0B5220A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54365-C041-4855-B8F2-72D79EF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先给结论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2DD3F-372B-4241-8416-9B87905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标题直接说明这张图意味着什么。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51C04-80B5-42E6-B202-2A4BBA25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0F3D4-094E-4495-A35F-6FE01AF4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81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4CD54-54DF-43E0-BB9F-BFCED9AD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再给证据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12E38-4873-4224-B470-041B517B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保留数字、事实、来源和必要限定。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B1AF4-FA19-4A53-9020-D5D8BD4E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387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98ABA-702B-4C57-8D26-5E608D1D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0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0AAA7-22B1-4260-8AFB-5D7DF57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最后给行动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B4DB5-B95F-4A20-A5EC-3DDE906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明确下一步、风险或需要作出的决定。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83FBC-4B28-499E-8C30-D2FBC72C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962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一张图 + 一个判断 + 三条解释</a:t>
            </a:r>
          </a:p>
        </p:txBody>
      </p:sp>
    </p:spTree>
    <p:extLst>
      <p:ext uri="{BB962C8B-B14F-4D97-AF65-F5344CB8AC3E}">
        <p14:creationId xmlns:p14="http://schemas.microsoft.com/office/powerpoint/2010/main" val="1666345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0F38D-B848-444F-9F9D-ABEBFB19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A0BC1-8EB6-4666-B5FB-8F1F7346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VISUAL GALLERY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740DE-B29E-4297-A4B1-1D48FE6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1F80C-FDCA-48B6-B254-0FC901FE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THREE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D1F08-77ED-4617-B70D-14E4BE67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用三种视角，解释同一个主题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EF33F-BD93-4E28-8A79-F2963317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适合案例、产品、实验过程和阶段成果。</a:t>
            </a:r>
          </a:p>
        </p:txBody>
      </p:sp>
      <p:sp>
        <p:nvSpPr>
          <p:cNvPr id="7" name="gallery-frame-1">
            <a:extLst xmlns:a="http://schemas.openxmlformats.org/drawingml/2006/main">
              <a:ext uri="{FF2B5EF4-FFF2-40B4-BE49-F238E27FC236}">
                <a16:creationId xmlns:a16="http://schemas.microsoft.com/office/drawing/2014/main" id="{FF8DE395-D510-42FB-A90A-7C9D78A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F002C-56E7-42B7-89DC-91DD4958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0E3B6-0632-46B6-A1D6-02095A55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0108-A2ED-40B7-9F51-47CAEAB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全景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8D0AB-37DD-4478-A948-19804515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建立背景与尺度</a:t>
            </a:r>
          </a:p>
        </p:txBody>
      </p:sp>
      <p:sp>
        <p:nvSpPr>
          <p:cNvPr id="12" name="gallery-frame-2">
            <a:extLst xmlns:a="http://schemas.openxmlformats.org/drawingml/2006/main">
              <a:ext uri="{FF2B5EF4-FFF2-40B4-BE49-F238E27FC236}">
                <a16:creationId xmlns:a16="http://schemas.microsoft.com/office/drawing/2014/main" id="{067AEAAA-3013-4F3B-9833-4BC4E2E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86844-9C4C-43F5-86D6-65A3BE36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A1359-D091-479E-827E-63A989A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E039F-2821-4C58-85C4-27222A76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细节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3E401-7A40-4585-A27A-A38E5CAA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突出关键差异</a:t>
            </a:r>
          </a:p>
        </p:txBody>
      </p:sp>
      <p:sp>
        <p:nvSpPr>
          <p:cNvPr id="17" name="gallery-frame-3">
            <a:extLst xmlns:a="http://schemas.openxmlformats.org/drawingml/2006/main">
              <a:ext uri="{FF2B5EF4-FFF2-40B4-BE49-F238E27FC236}">
                <a16:creationId xmlns:a16="http://schemas.microsoft.com/office/drawing/2014/main" id="{2AD4A497-418B-4593-A7DC-F71C188B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2575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7B6EF-810A-4812-8D9D-8305B1F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86350"/>
            <a:ext cx="3257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BBA0F-76DF-48FA-955F-2E05B739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31A06-C85E-49E4-AB63-4F791211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8C6CB-DC1E-4B38-BB21-4B60254C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4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让价值可以被看见</a:t>
            </a:r>
          </a:p>
        </p:txBody>
      </p:sp>
    </p:spTree>
    <p:extLst>
      <p:ext uri="{BB962C8B-B14F-4D97-AF65-F5344CB8AC3E}">
        <p14:creationId xmlns:p14="http://schemas.microsoft.com/office/powerpoint/2010/main" val="1637641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55BD4-4F1B-40D8-8A04-888062D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5837C-FCF6-4E65-BAC9-F2DBB17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EVIDENCE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CD940-DA4C-4B10-9A39-453E648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421AA-AD04-4D3F-AAA1-345731FA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THREE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345CD-2890-4C00-BEFD-832D337C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三个证据，共同支持一个判断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D006D-A3C1-4F93-BD5F-499BFEA5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横向比较时保持同一尺度，避免把信息堆成卡片墙。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733A-9E35-4356-90F6-1D4EA877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19658-0202-498F-BB13-19A93055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DD1D5-D69E-4455-A4D6-9DBB2179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72%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A0108-FB06-403E-9A26-0C8623FC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需求已经出现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2E699-A621-4E8D-A815-68036934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受访者主动提出更快、更简单的流程。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2572C-273F-40E6-8AE4-FC93C85A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41CED-AD01-4EC4-8B82-BE4283A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SIGNAL /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A398F-F0FF-46FA-AD3F-77698B7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7E425-09E1-45F1-8AA8-20F2FCB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998CA-704F-4DF9-AB10-B3EDABD1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13645-41DA-4FCF-85A7-45CAFA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效率可以提升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3DE0A-CD4E-4618-AE01-ABAD89C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重复工作被压缩，</a:t>
            </a:r>
          </a:p>
          <a:p xmlns:a="http://schemas.openxmlformats.org/drawingml/2006/main">
            <a:pPr algn="l"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团队把时间留给判断。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F31C4-942B-4475-886F-C7824572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DA5AF-240E-47FF-BB90-11CCAF0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SIGNAL / SPEED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D1857-6CDB-4992-A3F5-D9498845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1E26A-D67A-475C-8EA8-168ED56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A456A-0346-4B60-8C8A-0F783D0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18%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57ACF-2259-47A0-A2B9-1F23212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风险仍需管理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D1719-2BD3-4E26-82AC-D976D7C8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必须保留人工复核和来源追踪。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D8895-ED70-40F0-A69C-5258312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4D1F7-9132-4BD6-AEC8-E9060CF6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62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SIGNAL / CONTROL</a:t>
            </a:r>
          </a:p>
        </p:txBody>
      </p:sp>
    </p:spTree>
    <p:extLst>
      <p:ext uri="{BB962C8B-B14F-4D97-AF65-F5344CB8AC3E}">
        <p14:creationId xmlns:p14="http://schemas.microsoft.com/office/powerpoint/2010/main" val="1823904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A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EDF535-DAD5-470F-B203-6B2E314E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91433-336B-4B3C-A1D1-60733E2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rPr>
              <a:t>PROCESS / 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6BA7-6F4C-433C-BADE-A6AA18E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41E3C-300F-4F61-A524-41600976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FOUR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65441-21D8-44B4-B083-02A94DEA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从零散材料到可讲述的演示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49AEE-B87F-4D32-97A9-6D2FAC9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默认自动完成，用户只需提供内容。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53E08-3252-46AA-B432-49518693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894E0-D38A-452A-BDAE-4C118C8C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010AE-5ACE-48EF-B79A-953EEBB6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9237F-7E71-4FAF-986D-157B9C7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E839A-AC79-4FCA-8564-C5792995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识别受众与目标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8319C-73A4-460F-BC62-3A3EEC73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B3D31-5CA0-46DC-884F-74E1BC45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E780D-24FC-4CB5-8469-57C3143C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00F7E-7C1A-4F61-9A36-FD62EC2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形成故事线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C9709-EDA1-4167-AD94-FCD48958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C0BF9-E2C8-46F0-BD1B-D28888C8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3A5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A1208-62FA-425F-A5E3-BB5A41A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FD6ED-7CDE-45EB-9BDA-9B27134C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选择最佳版式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B395D-1DD6-4450-A709-CE2E7BC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71081-99B5-46D7-86CA-8753C42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38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9595B-0F9E-45F5-B349-44927937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91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C5E79-8D1D-484D-B545-872D2FE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渲染并修正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2E069-82DF-4DE3-A461-AEE73C6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62600"/>
            <a:ext cx="1219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0">
            <a:solidFill>
              <a:srgbClr val="1F45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2E235-EA35-48FE-BC7E-510E85B5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403D1-319B-418E-A693-BBDFFD7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9A802-26C6-44FF-A22E-627F4586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7A8F7-D55F-4485-AE3D-80251960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6DB34-6E52-44C8-81DE-E53C7343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故事结构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53AC5-777A-46D8-B13D-C03BA42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287DA-D57B-404A-8F39-A5A44BCD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LAYOUT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B8CAE-BB26-4389-9A26-81EFD9C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可编辑页面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98620C-C1EE-4FB7-9A1C-9887B416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293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61CC6E-B9CC-4221-B809-1D8A577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29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B8CBF-4504-4F13-9E70-0C8AE47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渲染成品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69506A-4DC9-457B-8E6E-45373934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7294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935B5A-F85D-4829-89AB-7E69A6B4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3502E-F971-4E67-A013-75561C4B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15E31-060E-412F-94DD-C07D3EAC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72EC0-CA74-40C3-A688-C7C3C745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MOMENTUM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E4EF8-6A74-45CE-A8D4-28775B90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把时间线写成变化，而不是日期清单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CA59-39BF-4B6F-A4F8-2D30124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每个节点只回答：发生了什么，以及它为何改变下一步。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006CB-5934-455A-A583-A4A16518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6A571-EECF-47E8-8C63-B715F5BE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07CA8-296A-4B7E-B112-E95C6B35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2022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274E2-2F7D-4F9E-89C8-D9C2960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验证问题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36E8B-7F35-4C24-ABB2-68DE1CA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FB70F-B510-464B-8355-CAFC66FA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34871-952B-404E-8898-F7765A3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89801-69FA-461E-B68D-65DA3837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形成方法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26447-640E-406A-A54E-1E47554C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CEBA1-736F-438F-989F-B682E778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2DEAC-1294-4219-AC94-CC8F771C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694AB-64D2-4F1D-A01E-EE34B5AA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扩大应用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0252F-2F0A-46B7-BF0F-D7893638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EBDAE-04AF-4189-B387-D6B21866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BAD2C-C102-4A6A-A23D-2CA3B1E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EDD37-3B86-4600-B6F6-845CE702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建立标准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E95DB-DCB2-4B98-92D6-29886848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C45BA-5D9F-4FA2-8355-AC99820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552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8845A-CD30-45CC-BF8A-1CFC56FD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99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ED831-8F7B-4819-B4C1-E358A68B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71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19BD5-C5C5-4F65-81B5-526CAF0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291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一个可验证的阶段结果</a:t>
            </a:r>
          </a:p>
        </p:txBody>
      </p:sp>
    </p:spTree>
    <p:extLst>
      <p:ext uri="{BB962C8B-B14F-4D97-AF65-F5344CB8AC3E}">
        <p14:creationId xmlns:p14="http://schemas.microsoft.com/office/powerpoint/2010/main" val="291475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5025E-8C74-47CE-A919-5F7018E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3F944-9B41-481C-8E62-49CB80D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3E9AC-3438-409F-BB0C-FA403B0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B7B52-324A-4757-8E45-8DE834F6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3CD8A-DFFD-42EA-B0BD-55F05FA5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对比的重点，是变化带来的意义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1184A-E147-4C9C-95CE-4B83323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使用同一维度和同一尺度，避免左右两边各说各话。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88627-40D8-4B35-842F-BE199BD5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4BA6A-BD7A-40BA-94AC-B5EBE41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762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B66A9-77DD-4CFC-B05E-01DA0ED4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过去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02424-A17A-4FAE-A8DE-6E9DF63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结构依赖个人经验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修改成本高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BF049-718A-4238-AAE0-B1E36BA2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28A79-8F5E-4874-9C72-F21B9CC1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自动诊断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按任务匹配版式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全套渲染质检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DBF01-2110-4C5F-AB99-9F04332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E1535-FAE3-4AA2-A9C4-B389616A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8258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0FF8-454A-40EE-90B8-357E243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E1F28-27FD-49F0-9615-B655FBC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DATA / BAR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8224A-62BE-402D-B91F-93843FFE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531DB-F840-4833-A677-5E4A9B91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DECISION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5B17A-E27B-4834-8692-C2E00C98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效率提升来自流程简化，而非减少判断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45703-22A5-49BD-802C-B352E6C8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用一个主指标和一张图回答问题。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4AFF2-96CF-4F38-99E0-F3FF6F1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2.4×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C3C3E-C3A2-4FA2-8CBE-AB05FD2D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交付速度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9690D-62E2-4AAD-8B4B-3C02ED7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从整理到初稿的平均时间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676650" y="2800350"/>
          <a:ext xmlns:a="http://schemas.openxmlformats.org/drawingml/2006/main" cx="752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72e12efbfe4129"/>
          </a:graphicData>
        </a:graphic>
      </p:graphicFrame>
    </p:spTree>
    <p:extLst>
      <p:ext uri="{BB962C8B-B14F-4D97-AF65-F5344CB8AC3E}">
        <p14:creationId xmlns:p14="http://schemas.microsoft.com/office/powerpoint/2010/main" val="16404914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5360F-5C1C-4CAD-B306-ED5FB4ED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E3839-F6B6-4707-8C46-EC0A01A5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DATA / TREND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DF54B-65C0-4AD0-ACC5-11C307E9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3684-43B7-4E4C-A300-8B773C3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TREND + 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2D612-1BE1-42D6-BD86-D738F2F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质量提升发生在每一次复用之后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800BC-34B0-443A-BFE2-C21D808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趋势图负责显示变化，右侧结论负责解释变化。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85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dccd0313de45d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D03FA-0FCF-48B2-A1CA-1742C982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32194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3B697-BC17-4F9C-B0F4-A90B1194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+34pt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E6615-0943-4CFD-BDC2-C39710F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复用带来的质量增益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CE5A7-C460-49BD-8BB1-87BC8DE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把经验写进资源，而不是留在个人记忆里。</a:t>
            </a:r>
          </a:p>
        </p:txBody>
      </p:sp>
    </p:spTree>
    <p:extLst>
      <p:ext uri="{BB962C8B-B14F-4D97-AF65-F5344CB8AC3E}">
        <p14:creationId xmlns:p14="http://schemas.microsoft.com/office/powerpoint/2010/main" val="2058540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141FD-1AA5-4B39-8651-E929967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B6EA2-9F64-432F-A61D-6EE74D8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DATA /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0D62F-93E5-4360-BE7F-F48F3A68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73E64-DD29-4316-86B9-9A836F1E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COMPOSITION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9D5B0-5910-4298-BA06-0BA0A0B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一套好演示，时间应该花在哪里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2F791-3E7A-41BC-A4B1-2E28AB2D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结构和证据优先，装饰只负责强化层级。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85800" y="2724150"/>
          <a:ext xmlns:a="http://schemas.openxmlformats.org/drawingml/2006/main" cx="495300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149d8adbf34dc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93BD1-F2E5-4EDA-A17D-240EA30A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43AAB-2EB5-4C8A-9584-EB870A9C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D6A11-D075-4AD9-B6B6-3280467B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A5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3A5E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307DD-C565-48C5-AB5B-A237247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31AD9-214C-4CCF-AC33-CFAF7333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12D1B-032B-4F46-A828-3031B5B3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159DD-9D45-40DC-B041-6B7FD192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30%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065E1-E8E2-4CA0-BE19-7D92E9B0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9D534-32E4-459D-BCD1-976C3992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8CE0C-A20B-41F0-958D-77784877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DA6E3-BAA1-4856-8D8D-0579B0D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48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C9DA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8C9DA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D3186-82C8-4434-AADF-C39CD3C2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74477-4F6E-4AE7-924D-B9827511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CA189-9B6D-4CD4-B35B-C94C5D6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装饰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D784A-59B9-491E-84FB-6F7B8DE9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76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C72FC-803D-403D-A26F-2C4BA865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30595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3A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B9F49-6A04-4763-8FE5-63B9DEC0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B1C80-B36A-4C1A-8EFA-ADE0B24C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rPr>
              <a:t>RESEARCH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F70DE-E979-4D4C-8898-11D867FF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F831-2017-4EAF-9CE4-3684C636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7395F-0EA4-4F39-9420-A05BDFE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方法页要让过程可复核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5B206-7FF7-49DB-8CC4-F42B4CFE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用输入、处理、验证、输出四个环节建立可信度。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7EB51-B0D8-4479-9045-854A7D59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E201D-9403-4328-8371-3BAB7D2C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2E416-C3C1-40E3-880F-A717D869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521C2-10E5-4C6F-9792-3B744D61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数据与来源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16FA3-FAC8-4474-A814-DE25EC0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ACDA8-1BBA-40EC-838E-27218232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18F08-8D40-422E-AAF7-30158E81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B282E-3D87-44CA-985F-6AA63A73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归纳主题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提取证据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2F4F3-5D89-475F-B58A-3C54924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AF0E2-0F1E-4BE1-90E8-8E93DD0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3A5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390DD-4C94-4D58-93B0-4CF55A6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B1A3A-DF5B-448E-97EE-65822852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核对事实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A5E"/>
                </a:solidFill>
                <a:latin typeface="Microsoft YaHei"/>
                <a:ea typeface="Microsoft YaHei"/>
                <a:cs typeface="Microsoft YaHei"/>
              </a:rPr>
              <a:t>检查偏差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BBB48-A3A3-46C3-ACAD-09136599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30505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8C6EE-CA4D-4F51-9A18-5A2C5377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71F16-ECB0-41F0-8121-F199B107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6FAAB-33D3-445F-95E9-3EB4BED8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给出行动</a:t>
            </a:r>
          </a:p>
        </p:txBody>
      </p:sp>
    </p:spTree>
    <p:extLst>
      <p:ext uri="{BB962C8B-B14F-4D97-AF65-F5344CB8AC3E}">
        <p14:creationId xmlns:p14="http://schemas.microsoft.com/office/powerpoint/2010/main" val="6846876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E50C7-28AC-4844-B682-7857C792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B53C0-0E73-4B15-A6E2-33CA0A8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FINDINGS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47341-F65B-4F09-AC7B-DAC732E5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BB3B5-F02B-4FFE-A861-E7F2493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TWO DIMENSIONS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2CF08-1840-4C0A-9000-42029B9C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用二维矩阵，把信息转成优先级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332E3-3697-4C07-977B-AD9333E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横轴表示价值，纵轴表示可行性。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7400D-E55D-4F3F-9B30-FE2790AB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0378B-0957-4421-BC86-E3BAC553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FC9FA-1C06-431B-8322-405D4C0F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E0"/>
          </a:solidFill>
          <a:ln xmlns:a="http://schemas.openxmlformats.org/drawingml/2006/main" w="0">
            <a:solidFill>
              <a:srgbClr val="CCD6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1801B-2B98-4DF6-A2E1-8CD9EF31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高可行性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5EED6-EF68-40DD-9B4D-E5D664B3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低可行性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E777E-9BCB-409D-A55D-815CBA70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低价值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D2CE4-F667-40D5-913C-1CDE0EB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48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高价值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BB8A6-70A8-4CD2-B0FD-7E118A7C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4C5C3-C723-4909-9D5B-A156D7E9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1794F-6537-4F90-B481-2673ADB1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90E38-BB28-4382-A029-254E33AB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1A89F-311C-46DE-B4C8-3EAB491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29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2CC02-2FF6-47EE-BAC3-EF9E3817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32194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ABB4-F754-47C2-808E-1FB6307F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5D91"/>
                </a:solidFill>
                <a:latin typeface="Microsoft YaHei"/>
                <a:ea typeface="Microsoft YaHei"/>
                <a:cs typeface="Microsoft YaHei"/>
              </a:rPr>
              <a:t>优先做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D1A6C-7E22-48BB-BFB3-F890322A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高价值、低阻力的事项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立即进入下一轮验证</a:t>
            </a:r>
          </a:p>
        </p:txBody>
      </p:sp>
    </p:spTree>
    <p:extLst>
      <p:ext uri="{BB962C8B-B14F-4D97-AF65-F5344CB8AC3E}">
        <p14:creationId xmlns:p14="http://schemas.microsoft.com/office/powerpoint/2010/main" val="4609953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1B2E1-FB61-4A70-82C7-CDA7C811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664F0-CA82-4D08-A734-9CA657F8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RISK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1A34B-EC3C-4D45-B98B-8BC6BFC7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48804-926C-4655-A718-3CE2D911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8A32"/>
                </a:solidFill>
                <a:latin typeface="Microsoft YaHei"/>
                <a:ea typeface="Microsoft YaHei"/>
                <a:cs typeface="Microsoft YaHei"/>
              </a:rPr>
              <a:t>RISK +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1D706-189D-4CB5-A359-50D86FE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风险页必须同时给出应对方式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BAC98-F460-4EAE-A50E-5DBDA6F7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只标红问题没有价值；明确触发条件、负责人和动作。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AE637-FFBF-4A9F-BB2D-355C9FB9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190D8-D8D3-45BC-8A5B-9B86D76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B625B-4884-474A-B34A-3A27711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E7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6ECDC-F5C9-4C70-8648-EE586DE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122B0-A42F-4E3C-8418-F662AFF4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E7E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4C963-0C53-4331-BA11-7109D2D8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7D8E8"/>
          </a:solidFill>
          <a:ln xmlns:a="http://schemas.openxmlformats.org/drawingml/2006/main" w="0">
            <a:solidFill>
              <a:srgbClr val="C7D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8C2DA-3680-4D56-AA6D-E79B950E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E7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F6CED-EEEE-4DE0-A56C-44883B65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7D8E8"/>
          </a:solidFill>
          <a:ln xmlns:a="http://schemas.openxmlformats.org/drawingml/2006/main" w="0">
            <a:solidFill>
              <a:srgbClr val="C7D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315E8-545C-4595-A2A0-34014F0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0400"/>
            <a:ext cx="1123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74590-5CE5-4804-BE68-75673C11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F1BF2-9089-4777-8AEF-5D99C9F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发生概率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FDC67-49E8-4594-A6DD-16D6EA18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7A7CB-3EBE-4952-B954-264FCCEF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3F317-D49B-4A49-9F1E-7D773EBD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A8676-9007-4791-BADF-205B4467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91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082CC-7685-47E0-AED4-9209431B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43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B6A5F-2530-4C95-84E4-01AAFAC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0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0DAAF-A9E7-4A90-92C9-0E7AFF9C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6EA46-555F-4CB2-B737-927553D9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4FC29-82B1-4AAF-84E9-1770DDF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861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事实错误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2F6F1-9091-46FA-8C61-188925C0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关键数据逐项复核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2ACEB-26D7-4C64-A2F5-1CF148C8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684E7-AB95-4BDE-8A60-5A381614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51592-ECF0-4EDC-A998-FE75C996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信息泄露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16077-5C0C-4A22-AA8D-CA9313BA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输入内容分级处理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430CA4-9CF3-41BE-980A-C956157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29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BF8B42-1CA9-4E75-8E1A-CF498A12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C6CD7-A69E-4C5F-BC3D-F01AE088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视觉失真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4FCF0-37A3-4F7F-BF4B-17090B7C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全套渲染后再交付</a:t>
            </a:r>
          </a:p>
        </p:txBody>
      </p:sp>
    </p:spTree>
    <p:extLst>
      <p:ext uri="{BB962C8B-B14F-4D97-AF65-F5344CB8AC3E}">
        <p14:creationId xmlns:p14="http://schemas.microsoft.com/office/powerpoint/2010/main" val="1856925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A5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0F96A-32E2-4B26-B1FE-61696DB4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CF590-D260-47D1-BB0A-B54BA9BE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8EFF6"/>
                </a:solidFill>
                <a:latin typeface="Microsoft YaHei"/>
                <a:ea typeface="Microsoft YaHei"/>
                <a:cs typeface="Microsoft YaHei"/>
              </a:rPr>
              <a:t>CASE /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C2A89-B6A1-4E2B-870B-185FA2B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5029-90B4-4C6D-8A02-0EFDAE7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4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66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98BE1-D14D-408D-88A5-138CF55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用户不需要学会设计，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只需要把真实材料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146CE-D492-4538-833C-91595DCA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A"/>
          </a:solidFill>
          <a:ln xmlns:a="http://schemas.openxmlformats.org/drawingml/2006/main" w="0">
            <a:solidFill>
              <a:srgbClr val="B8C9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A4BEE-66E3-4E0C-9A80-A6D0209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F"/>
                </a:solidFill>
                <a:latin typeface="Microsoft YaHei"/>
                <a:ea typeface="Microsoft YaHei"/>
                <a:cs typeface="Microsoft YaHei"/>
              </a:rPr>
              <a:t>— 资源型 skill 的产品原则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673FF-9B6B-4DA6-8FBD-87125457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4480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56C"/>
          </a:solidFill>
          <a:ln xmlns:a="http://schemas.openxmlformats.org/drawingml/2006/main" w="9525">
            <a:solidFill>
              <a:srgbClr val="4B7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293B6-4713-4270-B170-E32EE10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0D7A3-CEFC-46CE-B9F0-52BCD3A4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F9231-4829-454C-BAAA-FDD741EC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F4E23-EC7B-4220-B201-7C165230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92A07-5F3E-4D3C-8F3A-E730E3C7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必要问题上限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F9AB6-85A9-4A60-8C04-82CC4B3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70BE0-DB77-46B9-AF92-EEAB712A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8E0C7-3D9A-4477-93BE-87D1ADBD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逐页渲染质检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EC2FE-7675-423F-BB80-746CE542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74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8A8"/>
          </a:solidFill>
          <a:ln xmlns:a="http://schemas.openxmlformats.org/drawingml/2006/main" w="0">
            <a:solidFill>
              <a:srgbClr val="4B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5B912-B504-4DD7-A6C9-F290C180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RAW MATERIAL → CLEAR STORY → EDITABLE DECK → RENDER QA</a:t>
            </a:r>
          </a:p>
        </p:txBody>
      </p:sp>
    </p:spTree>
    <p:extLst>
      <p:ext uri="{BB962C8B-B14F-4D97-AF65-F5344CB8AC3E}">
        <p14:creationId xmlns:p14="http://schemas.microsoft.com/office/powerpoint/2010/main" val="2399358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7C5CA-00DB-4B22-8DF3-708FDC3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D91"/>
          </a:solidFill>
          <a:ln xmlns:a="http://schemas.openxmlformats.org/drawingml/2006/main" w="0">
            <a:solidFill>
              <a:srgbClr val="2E5D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C67D-62C0-43FF-996F-30009C9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CLOSING /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C0B7-D51A-4FC7-9906-EB5FF1BB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AA06C-62F5-49B9-81A1-3F6ECB6F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好的演示，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让下一步变得简单。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13BA7-9BEB-4EAB-B108-A856834F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把材料交进来，剩下的由 skill 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8E349-DA5E-4B5A-ACFB-C2EF3930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EA2E2-DB02-4B85-AB7D-C8B33240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75347-99BC-426F-BF67-CD8862B0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提供材料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FFFE2-C4B0-43D9-934A-312AD56D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8EFF6"/>
          </a:solidFill>
          <a:ln xmlns:a="http://schemas.openxmlformats.org/drawingml/2006/main" w="0">
            <a:solidFill>
              <a:srgbClr val="E8EF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17FBB-05A4-40F8-A23A-21F9F082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5D9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2E5D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940BF-14F4-4CF9-AD23-CE10AD85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235"/>
                </a:solidFill>
                <a:latin typeface="Microsoft YaHei"/>
                <a:ea typeface="Microsoft YaHei"/>
                <a:cs typeface="Microsoft YaHei"/>
              </a:rPr>
              <a:t>确认听众与时长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FDAC7-74AE-4242-8BC8-EB9F1A6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30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3532B-F052-44B3-9D69-49F9EA9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8A32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C58A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05C1D-EF11-4E8F-820C-F30BC301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领取可编辑成品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EC6CC-F1CD-46E2-84AF-778C6801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66800"/>
            <a:ext cx="19621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32"/>
          </a:solidFill>
          <a:ln xmlns:a="http://schemas.openxmlformats.org/drawingml/2006/main" w="0">
            <a:solidFill>
              <a:srgbClr val="C58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9896A-0AFD-4C98-B98B-F0C7A39F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145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A5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3A5E"/>
                </a:solidFill>
                <a:latin typeface="Georgia"/>
                <a:ea typeface="Georgia"/>
                <a:cs typeface="Georgia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DDB14-A783-483E-8A94-E8E116E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581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173A5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3A5E"/>
                </a:solidFill>
                <a:latin typeface="Georgia"/>
                <a:ea typeface="Georgia"/>
                <a:cs typeface="Georgia"/>
              </a:rPr>
              <a:t>TO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>
                <a:solidFill>
                  <a:srgbClr val="173A5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73A5E"/>
                </a:solidFill>
                <a:latin typeface="Georgia"/>
                <a:ea typeface="Georgia"/>
                <a:cs typeface="Georgia"/>
              </a:rPr>
              <a:t>PRESENT</a:t>
            </a:r>
          </a:p>
        </p:txBody>
      </p:sp>
    </p:spTree>
    <p:extLst>
      <p:ext uri="{BB962C8B-B14F-4D97-AF65-F5344CB8AC3E}">
        <p14:creationId xmlns:p14="http://schemas.microsoft.com/office/powerpoint/2010/main" val="228269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2026-07-19T18:59:28.1100000Z</dcterms:created>
  <dcterms:modified xsi:type="dcterms:W3CDTF">2026-07-19T18:59:28.1100000Z</dcterms:modified>
</coreProperties>
</file>