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8aeb090e84d33" /><Relationship Type="http://schemas.openxmlformats.org/officeDocument/2006/relationships/extended-properties" Target="/docProps/app.xml" Id="R738798c7898a446e" /><Relationship Type="http://schemas.openxmlformats.org/officeDocument/2006/relationships/officeDocument" Target="/ppt/presentation.xml" Id="R02f662e0c691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264dd513d4013"/>
  </p:sldMasterIdLst>
  <p:notesMasterIdLst>
    <p:notesMasterId xmlns:r="http://schemas.openxmlformats.org/officeDocument/2006/relationships" r:id="R26c0b790cae6405c"/>
  </p:notesMasterIdLst>
  <p:sldIdLst>
    <p:sldId xmlns:r="http://schemas.openxmlformats.org/officeDocument/2006/relationships" id="256" r:id="R72e0549144cd430c"/>
    <p:sldId xmlns:r="http://schemas.openxmlformats.org/officeDocument/2006/relationships" id="257" r:id="R99bc8f42492d4f28"/>
    <p:sldId xmlns:r="http://schemas.openxmlformats.org/officeDocument/2006/relationships" id="258" r:id="R567bbb56052d4ad3"/>
    <p:sldId xmlns:r="http://schemas.openxmlformats.org/officeDocument/2006/relationships" id="259" r:id="R4001a98d653b47c9"/>
    <p:sldId xmlns:r="http://schemas.openxmlformats.org/officeDocument/2006/relationships" id="260" r:id="R16e03b7e01844c5d"/>
    <p:sldId xmlns:r="http://schemas.openxmlformats.org/officeDocument/2006/relationships" id="261" r:id="Red7f6f56e0324c21"/>
    <p:sldId xmlns:r="http://schemas.openxmlformats.org/officeDocument/2006/relationships" id="262" r:id="R01948c6a752a4d20"/>
    <p:sldId xmlns:r="http://schemas.openxmlformats.org/officeDocument/2006/relationships" id="263" r:id="Rfbc53d2c960249ae"/>
    <p:sldId xmlns:r="http://schemas.openxmlformats.org/officeDocument/2006/relationships" id="264" r:id="R2e54038399d54181"/>
    <p:sldId xmlns:r="http://schemas.openxmlformats.org/officeDocument/2006/relationships" id="265" r:id="R5c83b503df7e4345"/>
    <p:sldId xmlns:r="http://schemas.openxmlformats.org/officeDocument/2006/relationships" id="266" r:id="R9fa8d9e782d84da2"/>
    <p:sldId xmlns:r="http://schemas.openxmlformats.org/officeDocument/2006/relationships" id="267" r:id="R137c2ab6fb184da3"/>
    <p:sldId xmlns:r="http://schemas.openxmlformats.org/officeDocument/2006/relationships" id="268" r:id="Rd72d2feaa23347ff"/>
    <p:sldId xmlns:r="http://schemas.openxmlformats.org/officeDocument/2006/relationships" id="269" r:id="R846a9a1fe8b2468b"/>
    <p:sldId xmlns:r="http://schemas.openxmlformats.org/officeDocument/2006/relationships" id="270" r:id="R60b873bc85fb414b"/>
    <p:sldId xmlns:r="http://schemas.openxmlformats.org/officeDocument/2006/relationships" id="271" r:id="R36f893afad204444"/>
    <p:sldId xmlns:r="http://schemas.openxmlformats.org/officeDocument/2006/relationships" id="272" r:id="Raa1e425314974cb7"/>
    <p:sldId xmlns:r="http://schemas.openxmlformats.org/officeDocument/2006/relationships" id="273" r:id="Rccd987fa32bd456e"/>
    <p:sldId xmlns:r="http://schemas.openxmlformats.org/officeDocument/2006/relationships" id="274" r:id="R52b9295088824737"/>
    <p:sldId xmlns:r="http://schemas.openxmlformats.org/officeDocument/2006/relationships" id="275" r:id="R3b96acb4980144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75c30461364391" /><Relationship Type="http://schemas.openxmlformats.org/officeDocument/2006/relationships/slideMaster" Target="/ppt/slideMasters/slideMaster1.xml" Id="Reaa264dd513d4013" /><Relationship Type="http://schemas.openxmlformats.org/officeDocument/2006/relationships/notesMaster" Target="/ppt/notesMasters/notesMaster1.xml" Id="R26c0b790cae6405c" /><Relationship Type="http://schemas.openxmlformats.org/officeDocument/2006/relationships/presProps" Target="/ppt/presProps.xml" Id="R146de5f4e5ec4a47" /><Relationship Type="http://schemas.openxmlformats.org/officeDocument/2006/relationships/tableStyles" Target="/ppt/tableStyles.xml" Id="Raaaa1b42698446d6" /><Relationship Type="http://schemas.openxmlformats.org/officeDocument/2006/relationships/slide" Target="/ppt/slides/slide1.xml" Id="R72e0549144cd430c" /><Relationship Type="http://schemas.openxmlformats.org/officeDocument/2006/relationships/slide" Target="/ppt/slides/slide2.xml" Id="R99bc8f42492d4f28" /><Relationship Type="http://schemas.openxmlformats.org/officeDocument/2006/relationships/slide" Target="/ppt/slides/slide3.xml" Id="R567bbb56052d4ad3" /><Relationship Type="http://schemas.openxmlformats.org/officeDocument/2006/relationships/slide" Target="/ppt/slides/slide4.xml" Id="R4001a98d653b47c9" /><Relationship Type="http://schemas.openxmlformats.org/officeDocument/2006/relationships/slide" Target="/ppt/slides/slide5.xml" Id="R16e03b7e01844c5d" /><Relationship Type="http://schemas.openxmlformats.org/officeDocument/2006/relationships/slide" Target="/ppt/slides/slide6.xml" Id="Red7f6f56e0324c21" /><Relationship Type="http://schemas.openxmlformats.org/officeDocument/2006/relationships/slide" Target="/ppt/slides/slide7.xml" Id="R01948c6a752a4d20" /><Relationship Type="http://schemas.openxmlformats.org/officeDocument/2006/relationships/slide" Target="/ppt/slides/slide8.xml" Id="Rfbc53d2c960249ae" /><Relationship Type="http://schemas.openxmlformats.org/officeDocument/2006/relationships/slide" Target="/ppt/slides/slide9.xml" Id="R2e54038399d54181" /><Relationship Type="http://schemas.openxmlformats.org/officeDocument/2006/relationships/slide" Target="/ppt/slides/slide10.xml" Id="R5c83b503df7e4345" /><Relationship Type="http://schemas.openxmlformats.org/officeDocument/2006/relationships/slide" Target="/ppt/slides/slide11.xml" Id="R9fa8d9e782d84da2" /><Relationship Type="http://schemas.openxmlformats.org/officeDocument/2006/relationships/slide" Target="/ppt/slides/slide12.xml" Id="R137c2ab6fb184da3" /><Relationship Type="http://schemas.openxmlformats.org/officeDocument/2006/relationships/slide" Target="/ppt/slides/slide13.xml" Id="Rd72d2feaa23347ff" /><Relationship Type="http://schemas.openxmlformats.org/officeDocument/2006/relationships/slide" Target="/ppt/slides/slide14.xml" Id="R846a9a1fe8b2468b" /><Relationship Type="http://schemas.openxmlformats.org/officeDocument/2006/relationships/slide" Target="/ppt/slides/slide15.xml" Id="R60b873bc85fb414b" /><Relationship Type="http://schemas.openxmlformats.org/officeDocument/2006/relationships/slide" Target="/ppt/slides/slide16.xml" Id="R36f893afad204444" /><Relationship Type="http://schemas.openxmlformats.org/officeDocument/2006/relationships/slide" Target="/ppt/slides/slide17.xml" Id="Raa1e425314974cb7" /><Relationship Type="http://schemas.openxmlformats.org/officeDocument/2006/relationships/slide" Target="/ppt/slides/slide18.xml" Id="Rccd987fa32bd456e" /><Relationship Type="http://schemas.openxmlformats.org/officeDocument/2006/relationships/slide" Target="/ppt/slides/slide19.xml" Id="R52b9295088824737" /><Relationship Type="http://schemas.openxmlformats.org/officeDocument/2006/relationships/slide" Target="/ppt/slides/slide20.xml" Id="R3b96acb4980144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94bcd3bb1347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fe2aa9736438a" /><Relationship Type="http://schemas.openxmlformats.org/officeDocument/2006/relationships/notesMaster" Target="/ppt/notesMasters/notesMaster1.xml" Id="Rfdc67e27d6984d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aea3a8f25427d" /><Relationship Type="http://schemas.openxmlformats.org/officeDocument/2006/relationships/notesMaster" Target="/ppt/notesMasters/notesMaster1.xml" Id="Rbb0d462546e144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122d39164b4506" /><Relationship Type="http://schemas.openxmlformats.org/officeDocument/2006/relationships/notesMaster" Target="/ppt/notesMasters/notesMaster1.xml" Id="R5915abd2caa24a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6181e0093b488e" /><Relationship Type="http://schemas.openxmlformats.org/officeDocument/2006/relationships/notesMaster" Target="/ppt/notesMasters/notesMaster1.xml" Id="R6cf0316497ad4a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51eda04e8a48de" /><Relationship Type="http://schemas.openxmlformats.org/officeDocument/2006/relationships/notesMaster" Target="/ppt/notesMasters/notesMaster1.xml" Id="R8b94257aaf0e47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cbe11596a541d5" /><Relationship Type="http://schemas.openxmlformats.org/officeDocument/2006/relationships/notesMaster" Target="/ppt/notesMasters/notesMaster1.xml" Id="Rd07f04a67ebd45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05f24f4f624b69" /><Relationship Type="http://schemas.openxmlformats.org/officeDocument/2006/relationships/notesMaster" Target="/ppt/notesMasters/notesMaster1.xml" Id="Rd4573c4f4e3e47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1732d347cf4f4b" /><Relationship Type="http://schemas.openxmlformats.org/officeDocument/2006/relationships/notesMaster" Target="/ppt/notesMasters/notesMaster1.xml" Id="Rcf1052cc82884f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a644379bc2409e" /><Relationship Type="http://schemas.openxmlformats.org/officeDocument/2006/relationships/notesMaster" Target="/ppt/notesMasters/notesMaster1.xml" Id="R1471b584c22c44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a9d6b5aadc4988" /><Relationship Type="http://schemas.openxmlformats.org/officeDocument/2006/relationships/notesMaster" Target="/ppt/notesMasters/notesMaster1.xml" Id="R50437ac2b8c645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dd2272882947f4" /><Relationship Type="http://schemas.openxmlformats.org/officeDocument/2006/relationships/notesMaster" Target="/ppt/notesMasters/notesMaster1.xml" Id="Rc07acc1bdc1142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5d29fd3f3c4efa" /><Relationship Type="http://schemas.openxmlformats.org/officeDocument/2006/relationships/notesMaster" Target="/ppt/notesMasters/notesMaster1.xml" Id="R87846a1f5e5448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cedfff386240ab" /><Relationship Type="http://schemas.openxmlformats.org/officeDocument/2006/relationships/notesMaster" Target="/ppt/notesMasters/notesMaster1.xml" Id="Rfe215059c06f43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a72f76f37f414f" /><Relationship Type="http://schemas.openxmlformats.org/officeDocument/2006/relationships/notesMaster" Target="/ppt/notesMasters/notesMaster1.xml" Id="R48c097fd5f6b40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44146df9c54a82" /><Relationship Type="http://schemas.openxmlformats.org/officeDocument/2006/relationships/notesMaster" Target="/ppt/notesMasters/notesMaster1.xml" Id="Rffa8436ba83f49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02bbda20ec46dd" /><Relationship Type="http://schemas.openxmlformats.org/officeDocument/2006/relationships/notesMaster" Target="/ppt/notesMasters/notesMaster1.xml" Id="R601c4d6d6d5e4c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1df20036ab4a35" /><Relationship Type="http://schemas.openxmlformats.org/officeDocument/2006/relationships/notesMaster" Target="/ppt/notesMasters/notesMaster1.xml" Id="R03d3a3bf9ad24b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aacce5c10c44b8" /><Relationship Type="http://schemas.openxmlformats.org/officeDocument/2006/relationships/notesMaster" Target="/ppt/notesMasters/notesMaster1.xml" Id="R812388caea8b48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5a246b1e874321" /><Relationship Type="http://schemas.openxmlformats.org/officeDocument/2006/relationships/notesMaster" Target="/ppt/notesMasters/notesMaster1.xml" Id="Rdcd41707158448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73167e5fac4252" /><Relationship Type="http://schemas.openxmlformats.org/officeDocument/2006/relationships/notesMaster" Target="/ppt/notesMasters/notesMaster1.xml" Id="R512c1888b183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8836e11c741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a0a9c0b6ba4fd2" /><Relationship Type="http://schemas.openxmlformats.org/officeDocument/2006/relationships/slideLayout" Target="/ppt/slideLayouts/slideLayout1.xml" Id="Rcb9237b224a14b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237b224a14b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2b78027b84358" /><Relationship Type="http://schemas.openxmlformats.org/officeDocument/2006/relationships/image" Target="/ppt/media/image.png" Id="R729cf83e90b8443c" /><Relationship Type="http://schemas.openxmlformats.org/officeDocument/2006/relationships/notesSlide" Target="/ppt/notesSlides/notesSlide1.xml" Id="Rb9160dce641b4a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5665b25bc4d48" /><Relationship Type="http://schemas.openxmlformats.org/officeDocument/2006/relationships/image" Target="/ppt/media/image2.png" Id="Rd476ed62074f4b8d" /><Relationship Type="http://schemas.openxmlformats.org/officeDocument/2006/relationships/notesSlide" Target="/ppt/notesSlides/notesSlide2.xml" Id="Rbf003f5d646847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4f0488b3a49e4" /><Relationship Type="http://schemas.openxmlformats.org/officeDocument/2006/relationships/image" Target="/ppt/media/image3.png" Id="R56f028c7b28a46ad" /><Relationship Type="http://schemas.openxmlformats.org/officeDocument/2006/relationships/notesSlide" Target="/ppt/notesSlides/notesSlide3.xml" Id="R86b23b5bc21741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cce81199f4d42" /><Relationship Type="http://schemas.openxmlformats.org/officeDocument/2006/relationships/notesSlide" Target="/ppt/notesSlides/notesSlide4.xml" Id="R9500582bb93a46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93e9417304365" /><Relationship Type="http://schemas.openxmlformats.org/officeDocument/2006/relationships/notesSlide" Target="/ppt/notesSlides/notesSlide5.xml" Id="R2e411063c510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ec301bb854b0f" /><Relationship Type="http://schemas.openxmlformats.org/officeDocument/2006/relationships/notesSlide" Target="/ppt/notesSlides/notesSlide6.xml" Id="R0ce7225e9b934f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c09a0ba4641a8" /><Relationship Type="http://schemas.openxmlformats.org/officeDocument/2006/relationships/notesSlide" Target="/ppt/notesSlides/notesSlide7.xml" Id="R2355734f5aa94a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a36f10afe4157" /><Relationship Type="http://schemas.openxmlformats.org/officeDocument/2006/relationships/notesSlide" Target="/ppt/notesSlides/notesSlide8.xml" Id="R51b4ed3e8eba44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704b30e2740be" /><Relationship Type="http://schemas.openxmlformats.org/officeDocument/2006/relationships/notesSlide" Target="/ppt/notesSlides/notesSlide9.xml" Id="Rf6c1b351e58849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98ba0fe4e475c" /><Relationship Type="http://schemas.openxmlformats.org/officeDocument/2006/relationships/notesSlide" Target="/ppt/notesSlides/notesSlide10.xml" Id="R2f87a789cb3140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2e3810bb64ea0" /><Relationship Type="http://schemas.openxmlformats.org/officeDocument/2006/relationships/notesSlide" Target="/ppt/notesSlides/notesSlide11.xml" Id="R9b9480386a4a43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7fe674a0249b6" /><Relationship Type="http://schemas.openxmlformats.org/officeDocument/2006/relationships/notesSlide" Target="/ppt/notesSlides/notesSlide12.xml" Id="Rc1ddffc6b64747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cc226ab534179" /><Relationship Type="http://schemas.openxmlformats.org/officeDocument/2006/relationships/chart" Target="/ppt/slides/charts/chart1.xml" Id="Re4c0dca06a63401d" /><Relationship Type="http://schemas.openxmlformats.org/officeDocument/2006/relationships/notesSlide" Target="/ppt/notesSlides/notesSlide13.xml" Id="R2b4c71f3056c4b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e72556d4e4926" /><Relationship Type="http://schemas.openxmlformats.org/officeDocument/2006/relationships/chart" Target="/ppt/slides/charts/chart2.xml" Id="Rc1efccd987ca493a" /><Relationship Type="http://schemas.openxmlformats.org/officeDocument/2006/relationships/notesSlide" Target="/ppt/notesSlides/notesSlide14.xml" Id="Ra14f7a1ca1ee49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446abe62c46bc" /><Relationship Type="http://schemas.openxmlformats.org/officeDocument/2006/relationships/chart" Target="/ppt/slides/charts/chart3.xml" Id="R319ad668e29d4a4a" /><Relationship Type="http://schemas.openxmlformats.org/officeDocument/2006/relationships/notesSlide" Target="/ppt/notesSlides/notesSlide15.xml" Id="R0211ec5b2ba746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d1103657a4070" /><Relationship Type="http://schemas.openxmlformats.org/officeDocument/2006/relationships/notesSlide" Target="/ppt/notesSlides/notesSlide16.xml" Id="R7c4ece4a2c7142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b140c732b4684" /><Relationship Type="http://schemas.openxmlformats.org/officeDocument/2006/relationships/notesSlide" Target="/ppt/notesSlides/notesSlide17.xml" Id="Rf156d1d525bb42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1bc4aa3774f35" /><Relationship Type="http://schemas.openxmlformats.org/officeDocument/2006/relationships/notesSlide" Target="/ppt/notesSlides/notesSlide18.xml" Id="R205fa3c89a3147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5cf8a361e49ef" /><Relationship Type="http://schemas.openxmlformats.org/officeDocument/2006/relationships/notesSlide" Target="/ppt/notesSlides/notesSlide19.xml" Id="R470982d38b5049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28d3e24c94c41" /><Relationship Type="http://schemas.openxmlformats.org/officeDocument/2006/relationships/notesSlide" Target="/ppt/notesSlides/notesSlide20.xml" Id="R632d4417abb4498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分钟</c:v>
          </c:tx>
          <c:spPr>
            <a:solidFill xmlns:a="http://schemas.openxmlformats.org/drawingml/2006/main">
              <a:srgbClr val="9A3040"/>
            </a:solidFill>
          </c:spPr>
          <c:cat>
            <c:strLit>
              <c:ptCount val="4"/>
              <c:pt idx="0">
                <c:v>材料整理</c:v>
              </c:pt>
              <c:pt idx="1">
                <c:v>故事组织</c:v>
              </c:pt>
              <c:pt idx="2">
                <c:v>版式制作</c:v>
              </c:pt>
              <c:pt idx="3">
                <c:v>最终质检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31</c:v>
              </c:pt>
              <c:pt idx="2">
                <c:v>18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519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CE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3686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8F5"/>
        </a:solidFill>
      </c:spPr>
    </c:plotArea>
    <c:plotVisOnly val="1"/>
  </c:chart>
  <c:spPr>
    <a:solidFill xmlns:a="http://schemas.openxmlformats.org/drawingml/2006/main">
      <a:srgbClr val="FBF8F5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完成度</c:v>
          </c:tx>
          <c:spPr>
            <a:ln xmlns:a="http://schemas.openxmlformats.org/drawingml/2006/main" w="38100">
              <a:solidFill>
                <a:srgbClr val="9A3040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第1次</c:v>
              </c:pt>
              <c:pt idx="1">
                <c:v>第2次</c:v>
              </c:pt>
              <c:pt idx="2">
                <c:v>第3次</c:v>
              </c:pt>
              <c:pt idx="3">
                <c:v>第4次</c:v>
              </c:pt>
              <c:pt idx="4">
                <c:v>第5次</c:v>
              </c:pt>
            </c:strLit>
          </c:cat>
          <c:val>
            <c:numLit>
              <c:formatCode>0%</c:formatCode>
              <c:ptCount val="5"/>
              <c:pt idx="0">
                <c:v>0.58</c:v>
              </c:pt>
              <c:pt idx="1">
                <c:v>0.66</c:v>
              </c:pt>
              <c:pt idx="2">
                <c:v>0.74</c:v>
              </c:pt>
              <c:pt idx="3">
                <c:v>0.85</c:v>
              </c:pt>
              <c:pt idx="4">
                <c:v>0.92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CE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3686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CED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3686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8F5"/>
        </a:solidFill>
      </c:spPr>
    </c:plotArea>
    <c:plotVisOnly val="1"/>
  </c:chart>
  <c:spPr>
    <a:solidFill xmlns:a="http://schemas.openxmlformats.org/drawingml/2006/main">
      <a:srgbClr val="FBF8F5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投入</c:v>
          </c:tx>
          <c:dPt>
            <c:idx val="0"/>
            <c:spPr>
              <a:solidFill xmlns:a="http://schemas.openxmlformats.org/drawingml/2006/main">
                <a:srgbClr val="681F2C"/>
              </a:solidFill>
            </c:spPr>
          </c:dPt>
          <c:dPt>
            <c:idx val="1"/>
            <c:spPr>
              <a:solidFill xmlns:a="http://schemas.openxmlformats.org/drawingml/2006/main">
                <a:srgbClr val="9A3040"/>
              </a:solidFill>
            </c:spPr>
          </c:dPt>
          <c:dPt>
            <c:idx val="2"/>
            <c:spPr>
              <a:solidFill xmlns:a="http://schemas.openxmlformats.org/drawingml/2006/main">
                <a:srgbClr val="D9BBC0"/>
              </a:solidFill>
            </c:spPr>
          </c:dPt>
          <c:dPt>
            <c:idx val="3"/>
            <c:spPr>
              <a:solidFill xmlns:a="http://schemas.openxmlformats.org/drawingml/2006/main">
                <a:srgbClr val="BF8850"/>
              </a:solidFill>
            </c:spPr>
          </c:dPt>
          <c:cat>
            <c:strLit>
              <c:ptCount val="4"/>
              <c:pt idx="0">
                <c:v>结构</c:v>
              </c:pt>
              <c:pt idx="1">
                <c:v>证据</c:v>
              </c:pt>
              <c:pt idx="2">
                <c:v>视觉</c:v>
              </c:pt>
              <c:pt idx="3">
                <c:v>装饰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30</c:v>
              </c:pt>
              <c:pt idx="2">
                <c:v>25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5191B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FBF8F5"/>
        </a:solidFill>
      </c:spPr>
    </c:plotArea>
    <c:plotVisOnly val="1"/>
  </c:chart>
  <c:spPr>
    <a:solidFill xmlns:a="http://schemas.openxmlformats.org/drawingml/2006/main">
      <a:srgbClr val="FBF8F5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cf83e90b8443c"/>
          <a:srcRect xmlns:a="http://schemas.openxmlformats.org/drawingml/2006/main" l="18733" t="0" r="18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0"/>
            <a:ext cx="7620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138BF-E5BA-42FC-8A4A-5AE4BC2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solidFill>
              <a:srgbClr val="FBF8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BBB8E-4E1C-487F-9BD4-FBB08B59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E89CB-E8AB-4617-B28F-D97D3F5F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PREMIUM STORY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FCAA7-6FEA-4CED-A205-CC3BD61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让复杂内容，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变成清晰结论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44B1D-4C48-442F-9587-E5E37210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适合工作汇报 · 项目提案 · 科研分享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CEF74-06B0-4907-B744-60B1579A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1"/>
          </a:solidFill>
          <a:ln xmlns:a="http://schemas.openxmlformats.org/drawingml/2006/main" w="0">
            <a:solidFill>
              <a:srgbClr val="DDC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ECCE8-40DC-42DB-8841-925D8FCA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12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D8395-8DB6-4E79-971E-86EC19A1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演讲时长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1459A-BAD8-423E-9849-BAA0551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1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A9267-F228-4479-9D25-02756E84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推荐方向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42AD6-8E3B-481C-A49A-E233819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36D62-0672-4298-A8F0-6EF79E8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可编辑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AC1BA-4E15-4087-9D0F-B51468A5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PROJECT BRIEF /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7A00B-FAAD-4FB0-ACB8-7D317761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97772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6ed62074f4b8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28BCA-B33F-4C53-9089-73619612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0960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40E22-1758-4C61-B04C-30820F9C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SCIENCE /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D6067-374C-4A28-A0B6-666CBC2C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4457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从问题出发，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让证据说话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253DF-F3BC-472E-953E-309F81D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学术报告 · 论文答辩 · 技术分享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15131-894E-484D-B584-773AD3C7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1270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028c7b28a46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0F265-C9EB-4CD3-A92E-761F13C9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81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STRATEGY /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3A49F-AB84-4B19-B0CC-DC3D7AD4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81100"/>
            <a:ext cx="4324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把选择，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0BD5F-4963-4D35-B556-39FCCDEB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C3DAC-1722-4F13-B82F-F71FEE85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年度规划 · 商业方案 · 复盘总结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179B7-10CC-4443-A1FC-54917F58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72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44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681F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5721C-712C-41C4-9207-A3265F25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2D198-2D43-453B-BEA7-EB9DECD0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rPr>
              <a:t>SECTION DIVIDER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9BCE5-F410-49C1-92C2-280CF25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4DE5C-40E6-49B5-80D0-02D3E044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952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99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6BF11-C141-4F74-BF2A-A9F323B5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7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0">
            <a:solidFill>
              <a:srgbClr val="D9BB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2D284-29C9-48F9-A107-EE669B68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81150"/>
            <a:ext cx="638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先确定故事，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再选择版式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C4A24-4B3A-4724-BA02-5C449A93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24200"/>
            <a:ext cx="588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章节页负责切换节奏，不承担解释任务。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22E37-FEBD-4DC7-B275-60CF2652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0">
            <a:solidFill>
              <a:srgbClr val="D9B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1F405-E3B5-483F-A35A-7D81E6D3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6A3FB-2886-4F5E-A873-436CDB61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9E28D-0F7F-4006-8516-E7512E8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为什么现在重要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E2164-2907-4B3B-853C-F4AEBFB2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AA621-B46E-4B58-BFAB-ADCB4523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3A6AA-7099-4323-901B-E4AD6EF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11697-5DF3-423C-8334-8F48E565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哪些事实支持判断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A979F-6E7C-40B3-83AD-AD75347B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0">
            <a:solidFill>
              <a:srgbClr val="D9BB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128A5-738A-4052-BBBD-0ECF281F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F987F-9F81-42F7-9176-279A3F34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819EC-76F8-4FA9-9C72-F1C8F783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下一步需要做什么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9D4B5-4DF0-48AB-9329-15A23F90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785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0E2FE-118B-420B-B5D9-A959C6DE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rPr>
              <a:t>STRUCTURE BEFORE DECORATION</a:t>
            </a:r>
          </a:p>
        </p:txBody>
      </p:sp>
    </p:spTree>
    <p:extLst>
      <p:ext uri="{BB962C8B-B14F-4D97-AF65-F5344CB8AC3E}">
        <p14:creationId xmlns:p14="http://schemas.microsoft.com/office/powerpoint/2010/main" val="365070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470A58-42E1-4892-929F-C5C18AB5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E0B63-DB0D-4D8B-B4C1-14726F0F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AGENDA / CHAPTER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B1B42-659D-4EDC-BF8A-5672AA5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339D2-0B62-4B45-BAE6-17A72A0F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ONE CLEAR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CF47C-80C0-45B9-B029-809C4BBA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四个章节，回答一个核心问题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D2C92-A80C-4868-B78D-CC0D1C7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让听众始终知道：现在讲到哪里，下一步为什么重要。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2A4C7-B9A7-4D74-A9F4-043B73F2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8B43F-3AD0-4C16-9A65-59A2435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CD88C-C271-47E3-BF66-6949357F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A81AB-3441-46BC-B89C-C1D3B295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63B28-3F2B-4286-B9C2-7BE05F90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为什么现在必须讨论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21BD8-C7FF-4D04-A53F-233275C9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9770B-DB68-4D08-8FAC-50865E3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形成共同背景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36028-AAC7-46A4-941A-89E4AF4F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E2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D63BD-13CA-441D-B56E-F9F7548F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65763-1376-4219-9D0B-FA4D0E32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EC414-F8F3-4DC5-BFA5-3F67BF73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洞察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19BA5-9CB4-43EE-8C8C-FCC04E3C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证据揭示了什么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F5812-A9B1-4626-B4DA-237C0D9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8D062-550D-48DA-AB36-8DFEB2A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提炼关键判断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D4175-ED4E-4A9E-A045-E0200D1B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BB7EB-CC20-453E-B1D3-0985D2C5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331F5-405F-42A9-802C-011485F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EBD9D-DA7A-44E2-A293-3DDCF5D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D7D07-50B6-49C7-AD06-D96D270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我们准备如何行动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4DF43-32C7-43DA-969D-FBF90950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E02C5-9A59-4123-B691-541DA3E3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明确执行路径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A7034-1903-47AF-9391-10BF6BC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C87FE-D753-4E48-9675-469F3447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ABE0F3-1B1B-49C8-B9A1-86AAF0F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D1A33-3D01-4139-97FC-0735153B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416E8-F348-465B-A71B-7419B78A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成功将如何衡量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E42AD0-C99F-49B6-87C9-5A3EF329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908192-989D-4B5F-A5E2-EB8A839B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定义衡量标准</a:t>
            </a:r>
          </a:p>
        </p:txBody>
      </p:sp>
    </p:spTree>
    <p:extLst>
      <p:ext uri="{BB962C8B-B14F-4D97-AF65-F5344CB8AC3E}">
        <p14:creationId xmlns:p14="http://schemas.microsoft.com/office/powerpoint/2010/main" val="1231406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5E615-DE04-4605-940E-62322A3B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858B0-3FF5-4427-81BD-1FC993CC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OPENING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CE2E0-00FB-4F6D-A916-D4A51B0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D922C-F2F3-4E09-A8E5-D0EA6B6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ONE THESIS / THREE PROOFS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821E8-75A8-49C4-8271-3BC78154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515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真正高级的演示，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不是信息更多，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而是判断更清楚。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8B223-7AC1-4CAA-B963-D2943B9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1F811-AC7E-4411-A994-3B12A3C8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611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结论先行，证据随后，行动收束。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每一页都承担清晰的叙事任务。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541A0-44D2-4630-B89A-09933E4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51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E9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E367F-E380-4E12-B2CD-69C422B0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判断标准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E9558-6D06-4C0B-9BBD-20DEFC9A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582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听众能否在 5 秒内复述这一页的结论？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8361A-F083-401C-B422-CE3A69E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957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1F2C"/>
          </a:solidFill>
          <a:ln xmlns:a="http://schemas.openxmlformats.org/drawingml/2006/main" w="0">
            <a:solidFill>
              <a:srgbClr val="681F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CA385-8EFB-4281-9714-03736BF1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AF46E-B0C5-4FFF-8E6C-FF5268C7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33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少而关键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AC6BD-A0D8-44F1-8384-EC079968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只保留推动结论的信息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D8E67-C7A7-4901-A316-EF911866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CD569-0E82-47B0-A2A9-CC135A2F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7FCFA-F57A-49C9-870C-D252FAE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标题有判断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D56EC-5E84-420A-9678-A1449C7A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让听众先知道这页意味着什么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A9013-00CF-4193-8DD6-4E127101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D2D3A-8B69-4E74-8766-D24739E8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B2207-E614-4A3E-8C37-CA974414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系统要稳定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85B85-8FAD-48E0-A2AE-002ED90A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33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图像、字体和节奏保持一致</a:t>
            </a:r>
          </a:p>
        </p:txBody>
      </p:sp>
    </p:spTree>
    <p:extLst>
      <p:ext uri="{BB962C8B-B14F-4D97-AF65-F5344CB8AC3E}">
        <p14:creationId xmlns:p14="http://schemas.microsoft.com/office/powerpoint/2010/main" val="950899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CE87C-253D-46FF-B731-C22FE9FB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46540-50F7-4508-B795-942E647B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VISUAL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32A52-42BC-4D40-AD6B-C6A7119E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51E3D-8092-4706-B063-9D9F063D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IMAGE +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62E6E-7121-457C-A77A-787D5A8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一张图，只负责证明一个结论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A1AA9-BF67-40A5-BE81-46EF19E6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用可替换主视觉建立情境，用三条证据完成解释。</a:t>
            </a:r>
          </a:p>
        </p:txBody>
      </p:sp>
      <p:sp>
        <p:nvSpPr>
          <p:cNvPr id="7" name="replaceable-visual-frame">
            <a:extLst xmlns:a="http://schemas.openxmlformats.org/drawingml/2006/main">
              <a:ext uri="{FF2B5EF4-FFF2-40B4-BE49-F238E27FC236}">
                <a16:creationId xmlns:a16="http://schemas.microsoft.com/office/drawing/2014/main" id="{CB4BF4CD-CE1C-4859-AE11-0D6B9A87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153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E9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CDAF6-FAB1-4D50-8DCB-50E10E6C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569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0">
            <a:solidFill>
              <a:srgbClr val="D9B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C928B-96F1-4154-8981-0FCF472F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290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rPr>
              <a:t>可替换主视觉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12C6A-3A89-415B-A7A5-4875360D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1F2C"/>
          </a:solidFill>
          <a:ln xmlns:a="http://schemas.openxmlformats.org/drawingml/2006/main" w="0">
            <a:solidFill>
              <a:srgbClr val="681F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B9709-8054-4E64-A1E5-EA359E13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rPr>
              <a:t>CAPTION / SOURCE / KEY 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9BD3C-437F-43C3-9D5F-6F802F16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2DAB0-B76F-4618-86B0-F8C950A9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9A750-EF25-4632-98B2-62A746B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先给结论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65BC4-4C39-47DE-BC72-2831D54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标题直接说明这张图意味着什么。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B3C41-12FB-464E-AEA3-2BDE2505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1F2C"/>
          </a:solidFill>
          <a:ln xmlns:a="http://schemas.openxmlformats.org/drawingml/2006/main" w="9525">
            <a:solidFill>
              <a:srgbClr val="681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FFBD7-F219-478F-9D74-270CCC06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81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53C09-C712-48BD-9998-8BFD2F0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再给证据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EC226-4FA4-49BD-9247-C8D43362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保留数字、事实、来源和必要限定。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7CEC7-C8A6-4060-8893-239D57C6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387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BB285-3484-4359-9058-6915FF2D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0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4EF6C-CA38-4B23-B2A6-3421FDCD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最后给行动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67ED9-2092-4328-84FF-EEF90FC1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明确下一步、风险或需要作出的决定。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F3ABF-345B-41CF-9D1F-1793D1B5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962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一张图 + 一个判断 + 三条解释</a:t>
            </a:r>
          </a:p>
        </p:txBody>
      </p:sp>
    </p:spTree>
    <p:extLst>
      <p:ext uri="{BB962C8B-B14F-4D97-AF65-F5344CB8AC3E}">
        <p14:creationId xmlns:p14="http://schemas.microsoft.com/office/powerpoint/2010/main" val="164672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9F657-B22B-4582-9479-2DA30200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81077-C12F-4C8B-A7EA-B521ACB6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VISUAL GALLERY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5EE7C-7E48-4A11-8820-6759E118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07A56-0098-47E2-9505-F1445B25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THREE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CC1A6-F879-43D2-8504-1516DB7D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用三种视角，解释同一个主题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E6898-3917-45A8-8799-B1B2A3D2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适合案例、产品、实验过程和阶段成果。</a:t>
            </a:r>
          </a:p>
        </p:txBody>
      </p:sp>
      <p:sp>
        <p:nvSpPr>
          <p:cNvPr id="7" name="gallery-frame-1">
            <a:extLst xmlns:a="http://schemas.openxmlformats.org/drawingml/2006/main">
              <a:ext uri="{FF2B5EF4-FFF2-40B4-BE49-F238E27FC236}">
                <a16:creationId xmlns:a16="http://schemas.microsoft.com/office/drawing/2014/main" id="{CA79B5F2-2ADD-42AE-9104-5AF1416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E9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A919C-E135-43C3-AB32-4339C590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5A0B8-4E62-46E0-B1CD-A18E21CA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250D3-D8BE-4458-A2C8-4DC9E108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全景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94967-F59C-4CF5-A2C5-340A8030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建立背景与尺度</a:t>
            </a:r>
          </a:p>
        </p:txBody>
      </p:sp>
      <p:sp>
        <p:nvSpPr>
          <p:cNvPr id="12" name="gallery-frame-2">
            <a:extLst xmlns:a="http://schemas.openxmlformats.org/drawingml/2006/main">
              <a:ext uri="{FF2B5EF4-FFF2-40B4-BE49-F238E27FC236}">
                <a16:creationId xmlns:a16="http://schemas.microsoft.com/office/drawing/2014/main" id="{0BDA6D79-CE9C-4B54-9BCE-14ADAE0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0A7C0-D403-4BC0-98D1-322CA10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1F2C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EE662-792C-4EDF-AFD5-97EE47F8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03E57-987D-409A-9DDB-11E41ABF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B1A3C-2EA2-4A66-9736-09120B29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突出关键差异</a:t>
            </a:r>
          </a:p>
        </p:txBody>
      </p:sp>
      <p:sp>
        <p:nvSpPr>
          <p:cNvPr id="17" name="gallery-frame-3">
            <a:extLst xmlns:a="http://schemas.openxmlformats.org/drawingml/2006/main">
              <a:ext uri="{FF2B5EF4-FFF2-40B4-BE49-F238E27FC236}">
                <a16:creationId xmlns:a16="http://schemas.microsoft.com/office/drawing/2014/main" id="{D9F2877D-0AE4-46D9-8F91-8F8A0937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E9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658C4-CAAF-4FD7-BA93-50BD7373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DC462-38FE-437B-BA7B-79B69A24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0AAFF-931D-452B-AF6B-07F540F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1FC4C-1989-49F8-B002-0F489997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让价值可以被看见</a:t>
            </a:r>
          </a:p>
        </p:txBody>
      </p:sp>
    </p:spTree>
    <p:extLst>
      <p:ext uri="{BB962C8B-B14F-4D97-AF65-F5344CB8AC3E}">
        <p14:creationId xmlns:p14="http://schemas.microsoft.com/office/powerpoint/2010/main" val="1319141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BE3D9-0C32-4A47-BA88-A619EA97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B2833-C0F7-424D-A522-1FCBEB2F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EVIDENCE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86EC9-C445-4C7D-B559-0051015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F9B4F-265C-4F50-9DFF-B0199130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THREE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4A7C0-4B3B-47AA-BCF5-E4359CB4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三个证据，共同支持一个判断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4436A-62C8-4A42-975A-E1D99C1E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横向比较时保持同一尺度，避免把信息堆成卡片墙。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9323A-7012-4C6F-B408-F30A13A5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335E3-7E56-4C09-BBCB-232CF0FD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C07B4-65D0-43D1-980B-14052F07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72%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9DBF6-D509-4A40-BD35-2188CDDC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需求已经出现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44773-1ED3-4525-BBBC-E8E321C7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受访者主动提出更快、更简单的流程。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0DBAD-7277-4972-AD2D-B387A321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70788-6CAA-44BA-B819-73C08872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SIGNAL /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76EA0-E7EE-4FB7-8A53-796C8FA1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1F2C"/>
          </a:solidFill>
          <a:ln xmlns:a="http://schemas.openxmlformats.org/drawingml/2006/main" w="9525">
            <a:solidFill>
              <a:srgbClr val="681F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88CCC-660C-4719-A9BA-E558B24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B7BFD-F474-41D1-ACBC-1205D3B7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2.4×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69129-6189-43D3-BFC0-C6B8C91E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效率可以提升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41589-B2C4-431A-928C-3F597789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重复工作被压缩，</a:t>
            </a:r>
          </a:p>
          <a:p xmlns:a="http://schemas.openxmlformats.org/drawingml/2006/main">
            <a:pPr algn="l">
              <a:def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团队把时间留给判断。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467D4-80CA-4357-9F1D-F414E9C0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AEB70-C0F4-4E27-A29A-E883BF73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SIGNAL / SPEED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32185-6748-4C0D-AE1A-FA2F3488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2E985-F8B1-48B2-83A9-1C38838A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42B7E-0E38-459A-8443-160CA1FD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18%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0AC1C-AFE5-4037-9DF8-7D0F6F3F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风险仍需管理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5D590-1B50-4B73-9292-2C958AD4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必须保留人工复核和来源追踪。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6C603-A901-4AEA-BB02-EF944BB7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20983F-053B-4ED5-966B-F15D436D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SIGNAL / CONTROL</a:t>
            </a:r>
          </a:p>
        </p:txBody>
      </p:sp>
    </p:spTree>
    <p:extLst>
      <p:ext uri="{BB962C8B-B14F-4D97-AF65-F5344CB8AC3E}">
        <p14:creationId xmlns:p14="http://schemas.microsoft.com/office/powerpoint/2010/main" val="123907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681F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094A83-5397-420E-B502-5976306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12F1C-20B9-4B30-9AAC-2FB61950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rPr>
              <a:t>PROCESS / 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4D30B-F7D5-4475-AC2F-F9E3A6D8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12521-4141-4D6E-8BEC-1426438D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FOUR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D49DA-A9CB-45AD-83CD-EF702465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从零散材料到可讲述的演示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5F012-E920-44A9-8AEA-688705B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默认自动完成，用户只需提供内容。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C17E2-D34C-480F-9C05-12B0DBC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0">
            <a:solidFill>
              <a:srgbClr val="D9BB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EEBCA-F313-45FE-A1E5-233587A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19D7D-26C0-4137-853B-D29CBA2E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93A1C-C2C5-4BB0-AA0C-42F0E8CC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57318-F22C-4EB7-BBB2-53DB4FB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识别受众与目标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6E207-A5A2-4D25-A268-EE85D49F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0B1E2-3350-437B-93C3-F35EC890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F80D5-98CF-419A-BC9C-4CEADA6D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2B73E-9C26-4365-AD7F-A2DA3BD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形成故事线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DE558-BF26-479C-BEFA-26161CEB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D4B18-F73C-4499-B379-1A6055A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1F2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81F2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1D484-0944-4B1B-88DD-99852AFB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88707-B7E5-484F-AC75-D2A5A2B4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选择最佳版式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A198E-7E28-4EAA-9895-17ED2522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4A5B9-7B83-4DF9-ADC8-027D3B42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4CB91-1987-4869-B50E-8056BD17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297757-5A03-4BEC-9B3F-FFD5174A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渲染并修正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F30F6-87A3-40B7-B9AF-6DE72642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62600"/>
            <a:ext cx="1219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2A37"/>
          </a:solidFill>
          <a:ln xmlns:a="http://schemas.openxmlformats.org/drawingml/2006/main" w="0">
            <a:solidFill>
              <a:srgbClr val="782A3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3A393-8C2A-48A0-9678-BED78A3D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071F8-7786-4000-A51A-EE80145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F50BDA-1C15-448C-9398-404E06F4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F9D55-CF39-481A-AD43-E98139F7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D611D-E08E-4ACC-8C84-7FA379C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故事结构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4D329-EA2B-42F5-BF26-A484FB7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350CEC-06E9-4EB9-9A49-258AC7DA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LAYOUT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C9FCC-F000-47AF-A9B7-95BD65C5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可编辑页面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022981-8410-44FA-A4A9-EB000CDC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BF46A3-9A06-422D-BE4A-F1EB6428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9BACF6-2EE1-4B52-ADFC-E2DED95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渲染成品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22DE83-3FB9-4B11-AC46-81054F9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7883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90B988-C990-4634-BAA0-FB55DEAE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03F92-A8B5-4C0E-8B0F-572338F6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B55E7-975A-4E3F-A86A-D74A9F54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E9A8E-58E7-4824-BDDD-AE69EBBE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MOMENTUM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778F2-57F3-4CE9-BF2B-CA7189A4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把时间线写成变化，而不是日期清单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B01C6-3716-4097-9C17-F0BD4526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每个节点只回答：发生了什么，以及它为何改变下一步。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7D6B5-162C-40A7-9131-AA58361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1"/>
          </a:solidFill>
          <a:ln xmlns:a="http://schemas.openxmlformats.org/drawingml/2006/main" w="0">
            <a:solidFill>
              <a:srgbClr val="DDC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D9CE2-3FEE-42E0-B5FF-680E3450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62C7F-2E1A-43D3-8177-B1961CA4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2022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149C5-F9EB-41A1-BF21-8B92F9D6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验证问题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7AA08-6C51-402F-800E-8E1317E9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72133-40C6-4BD3-8730-992CCD7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6CA3F-C8FE-45ED-816D-65B9C098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F3AEB-4CC0-4EEF-A6F9-1C61105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形成方法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AF443-9C68-4653-84F7-2EE4D6AB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3C185-ED86-4633-AAE8-593BDD33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DAF5E-A07A-4A71-BCA1-D8A75D2E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D613B-7A57-407D-8068-0EF606A3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扩大应用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65317-0B93-4469-AED6-1D3A5979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A1A46-B8C8-4934-87F1-74B012FC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CBF6B-AE18-46E0-B82C-555432AF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2025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AA5CE-3149-4723-9E3A-5CE0566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建立标准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9F49F-F733-4E5C-9D70-0E348091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41EE4-B304-4D52-9EAD-E17D0D1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C47B6E-23D9-4309-900A-E929C63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70101-8D88-4D41-A5BE-82EF90F0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规模化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C6540-D28D-4426-958C-26884894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</p:spTree>
    <p:extLst>
      <p:ext uri="{BB962C8B-B14F-4D97-AF65-F5344CB8AC3E}">
        <p14:creationId xmlns:p14="http://schemas.microsoft.com/office/powerpoint/2010/main" val="5217635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B4354-2E43-4837-9A7A-EA015BDA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CC367-9141-49E9-AF20-879FB834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ABD17-A5A7-459B-8A1E-E353B27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64A94-7DC3-4AFD-8FEF-F205E11C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BEFORE / AFTER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D5E02-20A3-4E41-A763-8BB7A00E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对比的重点，是变化带来的意义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9A12F-5512-4696-BB9D-A54D682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使用同一维度和同一尺度，避免左右两边各说各话。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1D1DF-95A9-4B41-8BE7-C5B7633A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E7E9"/>
          </a:solidFill>
          <a:ln xmlns:a="http://schemas.openxmlformats.org/drawingml/2006/main" w="0">
            <a:solidFill>
              <a:srgbClr val="F2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DBCD7-DAC3-4345-ADCD-3F6DA12E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681F2C"/>
          </a:solidFill>
          <a:ln xmlns:a="http://schemas.openxmlformats.org/drawingml/2006/main" w="0">
            <a:solidFill>
              <a:srgbClr val="681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85144-7078-4E75-AD1E-CCF8BD7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过去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EC943-FB84-4896-9595-18AFF89B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材料分散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结构依赖个人经验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修改成本高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84B7C-70DA-4D83-978A-9311E506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2CE13-E0DD-496A-BDD5-A5878F40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自动诊断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按任务匹配版式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全套渲染质检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CB90D-5C2F-414B-8ED7-1DDB998B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4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162DC-E95D-462B-8BEA-FA472922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396938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931E8-A0FE-405B-8067-5E7BC8C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3C509-6285-445C-A9C6-3365D6F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DATA / BAR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182BF-94D3-43E7-B541-E40A62F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FABF8-2AEE-4B3D-A7F9-58D69E2A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DECISION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95DAD-58B0-4ADF-B064-1455DBF1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效率提升来自流程简化，而非减少判断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4CF94-B476-4E1C-B628-D8EDB819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用一个主指标和一张图回答问题。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0415B-159F-4A0D-A775-04C2827A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2.4×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4181B-8E9D-4713-BC59-7A41AFA1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交付速度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4732B-F4DC-41A5-A732-7555C54A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从整理到初稿的平均时间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676650" y="2800350"/>
          <a:ext xmlns:a="http://schemas.openxmlformats.org/drawingml/2006/main" cx="752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c0dca06a63401d"/>
          </a:graphicData>
        </a:graphic>
      </p:graphicFrame>
    </p:spTree>
    <p:extLst>
      <p:ext uri="{BB962C8B-B14F-4D97-AF65-F5344CB8AC3E}">
        <p14:creationId xmlns:p14="http://schemas.microsoft.com/office/powerpoint/2010/main" val="15340115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3C23D-DC26-454B-9D11-85AF3B1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3E339-EA03-4CDF-8B90-AFC28901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DATA / 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30ED8-3C30-4074-9E41-3DAACC2A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69C0B-7282-44F2-B46E-D1F5F0C9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TREND + 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47B4C-7F97-4383-8CBA-B22D2528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质量提升发生在每一次复用之后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4C78A-05D9-4368-800C-22693F9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趋势图负责显示变化，右侧结论负责解释变化。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85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efccd987ca493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6F968-C3EE-42FB-AE65-6FDF4654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32194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681F2C"/>
          </a:solidFill>
          <a:ln xmlns:a="http://schemas.openxmlformats.org/drawingml/2006/main" w="0">
            <a:solidFill>
              <a:srgbClr val="681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723D0-FAF3-4417-A8A6-BB2A0FED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+34pt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78878-B14D-4DDC-A2A8-D588C58D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复用带来的质量增益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51F46-C84A-43F0-AB91-DE626B14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把经验写进资源，而不是留在个人记忆里。</a:t>
            </a:r>
          </a:p>
        </p:txBody>
      </p:sp>
    </p:spTree>
    <p:extLst>
      <p:ext uri="{BB962C8B-B14F-4D97-AF65-F5344CB8AC3E}">
        <p14:creationId xmlns:p14="http://schemas.microsoft.com/office/powerpoint/2010/main" val="2898993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35F0F-4A7C-4ECF-A1B9-5ECFF26B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19436-BB5D-4768-A6FA-23391A32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DATA /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46D68-4334-4735-AEE5-5452311C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8572B-1B50-40D6-9E1A-BE3AE472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COMPOSITION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8E203-47A1-449C-BBC1-79E007D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一套好演示，时间应该花在哪里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10E7A-363F-4E3B-A169-16E3786A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结构和证据优先，装饰只负责强化层级。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85800" y="2724150"/>
          <a:ext xmlns:a="http://schemas.openxmlformats.org/drawingml/2006/main" cx="495300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9ad668e29d4a4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9FB8D-9BFC-471F-B20B-5629CB10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1F2C"/>
          </a:solidFill>
          <a:ln xmlns:a="http://schemas.openxmlformats.org/drawingml/2006/main" w="0">
            <a:solidFill>
              <a:srgbClr val="681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2B5E1-B83E-4A19-9F2A-59D3A5CA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AB546-65D8-4DC0-B503-D199FB81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81F2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81F2C"/>
                </a:solidFill>
                <a:latin typeface="Georgia"/>
                <a:ea typeface="Georgia"/>
                <a:cs typeface="Georgia"/>
              </a:rPr>
              <a:t>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DDC8D-99B6-41D6-A03D-4AD05114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1"/>
          </a:solidFill>
          <a:ln xmlns:a="http://schemas.openxmlformats.org/drawingml/2006/main" w="0">
            <a:solidFill>
              <a:srgbClr val="DDCE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9900F-EF87-4616-96DF-BB1DC0CE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4482E-296F-47EC-9338-21E97310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4A189-0073-4FF4-9D9A-D73A98AC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30%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B6647-8C2E-4C24-BF38-383FB6B2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1"/>
          </a:solidFill>
          <a:ln xmlns:a="http://schemas.openxmlformats.org/drawingml/2006/main" w="0">
            <a:solidFill>
              <a:srgbClr val="DDCE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0D7DD-83AD-4382-AF15-34617C4F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0">
            <a:solidFill>
              <a:srgbClr val="D9BB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3CF17-0D95-4465-A2A0-151C200B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ACA81-6206-40B7-AE42-436BD00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BBC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9BBC0"/>
                </a:solidFill>
                <a:latin typeface="Georgia"/>
                <a:ea typeface="Georgia"/>
                <a:cs typeface="Georgia"/>
              </a:rPr>
              <a:t>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88151-4647-4064-8054-9F0B247D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1"/>
          </a:solidFill>
          <a:ln xmlns:a="http://schemas.openxmlformats.org/drawingml/2006/main" w="0">
            <a:solidFill>
              <a:srgbClr val="DDCE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939D5-DCD5-4EDA-B81A-2654085A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59ED9-CEFA-4BDE-B71D-4E2AC8D0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装饰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8A5FD-63B1-40FF-8132-A25A46C6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B127E-2BC7-4FDB-8D2B-07EB539E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1"/>
          </a:solidFill>
          <a:ln xmlns:a="http://schemas.openxmlformats.org/drawingml/2006/main" w="0">
            <a:solidFill>
              <a:srgbClr val="DDCED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729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681F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32E75-6173-4DF2-AFC9-32546EF9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5BEE9-9CFB-49D5-A3D6-655946E7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rPr>
              <a:t>RESEARCH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402A3-8959-4A6F-978F-F70EA0E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88597-E50A-4E20-A9AA-922513F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51D52-A96F-431C-8A1C-56CEFDE8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方法页要让过程可复核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47091-60B0-46C1-B575-669E2C46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用输入、处理、验证、输出四个环节建立可信度。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0830B-2713-492E-895D-AA903823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EC05A-312B-4459-B1CB-16659FD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067F1-3B26-43F6-A1D7-B96A4B71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164FC-DA49-4608-BEC0-EAAE9B3E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数据与来源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99F4F-E714-434C-861F-A24FC48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AE10E-EF8A-469A-B2B9-D97F4262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2367E-270E-44B6-8993-7F4F3ED3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C6CF4-91CA-4AA5-BE87-A5EBA61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归纳主题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提取证据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6ADF9-F2CD-4A43-835A-E07F508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2D724-0D3B-459B-BE19-D22FCC01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1F2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81F2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0086D-EA65-41D6-BA06-C7C1E21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62C27-8E81-47F0-BB66-FB0C57B4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rPr>
              <a:t>核对事实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1F2C"/>
                </a:solidFill>
                <a:latin typeface="Microsoft YaHei"/>
                <a:ea typeface="Microsoft YaHei"/>
                <a:cs typeface="Microsoft YaHei"/>
              </a:rPr>
              <a:t>检查偏差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4F2DF-1988-4911-A0C8-4037D2A4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93408-2686-4513-99F5-1AEE2975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20629-FED4-406F-8189-9203411A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A2887-A5F9-48B1-A02B-60E83999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形成结论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给出行动</a:t>
            </a:r>
          </a:p>
        </p:txBody>
      </p:sp>
    </p:spTree>
    <p:extLst>
      <p:ext uri="{BB962C8B-B14F-4D97-AF65-F5344CB8AC3E}">
        <p14:creationId xmlns:p14="http://schemas.microsoft.com/office/powerpoint/2010/main" val="2680045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A1E6D-E5B7-43DB-ABFD-535CBFDA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F732B-B85C-40EA-BAAE-9C125586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FINDINGS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556AA-EBED-422B-A782-A8CE42B2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17AFF-B490-4195-92CB-C54D792D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TWO DIMENSIONS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4F03E-3AE0-4FEE-97FF-7B94E509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用二维矩阵，把信息转成优先级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9E60F-83BC-4B87-B2BC-5DBDC312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横轴表示价值，纵轴表示可行性。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FC002-8FAD-4E67-BBC3-8EEE0DF1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F42F7-4493-43B0-B4F3-DA619B3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575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1"/>
          </a:solidFill>
          <a:ln xmlns:a="http://schemas.openxmlformats.org/drawingml/2006/main" w="0">
            <a:solidFill>
              <a:srgbClr val="DDCE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CA187-2FDF-47F3-9257-BEAEEBA3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1"/>
          </a:solidFill>
          <a:ln xmlns:a="http://schemas.openxmlformats.org/drawingml/2006/main" w="0">
            <a:solidFill>
              <a:srgbClr val="DDCE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C4843-1D6A-40D7-8B31-99F14D9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高可行性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7FD25-4137-4BAE-8545-2FD09CA7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低可行性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A9F38-0CD6-4E48-B3F3-72E08257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低价值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51537-63D0-475A-B79E-D1A820D1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高价值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5A886-B0CC-44A0-922B-869A762C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0">
            <a:solidFill>
              <a:srgbClr val="D9BB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731CF-1BE9-4134-BFBD-F3CA423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7011D-B4B5-4DAF-8DF7-475B2B2B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081FB-ADA8-4AFB-B014-B433B117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C49AE-5711-44F6-B72F-0239A19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29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1F2C"/>
          </a:solidFill>
          <a:ln xmlns:a="http://schemas.openxmlformats.org/drawingml/2006/main" w="0">
            <a:solidFill>
              <a:srgbClr val="681F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3B8CE-C8A9-4722-8173-2FD62C3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32194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2E7E9"/>
          </a:solidFill>
          <a:ln xmlns:a="http://schemas.openxmlformats.org/drawingml/2006/main" w="0">
            <a:solidFill>
              <a:srgbClr val="F2E7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12ABE-D159-400C-911E-9F7D89AD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3040"/>
                </a:solidFill>
                <a:latin typeface="Microsoft YaHei"/>
                <a:ea typeface="Microsoft YaHei"/>
                <a:cs typeface="Microsoft YaHei"/>
              </a:rPr>
              <a:t>优先做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98FE2-E08C-45E4-BC7B-80AAA9A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高价值、低阻力的事项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立即进入下一轮验证</a:t>
            </a:r>
          </a:p>
        </p:txBody>
      </p:sp>
    </p:spTree>
    <p:extLst>
      <p:ext uri="{BB962C8B-B14F-4D97-AF65-F5344CB8AC3E}">
        <p14:creationId xmlns:p14="http://schemas.microsoft.com/office/powerpoint/2010/main" val="5417081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13D9A9-4C03-4CF0-B501-F8367866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DA42F-F433-4468-B45D-4B39A963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RISK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F8930-A549-42F2-B506-2CF0DD44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F3EEE-5934-4F36-8B70-736E0AFE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8850"/>
                </a:solidFill>
                <a:latin typeface="Microsoft YaHei"/>
                <a:ea typeface="Microsoft YaHei"/>
                <a:cs typeface="Microsoft YaHei"/>
              </a:rPr>
              <a:t>RISK +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D3991-7373-4926-B463-640254EA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风险页必须同时给出应对方式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355D8-78A6-4763-93F5-10B315F3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只标红问题没有价值；明确触发条件、负责人和动作。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3BCEA-A455-431B-A699-7597BDFF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E7E9"/>
          </a:solidFill>
          <a:ln xmlns:a="http://schemas.openxmlformats.org/drawingml/2006/main" w="0">
            <a:solidFill>
              <a:srgbClr val="F2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F0DDC-A97D-43C1-A88E-B524F284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E7E9"/>
          </a:solidFill>
          <a:ln xmlns:a="http://schemas.openxmlformats.org/drawingml/2006/main" w="0">
            <a:solidFill>
              <a:srgbClr val="F2E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FF846-409D-4645-9606-66013B27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E9E4"/>
          </a:solidFill>
          <a:ln xmlns:a="http://schemas.openxmlformats.org/drawingml/2006/main" w="0">
            <a:solidFill>
              <a:srgbClr val="F5E9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686D1-A16F-4F78-B9E7-6F3A4A82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E7E9"/>
          </a:solidFill>
          <a:ln xmlns:a="http://schemas.openxmlformats.org/drawingml/2006/main" w="0">
            <a:solidFill>
              <a:srgbClr val="F2E7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C5F54-2334-4233-B633-792BD92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E9E4"/>
          </a:solidFill>
          <a:ln xmlns:a="http://schemas.openxmlformats.org/drawingml/2006/main" w="0">
            <a:solidFill>
              <a:srgbClr val="F5E9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81220-38B8-4FDA-9F43-25750D89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C3B6"/>
          </a:solidFill>
          <a:ln xmlns:a="http://schemas.openxmlformats.org/drawingml/2006/main" w="0">
            <a:solidFill>
              <a:srgbClr val="E7C3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419FC-6787-4D44-8792-C06E4455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E9E4"/>
          </a:solidFill>
          <a:ln xmlns:a="http://schemas.openxmlformats.org/drawingml/2006/main" w="0">
            <a:solidFill>
              <a:srgbClr val="F5E9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6053F-A42C-4515-9EAE-2FC67D1B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C3B6"/>
          </a:solidFill>
          <a:ln xmlns:a="http://schemas.openxmlformats.org/drawingml/2006/main" w="0">
            <a:solidFill>
              <a:srgbClr val="E7C3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B65B4-C2F0-4462-BA27-C5AFE72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63EDC-58BD-4134-B52A-5D09C2D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6F553-8CB7-41E5-B0C4-CACFD2C3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发生概率 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3930A-7FF7-43A0-A4C5-D0501291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1F2C"/>
          </a:solidFill>
          <a:ln xmlns:a="http://schemas.openxmlformats.org/drawingml/2006/main" w="0">
            <a:solidFill>
              <a:srgbClr val="681F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8D8CE-38A6-4C3B-830C-4005326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B137F-58E4-49C6-A307-A0C4EC35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CFDB7-648F-475C-A86D-E038DECC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91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F6F12-DE6B-4551-A47E-4B78F98A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43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15BC2-C3E2-46F7-AF2C-19DC29C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0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36370-8A60-4058-B963-F4D91BA6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16D72-5E78-48EC-8D1E-ABC18863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B2C644-3E5D-443C-93CB-BF022153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861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事实错误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10106-00C9-45EA-AC8E-79F838D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关键数据逐项复核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5F3D8-4308-4645-93BD-589A988E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71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2AD0A5-3ED8-430D-A1F1-E83681A0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B1392-EE65-42F5-BC04-33E7202F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信息泄露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1F955-83EE-4891-8225-9FF7456F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输入内容分级处理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D6B3B-E5C9-4F91-AEF7-94881363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29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634D6A-C85C-430E-8A49-415B7EB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E4E44-6406-4742-847B-220180AE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视觉失真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E3F7E9-7C25-41EA-B659-6A398D2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435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全套渲染后再交付</a:t>
            </a:r>
          </a:p>
        </p:txBody>
      </p:sp>
    </p:spTree>
    <p:extLst>
      <p:ext uri="{BB962C8B-B14F-4D97-AF65-F5344CB8AC3E}">
        <p14:creationId xmlns:p14="http://schemas.microsoft.com/office/powerpoint/2010/main" val="12109250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681F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00585-CEFE-4357-B33A-7CD92577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99E4B-7BC8-40E2-B69D-55F42CEE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2E7E9"/>
                </a:solidFill>
                <a:latin typeface="Microsoft YaHei"/>
                <a:ea typeface="Microsoft YaHei"/>
                <a:cs typeface="Microsoft YaHei"/>
              </a:rPr>
              <a:t>CASE / 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E9D94-4243-4837-90ED-13B893D8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C7CBF-9660-409C-AA99-BFF09163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4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66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BCFB8-D3C0-48EF-8F9C-A0FAD14A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用户不需要学会设计，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只需要把真实材料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交给系统。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D0BF2-45ED-4DD7-88ED-DD826DE0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BC0"/>
          </a:solidFill>
          <a:ln xmlns:a="http://schemas.openxmlformats.org/drawingml/2006/main" w="0">
            <a:solidFill>
              <a:srgbClr val="D9BB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ECDDB-B087-4F1E-B301-ED3463D2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EDBDE"/>
                </a:solidFill>
                <a:latin typeface="Microsoft YaHei"/>
                <a:ea typeface="Microsoft YaHei"/>
                <a:cs typeface="Microsoft YaHei"/>
              </a:rPr>
              <a:t>— 资源型 skill 的产品原则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6021E-1948-4A74-BA87-9BA1319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34480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2A37"/>
          </a:solidFill>
          <a:ln xmlns:a="http://schemas.openxmlformats.org/drawingml/2006/main" w="9525">
            <a:solidFill>
              <a:srgbClr val="B64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6279E-A327-4BA4-B0E4-8B656D08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668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4FB5D-8D90-48B0-8D80-AA64CF91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07566-FBCC-42B6-93BD-CD4DEBFC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34E31-1D95-464E-A918-132A0DDF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E9B6A-E2DA-419E-85E4-75D2D7E1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必要问题上限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C60DC-FE2C-43EA-9178-86EF381E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2A2D2-17B9-4CD7-A2AE-93A9A667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2997A-C92D-48D7-8486-991A1B46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逐页渲染质检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5A33E-5D5D-4330-8D5F-3F4E6512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74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59"/>
          </a:solidFill>
          <a:ln xmlns:a="http://schemas.openxmlformats.org/drawingml/2006/main" w="0">
            <a:solidFill>
              <a:srgbClr val="B64B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29F77-FED3-44A7-90D8-BFC0F060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RAW MATERIAL → CLEAR STORY → EDITABLE DECK → RENDER QA</a:t>
            </a:r>
          </a:p>
        </p:txBody>
      </p:sp>
    </p:spTree>
    <p:extLst>
      <p:ext uri="{BB962C8B-B14F-4D97-AF65-F5344CB8AC3E}">
        <p14:creationId xmlns:p14="http://schemas.microsoft.com/office/powerpoint/2010/main" val="18983427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CD9B5-9496-481E-8D2D-79A7509E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040"/>
          </a:solidFill>
          <a:ln xmlns:a="http://schemas.openxmlformats.org/drawingml/2006/main" w="0">
            <a:solidFill>
              <a:srgbClr val="9A3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20D25-BCE0-4F6F-B053-C40E3A41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CLOSING /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5FC60-A095-4D79-9158-533A8C2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C1D8B-79BE-4F63-9B60-52E48026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好的演示，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让下一步变得简单。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93356-E57A-4D8A-9BB7-1C648208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3686A"/>
                </a:solidFill>
                <a:latin typeface="Microsoft YaHei"/>
                <a:ea typeface="Microsoft YaHei"/>
                <a:cs typeface="Microsoft YaHei"/>
              </a:rPr>
              <a:t>把材料交进来，剩下的由 skill 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9E097-4C90-4EE0-BE5D-34520B10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2E7E9"/>
          </a:solidFill>
          <a:ln xmlns:a="http://schemas.openxmlformats.org/drawingml/2006/main" w="0">
            <a:solidFill>
              <a:srgbClr val="F2E7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625C2-2B90-4C25-971A-18933909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D83E9-E540-4486-9F7E-D638E095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提供材料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1BD40-E87F-42B9-B03E-6BCB9F8A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2E7E9"/>
          </a:solidFill>
          <a:ln xmlns:a="http://schemas.openxmlformats.org/drawingml/2006/main" w="0">
            <a:solidFill>
              <a:srgbClr val="F2E7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8E011-2F7F-4DFC-9BD7-B6A2B1A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040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9A304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6BA04-2BAC-4766-B06B-54FBF504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191B"/>
                </a:solidFill>
                <a:latin typeface="Microsoft YaHei"/>
                <a:ea typeface="Microsoft YaHei"/>
                <a:cs typeface="Microsoft YaHei"/>
              </a:rPr>
              <a:t>确认听众与时长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7DD54-37A2-4DD2-AED6-58319A22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681F2C"/>
          </a:solidFill>
          <a:ln xmlns:a="http://schemas.openxmlformats.org/drawingml/2006/main" w="0">
            <a:solidFill>
              <a:srgbClr val="681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0A50E-8179-457F-893D-0AD0495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8850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BF885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95AAD-5D09-4B4C-8B60-17FB3634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领取可编辑成品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7A5C8-4765-41DE-9FC1-C8B5D26E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19621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850"/>
          </a:solidFill>
          <a:ln xmlns:a="http://schemas.openxmlformats.org/drawingml/2006/main" w="0">
            <a:solidFill>
              <a:srgbClr val="BF8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7A235-E9BE-4673-897E-B1B2366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145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81F2C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681F2C"/>
                </a:solidFill>
                <a:latin typeface="Georgia"/>
                <a:ea typeface="Georgia"/>
                <a:cs typeface="Georgia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6F9C3-F00D-4584-B331-1C411962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581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>
                <a:solidFill>
                  <a:srgbClr val="681F2C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681F2C"/>
                </a:solidFill>
                <a:latin typeface="Georgia"/>
                <a:ea typeface="Georgia"/>
                <a:cs typeface="Georgia"/>
              </a:rPr>
              <a:t>TO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>
                <a:solidFill>
                  <a:srgbClr val="681F2C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681F2C"/>
                </a:solidFill>
                <a:latin typeface="Georgia"/>
                <a:ea typeface="Georgia"/>
                <a:cs typeface="Georgia"/>
              </a:rPr>
              <a:t>PRESENT</a:t>
            </a:r>
          </a:p>
        </p:txBody>
      </p:sp>
    </p:spTree>
    <p:extLst>
      <p:ext uri="{BB962C8B-B14F-4D97-AF65-F5344CB8AC3E}">
        <p14:creationId xmlns:p14="http://schemas.microsoft.com/office/powerpoint/2010/main" val="745003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2026-07-19T18:59:28.2240000Z</dcterms:created>
  <dcterms:modified xsi:type="dcterms:W3CDTF">2026-07-19T18:59:28.2240000Z</dcterms:modified>
</coreProperties>
</file>