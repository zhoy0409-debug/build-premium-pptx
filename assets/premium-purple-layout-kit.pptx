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1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2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slides/charts/chart3.xml" ContentType="application/vnd.openxmlformats-officedocument.drawingml.chart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0690316f3bc452f" /><Relationship Type="http://schemas.openxmlformats.org/officeDocument/2006/relationships/extended-properties" Target="/docProps/app.xml" Id="R7800b41f24114a78" /><Relationship Type="http://schemas.openxmlformats.org/officeDocument/2006/relationships/officeDocument" Target="/ppt/presentation.xml" Id="R18fada256ca74fc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50517e7ff054f85"/>
  </p:sldMasterIdLst>
  <p:notesMasterIdLst>
    <p:notesMasterId xmlns:r="http://schemas.openxmlformats.org/officeDocument/2006/relationships" r:id="R7c2a0a16e51f4426"/>
  </p:notesMasterIdLst>
  <p:sldIdLst>
    <p:sldId xmlns:r="http://schemas.openxmlformats.org/officeDocument/2006/relationships" id="256" r:id="Rca15a8ddf44b44d9"/>
    <p:sldId xmlns:r="http://schemas.openxmlformats.org/officeDocument/2006/relationships" id="257" r:id="Red75e9a538d04c45"/>
    <p:sldId xmlns:r="http://schemas.openxmlformats.org/officeDocument/2006/relationships" id="258" r:id="R67c8455f8fc54295"/>
    <p:sldId xmlns:r="http://schemas.openxmlformats.org/officeDocument/2006/relationships" id="259" r:id="R6b29d834c63746f3"/>
    <p:sldId xmlns:r="http://schemas.openxmlformats.org/officeDocument/2006/relationships" id="260" r:id="Reaa37a6a825842d9"/>
    <p:sldId xmlns:r="http://schemas.openxmlformats.org/officeDocument/2006/relationships" id="261" r:id="R1f9bf92190da4f29"/>
    <p:sldId xmlns:r="http://schemas.openxmlformats.org/officeDocument/2006/relationships" id="262" r:id="R191f32795c2b4697"/>
    <p:sldId xmlns:r="http://schemas.openxmlformats.org/officeDocument/2006/relationships" id="263" r:id="R92114065c0184215"/>
    <p:sldId xmlns:r="http://schemas.openxmlformats.org/officeDocument/2006/relationships" id="264" r:id="R7e2303697e8e42f2"/>
    <p:sldId xmlns:r="http://schemas.openxmlformats.org/officeDocument/2006/relationships" id="265" r:id="Rcc0face33c0c44b7"/>
    <p:sldId xmlns:r="http://schemas.openxmlformats.org/officeDocument/2006/relationships" id="266" r:id="Rab0a2ca356f54929"/>
    <p:sldId xmlns:r="http://schemas.openxmlformats.org/officeDocument/2006/relationships" id="267" r:id="Rdbd04db0506f460c"/>
    <p:sldId xmlns:r="http://schemas.openxmlformats.org/officeDocument/2006/relationships" id="268" r:id="Rf79f026314e342f0"/>
    <p:sldId xmlns:r="http://schemas.openxmlformats.org/officeDocument/2006/relationships" id="269" r:id="R90baa333ea0e4936"/>
    <p:sldId xmlns:r="http://schemas.openxmlformats.org/officeDocument/2006/relationships" id="270" r:id="Ra44ec5f772524957"/>
    <p:sldId xmlns:r="http://schemas.openxmlformats.org/officeDocument/2006/relationships" id="271" r:id="R909bc014d7dd40c9"/>
    <p:sldId xmlns:r="http://schemas.openxmlformats.org/officeDocument/2006/relationships" id="272" r:id="R225883c1036c4db2"/>
    <p:sldId xmlns:r="http://schemas.openxmlformats.org/officeDocument/2006/relationships" id="273" r:id="Rdd9d0fd0d9094e54"/>
    <p:sldId xmlns:r="http://schemas.openxmlformats.org/officeDocument/2006/relationships" id="274" r:id="Rf32990b62774470d"/>
    <p:sldId xmlns:r="http://schemas.openxmlformats.org/officeDocument/2006/relationships" id="275" r:id="R8d68f359cfe44ee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0a350a296254258" /><Relationship Type="http://schemas.openxmlformats.org/officeDocument/2006/relationships/slideMaster" Target="/ppt/slideMasters/slideMaster1.xml" Id="R150517e7ff054f85" /><Relationship Type="http://schemas.openxmlformats.org/officeDocument/2006/relationships/notesMaster" Target="/ppt/notesMasters/notesMaster1.xml" Id="R7c2a0a16e51f4426" /><Relationship Type="http://schemas.openxmlformats.org/officeDocument/2006/relationships/presProps" Target="/ppt/presProps.xml" Id="R7d13b52122f64fb7" /><Relationship Type="http://schemas.openxmlformats.org/officeDocument/2006/relationships/tableStyles" Target="/ppt/tableStyles.xml" Id="Rfc2717d8797a4bc5" /><Relationship Type="http://schemas.openxmlformats.org/officeDocument/2006/relationships/slide" Target="/ppt/slides/slide1.xml" Id="Rca15a8ddf44b44d9" /><Relationship Type="http://schemas.openxmlformats.org/officeDocument/2006/relationships/slide" Target="/ppt/slides/slide2.xml" Id="Red75e9a538d04c45" /><Relationship Type="http://schemas.openxmlformats.org/officeDocument/2006/relationships/slide" Target="/ppt/slides/slide3.xml" Id="R67c8455f8fc54295" /><Relationship Type="http://schemas.openxmlformats.org/officeDocument/2006/relationships/slide" Target="/ppt/slides/slide4.xml" Id="R6b29d834c63746f3" /><Relationship Type="http://schemas.openxmlformats.org/officeDocument/2006/relationships/slide" Target="/ppt/slides/slide5.xml" Id="Reaa37a6a825842d9" /><Relationship Type="http://schemas.openxmlformats.org/officeDocument/2006/relationships/slide" Target="/ppt/slides/slide6.xml" Id="R1f9bf92190da4f29" /><Relationship Type="http://schemas.openxmlformats.org/officeDocument/2006/relationships/slide" Target="/ppt/slides/slide7.xml" Id="R191f32795c2b4697" /><Relationship Type="http://schemas.openxmlformats.org/officeDocument/2006/relationships/slide" Target="/ppt/slides/slide8.xml" Id="R92114065c0184215" /><Relationship Type="http://schemas.openxmlformats.org/officeDocument/2006/relationships/slide" Target="/ppt/slides/slide9.xml" Id="R7e2303697e8e42f2" /><Relationship Type="http://schemas.openxmlformats.org/officeDocument/2006/relationships/slide" Target="/ppt/slides/slide10.xml" Id="Rcc0face33c0c44b7" /><Relationship Type="http://schemas.openxmlformats.org/officeDocument/2006/relationships/slide" Target="/ppt/slides/slide11.xml" Id="Rab0a2ca356f54929" /><Relationship Type="http://schemas.openxmlformats.org/officeDocument/2006/relationships/slide" Target="/ppt/slides/slide12.xml" Id="Rdbd04db0506f460c" /><Relationship Type="http://schemas.openxmlformats.org/officeDocument/2006/relationships/slide" Target="/ppt/slides/slide13.xml" Id="Rf79f026314e342f0" /><Relationship Type="http://schemas.openxmlformats.org/officeDocument/2006/relationships/slide" Target="/ppt/slides/slide14.xml" Id="R90baa333ea0e4936" /><Relationship Type="http://schemas.openxmlformats.org/officeDocument/2006/relationships/slide" Target="/ppt/slides/slide15.xml" Id="Ra44ec5f772524957" /><Relationship Type="http://schemas.openxmlformats.org/officeDocument/2006/relationships/slide" Target="/ppt/slides/slide16.xml" Id="R909bc014d7dd40c9" /><Relationship Type="http://schemas.openxmlformats.org/officeDocument/2006/relationships/slide" Target="/ppt/slides/slide17.xml" Id="R225883c1036c4db2" /><Relationship Type="http://schemas.openxmlformats.org/officeDocument/2006/relationships/slide" Target="/ppt/slides/slide18.xml" Id="Rdd9d0fd0d9094e54" /><Relationship Type="http://schemas.openxmlformats.org/officeDocument/2006/relationships/slide" Target="/ppt/slides/slide19.xml" Id="Rf32990b62774470d" /><Relationship Type="http://schemas.openxmlformats.org/officeDocument/2006/relationships/slide" Target="/ppt/slides/slide20.xml" Id="R8d68f359cfe44ee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9b8660c8da94f8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b78a1ea88e84182" /><Relationship Type="http://schemas.openxmlformats.org/officeDocument/2006/relationships/notesMaster" Target="/ppt/notesMasters/notesMaster1.xml" Id="Ra6f6cd99db934dc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cbfcdcbcb764de8" /><Relationship Type="http://schemas.openxmlformats.org/officeDocument/2006/relationships/notesMaster" Target="/ppt/notesMasters/notesMaster1.xml" Id="R22f9d16d5447416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3512f96dbb447c9" /><Relationship Type="http://schemas.openxmlformats.org/officeDocument/2006/relationships/notesMaster" Target="/ppt/notesMasters/notesMaster1.xml" Id="R4cec85d86abf42e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bf739d818194568" /><Relationship Type="http://schemas.openxmlformats.org/officeDocument/2006/relationships/notesMaster" Target="/ppt/notesMasters/notesMaster1.xml" Id="R1044d052923e4c9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6ee7f2a62ec4e7e" /><Relationship Type="http://schemas.openxmlformats.org/officeDocument/2006/relationships/notesMaster" Target="/ppt/notesMasters/notesMaster1.xml" Id="Rd8497dd0642e459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9e9a0b5020a46d2" /><Relationship Type="http://schemas.openxmlformats.org/officeDocument/2006/relationships/notesMaster" Target="/ppt/notesMasters/notesMaster1.xml" Id="R81fc3dfea27a414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a67c332441d4133" /><Relationship Type="http://schemas.openxmlformats.org/officeDocument/2006/relationships/notesMaster" Target="/ppt/notesMasters/notesMaster1.xml" Id="R4c985a6bec19442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7e67d94d3eb4659" /><Relationship Type="http://schemas.openxmlformats.org/officeDocument/2006/relationships/notesMaster" Target="/ppt/notesMasters/notesMaster1.xml" Id="Rdbc697269af5441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d6bc58a0d164d95" /><Relationship Type="http://schemas.openxmlformats.org/officeDocument/2006/relationships/notesMaster" Target="/ppt/notesMasters/notesMaster1.xml" Id="Rf6234c490a2b459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74f81351c72412e" /><Relationship Type="http://schemas.openxmlformats.org/officeDocument/2006/relationships/notesMaster" Target="/ppt/notesMasters/notesMaster1.xml" Id="Rf8a54d885da14dc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5a84bdcf9664a3e" /><Relationship Type="http://schemas.openxmlformats.org/officeDocument/2006/relationships/notesMaster" Target="/ppt/notesMasters/notesMaster1.xml" Id="Rb570f52c35a74c9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c5085752ad14b1c" /><Relationship Type="http://schemas.openxmlformats.org/officeDocument/2006/relationships/notesMaster" Target="/ppt/notesMasters/notesMaster1.xml" Id="R81bdc6f0140f4c2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e20156227af4553" /><Relationship Type="http://schemas.openxmlformats.org/officeDocument/2006/relationships/notesMaster" Target="/ppt/notesMasters/notesMaster1.xml" Id="Ra14596ff896d46d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e92314e0f8a485f" /><Relationship Type="http://schemas.openxmlformats.org/officeDocument/2006/relationships/notesMaster" Target="/ppt/notesMasters/notesMaster1.xml" Id="R6be765094bbd426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e96c6e383604a2a" /><Relationship Type="http://schemas.openxmlformats.org/officeDocument/2006/relationships/notesMaster" Target="/ppt/notesMasters/notesMaster1.xml" Id="Rd966efbe8ea5435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c161ac7c127411b" /><Relationship Type="http://schemas.openxmlformats.org/officeDocument/2006/relationships/notesMaster" Target="/ppt/notesMasters/notesMaster1.xml" Id="R656a6b8eb39d48b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df99ab9ce1948b4" /><Relationship Type="http://schemas.openxmlformats.org/officeDocument/2006/relationships/notesMaster" Target="/ppt/notesMasters/notesMaster1.xml" Id="Ra0d74c6ae2dd41a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85e37820aa84562" /><Relationship Type="http://schemas.openxmlformats.org/officeDocument/2006/relationships/notesMaster" Target="/ppt/notesMasters/notesMaster1.xml" Id="R75904cfa22644b9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986e1ebf42345ce" /><Relationship Type="http://schemas.openxmlformats.org/officeDocument/2006/relationships/notesMaster" Target="/ppt/notesMasters/notesMaster1.xml" Id="Rdfacee2c3d884106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8b5b0bc01364486" /><Relationship Type="http://schemas.openxmlformats.org/officeDocument/2006/relationships/notesMaster" Target="/ppt/notesMasters/notesMaster1.xml" Id="R944674002304477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bdb9ef6baf4de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7b3acf0a38f4fb2" /><Relationship Type="http://schemas.openxmlformats.org/officeDocument/2006/relationships/slideLayout" Target="/ppt/slideLayouts/slideLayout1.xml" Id="Rf08c6d064999442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08c6d064999442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8e03485a4643e9" /><Relationship Type="http://schemas.openxmlformats.org/officeDocument/2006/relationships/image" Target="/ppt/media/image.png" Id="R33750ac98368460e" /><Relationship Type="http://schemas.openxmlformats.org/officeDocument/2006/relationships/notesSlide" Target="/ppt/notesSlides/notesSlide1.xml" Id="R5c07110eccc549a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85f4ed3e9a4586" /><Relationship Type="http://schemas.openxmlformats.org/officeDocument/2006/relationships/image" Target="/ppt/media/image2.png" Id="Rdbbf62267abe44a9" /><Relationship Type="http://schemas.openxmlformats.org/officeDocument/2006/relationships/notesSlide" Target="/ppt/notesSlides/notesSlide2.xml" Id="Rcc8ab6670fb14a5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2fb36c05fc4058" /><Relationship Type="http://schemas.openxmlformats.org/officeDocument/2006/relationships/image" Target="/ppt/media/image3.png" Id="R7bb6164dbb144322" /><Relationship Type="http://schemas.openxmlformats.org/officeDocument/2006/relationships/notesSlide" Target="/ppt/notesSlides/notesSlide3.xml" Id="R440a81439a6c4a8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199f8f0fdc4c21" /><Relationship Type="http://schemas.openxmlformats.org/officeDocument/2006/relationships/notesSlide" Target="/ppt/notesSlides/notesSlide4.xml" Id="Rcad6c541a21a4dd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46738206a347f6" /><Relationship Type="http://schemas.openxmlformats.org/officeDocument/2006/relationships/notesSlide" Target="/ppt/notesSlides/notesSlide5.xml" Id="Rc25ca7034e264be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db6c2ef59142f5" /><Relationship Type="http://schemas.openxmlformats.org/officeDocument/2006/relationships/notesSlide" Target="/ppt/notesSlides/notesSlide6.xml" Id="R8ffeff60bdaa4d8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0bcd52f7c84667" /><Relationship Type="http://schemas.openxmlformats.org/officeDocument/2006/relationships/notesSlide" Target="/ppt/notesSlides/notesSlide7.xml" Id="Rc9beb88bc9fa491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80fc7b62af49da" /><Relationship Type="http://schemas.openxmlformats.org/officeDocument/2006/relationships/notesSlide" Target="/ppt/notesSlides/notesSlide8.xml" Id="R8fe83ac85c84478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079fe3d16848fe" /><Relationship Type="http://schemas.openxmlformats.org/officeDocument/2006/relationships/notesSlide" Target="/ppt/notesSlides/notesSlide9.xml" Id="Re21263f179b8416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ec994e55bc4adb" /><Relationship Type="http://schemas.openxmlformats.org/officeDocument/2006/relationships/notesSlide" Target="/ppt/notesSlides/notesSlide10.xml" Id="Rf53534d76145427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a19fa9997844fe" /><Relationship Type="http://schemas.openxmlformats.org/officeDocument/2006/relationships/notesSlide" Target="/ppt/notesSlides/notesSlide11.xml" Id="Re1f3b10b4c3a42f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a3fd1a1b7243ad" /><Relationship Type="http://schemas.openxmlformats.org/officeDocument/2006/relationships/notesSlide" Target="/ppt/notesSlides/notesSlide12.xml" Id="Rdce381932b614a8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960edd6ba24c06" /><Relationship Type="http://schemas.openxmlformats.org/officeDocument/2006/relationships/chart" Target="/ppt/slides/charts/chart1.xml" Id="R7bdef9d447ea418f" /><Relationship Type="http://schemas.openxmlformats.org/officeDocument/2006/relationships/notesSlide" Target="/ppt/notesSlides/notesSlide13.xml" Id="R2221be39cd3d424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082604e3694111" /><Relationship Type="http://schemas.openxmlformats.org/officeDocument/2006/relationships/chart" Target="/ppt/slides/charts/chart2.xml" Id="R4d52df8640294cc3" /><Relationship Type="http://schemas.openxmlformats.org/officeDocument/2006/relationships/notesSlide" Target="/ppt/notesSlides/notesSlide14.xml" Id="R026976affdad41f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670d332e1e4fee" /><Relationship Type="http://schemas.openxmlformats.org/officeDocument/2006/relationships/chart" Target="/ppt/slides/charts/chart3.xml" Id="R25a72b018df94fb7" /><Relationship Type="http://schemas.openxmlformats.org/officeDocument/2006/relationships/notesSlide" Target="/ppt/notesSlides/notesSlide15.xml" Id="R27f56a495a644e5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ceb334c9dc40f8" /><Relationship Type="http://schemas.openxmlformats.org/officeDocument/2006/relationships/notesSlide" Target="/ppt/notesSlides/notesSlide16.xml" Id="R3cd41d3319a844e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5a2a4bcc654d4a" /><Relationship Type="http://schemas.openxmlformats.org/officeDocument/2006/relationships/notesSlide" Target="/ppt/notesSlides/notesSlide17.xml" Id="R8e5b1f50550d4ec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c984889be54d3a" /><Relationship Type="http://schemas.openxmlformats.org/officeDocument/2006/relationships/notesSlide" Target="/ppt/notesSlides/notesSlide18.xml" Id="Rc92352fa325b446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dfdce338244893" /><Relationship Type="http://schemas.openxmlformats.org/officeDocument/2006/relationships/notesSlide" Target="/ppt/notesSlides/notesSlide19.xml" Id="Rd30657b97add47a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e77e196627470c" /><Relationship Type="http://schemas.openxmlformats.org/officeDocument/2006/relationships/notesSlide" Target="/ppt/notesSlides/notesSlide20.xml" Id="Rc90c65eb6ec3493e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分钟</c:v>
          </c:tx>
          <c:spPr>
            <a:solidFill xmlns:a="http://schemas.openxmlformats.org/drawingml/2006/main">
              <a:srgbClr val="684C7D"/>
            </a:solidFill>
          </c:spPr>
          <c:cat>
            <c:strLit>
              <c:ptCount val="4"/>
              <c:pt idx="0">
                <c:v>材料整理</c:v>
              </c:pt>
              <c:pt idx="1">
                <c:v>故事组织</c:v>
              </c:pt>
              <c:pt idx="2">
                <c:v>版式制作</c:v>
              </c:pt>
              <c:pt idx="3">
                <c:v>最终质检</c:v>
              </c:pt>
            </c:strLit>
          </c:cat>
          <c:val>
            <c:numLit>
              <c:formatCode>General</c:formatCode>
              <c:ptCount val="4"/>
              <c:pt idx="0">
                <c:v>42</c:v>
              </c:pt>
              <c:pt idx="1">
                <c:v>31</c:v>
              </c:pt>
              <c:pt idx="2">
                <c:v>18</c:v>
              </c:pt>
              <c:pt idx="3">
                <c:v>14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211A26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6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D0DB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E6872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8F6F8"/>
        </a:solidFill>
      </c:spPr>
    </c:plotArea>
    <c:plotVisOnly val="1"/>
  </c:chart>
  <c:spPr>
    <a:solidFill xmlns:a="http://schemas.openxmlformats.org/drawingml/2006/main">
      <a:srgbClr val="F8F6F8"/>
    </a:solidFill>
  </c:spPr>
</c:chartSpace>
</file>

<file path=ppt/slides/charts/chart2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完成度</c:v>
          </c:tx>
          <c:spPr>
            <a:ln xmlns:a="http://schemas.openxmlformats.org/drawingml/2006/main" w="38100">
              <a:solidFill>
                <a:srgbClr val="684C7D"/>
              </a:solidFill>
              <a:prstDash val="solid"/>
            </a:ln>
          </c:spPr>
          <c:marker>
            <c:symbol val="circle"/>
            <c:size val="8"/>
          </c:marker>
          <c:cat>
            <c:strLit>
              <c:ptCount val="5"/>
              <c:pt idx="0">
                <c:v>第1次</c:v>
              </c:pt>
              <c:pt idx="1">
                <c:v>第2次</c:v>
              </c:pt>
              <c:pt idx="2">
                <c:v>第3次</c:v>
              </c:pt>
              <c:pt idx="3">
                <c:v>第4次</c:v>
              </c:pt>
              <c:pt idx="4">
                <c:v>第5次</c:v>
              </c:pt>
            </c:strLit>
          </c:cat>
          <c:val>
            <c:numLit>
              <c:formatCode>0%</c:formatCode>
              <c:ptCount val="5"/>
              <c:pt idx="0">
                <c:v>0.58</c:v>
              </c:pt>
              <c:pt idx="1">
                <c:v>0.66</c:v>
              </c:pt>
              <c:pt idx="2">
                <c:v>0.74</c:v>
              </c:pt>
              <c:pt idx="3">
                <c:v>0.85</c:v>
              </c:pt>
              <c:pt idx="4">
                <c:v>0.92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D0DB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E6872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1"/>
          <c:min val="0.4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D0DB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E6872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8F6F8"/>
        </a:solidFill>
      </c:spPr>
    </c:plotArea>
    <c:plotVisOnly val="1"/>
  </c:chart>
  <c:spPr>
    <a:solidFill xmlns:a="http://schemas.openxmlformats.org/drawingml/2006/main">
      <a:srgbClr val="F8F6F8"/>
    </a:solidFill>
  </c:spPr>
</c:chartSpace>
</file>

<file path=ppt/slides/charts/chart3.xml><?xml version="1.0" encoding="utf-8"?>
<c:chartSpace xmlns:c="http://schemas.openxmlformats.org/drawingml/2006/chart">
  <c:lang val="en-US"/>
  <c:chart>
    <c:plotArea>
      <c:doughnutChart>
        <c:ser>
          <c:idx val="0"/>
          <c:order val="0"/>
          <c:tx>
            <c:v>投入</c:v>
          </c:tx>
          <c:dPt>
            <c:idx val="0"/>
            <c:spPr>
              <a:solidFill xmlns:a="http://schemas.openxmlformats.org/drawingml/2006/main">
                <a:srgbClr val="392846"/>
              </a:solidFill>
            </c:spPr>
          </c:dPt>
          <c:dPt>
            <c:idx val="1"/>
            <c:spPr>
              <a:solidFill xmlns:a="http://schemas.openxmlformats.org/drawingml/2006/main">
                <a:srgbClr val="684C7D"/>
              </a:solidFill>
            </c:spPr>
          </c:dPt>
          <c:dPt>
            <c:idx val="2"/>
            <c:spPr>
              <a:solidFill xmlns:a="http://schemas.openxmlformats.org/drawingml/2006/main">
                <a:srgbClr val="C9BFD0"/>
              </a:solidFill>
            </c:spPr>
          </c:dPt>
          <c:dPt>
            <c:idx val="3"/>
            <c:spPr>
              <a:solidFill xmlns:a="http://schemas.openxmlformats.org/drawingml/2006/main">
                <a:srgbClr val="C99A4A"/>
              </a:solidFill>
            </c:spPr>
          </c:dPt>
          <c:cat>
            <c:strLit>
              <c:ptCount val="4"/>
              <c:pt idx="0">
                <c:v>结构</c:v>
              </c:pt>
              <c:pt idx="1">
                <c:v>证据</c:v>
              </c:pt>
              <c:pt idx="2">
                <c:v>视觉</c:v>
              </c:pt>
              <c:pt idx="3">
                <c:v>装饰</c:v>
              </c:pt>
            </c:strLit>
          </c:cat>
          <c:val>
            <c:numLit>
              <c:formatCode>General</c:formatCode>
              <c:ptCount val="4"/>
              <c:pt idx="0">
                <c:v>35</c:v>
              </c:pt>
              <c:pt idx="1">
                <c:v>30</c:v>
              </c:pt>
              <c:pt idx="2">
                <c:v>25</c:v>
              </c:pt>
              <c:pt idx="3">
                <c:v>10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211A26"/>
                  </a:solidFill>
                </a:defRPr>
              </a:pPr>
            </a:p>
          </c:txPr>
          <c:dLblPos val="outEnd"/>
          <c:showLegendKey val="0"/>
          <c:showVal val="0"/>
          <c:showCatName val="0"/>
          <c:showSerName val="0"/>
          <c:showPercent val="1"/>
          <c:showBubbleSize val="0"/>
          <c:showLeaderLines val="0"/>
        </c:dLbls>
        <c:firstSliceAng val="270"/>
        <c:holeSize val="62"/>
      </c:doughnutChart>
      <c:spPr>
        <a:solidFill xmlns:a="http://schemas.openxmlformats.org/drawingml/2006/main">
          <a:srgbClr val="F8F6F8"/>
        </a:solidFill>
      </c:spPr>
    </c:plotArea>
    <c:plotVisOnly val="1"/>
  </c:chart>
  <c:spPr>
    <a:solidFill xmlns:a="http://schemas.openxmlformats.org/drawingml/2006/main">
      <a:srgbClr val="F8F6F8"/>
    </a:solidFill>
  </c:spPr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750ac98368460e"/>
          <a:srcRect xmlns:a="http://schemas.openxmlformats.org/drawingml/2006/main" l="18733" t="0" r="1873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0" y="0"/>
            <a:ext cx="7620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BAD672-A34F-4C08-B41B-0079CF9D9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2863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6F8"/>
          </a:solidFill>
          <a:ln xmlns:a="http://schemas.openxmlformats.org/drawingml/2006/main" w="0">
            <a:solidFill>
              <a:srgbClr val="F8F6F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9DDB5C-E69E-4992-ABBE-E371DC880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5143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A4A"/>
          </a:solidFill>
          <a:ln xmlns:a="http://schemas.openxmlformats.org/drawingml/2006/main" w="0">
            <a:solidFill>
              <a:srgbClr val="C99A4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5A469E-244F-40B9-8DBD-5D744EBFA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84C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84C7D"/>
                </a:solidFill>
                <a:latin typeface="Microsoft YaHei"/>
                <a:ea typeface="Microsoft YaHei"/>
                <a:cs typeface="Microsoft YaHei"/>
              </a:rPr>
              <a:t>PREMIUM STORY DECK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51C803-16DA-4BFD-87DA-AFFEE0D3C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40957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3600" b="1">
                <a:solidFill>
                  <a:srgbClr val="211A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211A26"/>
                </a:solidFill>
                <a:latin typeface="Microsoft YaHei"/>
                <a:ea typeface="Microsoft YaHei"/>
                <a:cs typeface="Microsoft YaHei"/>
              </a:rPr>
              <a:t>让复杂内容，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3600" b="1">
                <a:solidFill>
                  <a:srgbClr val="211A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211A26"/>
                </a:solidFill>
                <a:latin typeface="Microsoft YaHei"/>
                <a:ea typeface="Microsoft YaHei"/>
                <a:cs typeface="Microsoft YaHei"/>
              </a:rPr>
              <a:t>变成清晰结论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E4B6DA-A948-4141-B6D1-09024139F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E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E6872"/>
                </a:solidFill>
                <a:latin typeface="Microsoft YaHei"/>
                <a:ea typeface="Microsoft YaHei"/>
                <a:cs typeface="Microsoft YaHei"/>
              </a:rPr>
              <a:t>适合工作汇报 · 项目提案 · 科研分享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B5DB74-7521-4782-B51A-F2C1552BF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DB"/>
          </a:solidFill>
          <a:ln xmlns:a="http://schemas.openxmlformats.org/drawingml/2006/main" w="0">
            <a:solidFill>
              <a:srgbClr val="D8D0D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97297D-B521-410F-A01D-2803B398F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84C7D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684C7D"/>
                </a:solidFill>
                <a:latin typeface="Georgia"/>
                <a:ea typeface="Georgia"/>
                <a:cs typeface="Georgia"/>
              </a:rPr>
              <a:t>12 MIN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6B4468-3990-40F8-AC71-CD6A24100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028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E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E6872"/>
                </a:solidFill>
                <a:latin typeface="Microsoft YaHei"/>
                <a:ea typeface="Microsoft YaHei"/>
                <a:cs typeface="Microsoft YaHei"/>
              </a:rPr>
              <a:t>演讲时长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E5ACDA-C914-4871-81CD-442D0FEC8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59105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99A4A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C99A4A"/>
                </a:solidFill>
                <a:latin typeface="Georgia"/>
                <a:ea typeface="Georgia"/>
                <a:cs typeface="Georgia"/>
              </a:rPr>
              <a:t>1 PATH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46C031-7879-4419-B57F-B9AC210FC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953000"/>
            <a:ext cx="1028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E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E6872"/>
                </a:solidFill>
                <a:latin typeface="Microsoft YaHei"/>
                <a:ea typeface="Microsoft YaHei"/>
                <a:cs typeface="Microsoft YaHei"/>
              </a:rPr>
              <a:t>推荐方向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5D3797-BFF3-4BBB-A21C-498B0F87F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59105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84C7D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684C7D"/>
                </a:solidFill>
                <a:latin typeface="Georgia"/>
                <a:ea typeface="Georgia"/>
                <a:cs typeface="Georgia"/>
              </a:rPr>
              <a:t>100%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33A615-9BE8-4A9C-9EC6-9C07803C4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953000"/>
            <a:ext cx="1028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E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E6872"/>
                </a:solidFill>
                <a:latin typeface="Microsoft YaHei"/>
                <a:ea typeface="Microsoft YaHei"/>
                <a:cs typeface="Microsoft YaHei"/>
              </a:rPr>
              <a:t>可编辑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B27468-FEB9-4895-9FE5-8E9681EC0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E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E6872"/>
                </a:solidFill>
                <a:latin typeface="Microsoft YaHei"/>
                <a:ea typeface="Microsoft YaHei"/>
                <a:cs typeface="Microsoft YaHei"/>
              </a:rPr>
              <a:t>PROJECT BRIEF / 2026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BBD978-576D-47A9-A584-F824C7874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68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99A4A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C99A4A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57032621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bf62267abe44a9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8CC3E3-21A6-4FB9-B81B-AEE4ED872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09600"/>
            <a:ext cx="571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A4A"/>
          </a:solidFill>
          <a:ln xmlns:a="http://schemas.openxmlformats.org/drawingml/2006/main" w="0">
            <a:solidFill>
              <a:srgbClr val="C99A4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B7C2CE-F9AB-40A4-A3F4-93ED0420A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990600"/>
            <a:ext cx="398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C99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99A4A"/>
                </a:solidFill>
                <a:latin typeface="Microsoft YaHei"/>
                <a:ea typeface="Microsoft YaHei"/>
                <a:cs typeface="Microsoft YaHei"/>
              </a:rPr>
              <a:t>SCIENCE / RESEARCH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189BE2-7DC1-48E9-8216-5B8C810FE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581150"/>
            <a:ext cx="44577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90000"/>
              </a:lnSpc>
              <a:buNone/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从问题出发，</a:t>
            </a:r>
          </a:p>
          <a:p xmlns:a="http://schemas.openxmlformats.org/drawingml/2006/main">
            <a:pPr algn="r">
              <a:lnSpc>
                <a:spcPct val="90000"/>
              </a:lnSpc>
              <a:buNone/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让证据说话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CC96C7-B9A8-4405-A6EF-9511C469C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219450"/>
            <a:ext cx="3924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E4DC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E4DCE8"/>
                </a:solidFill>
                <a:latin typeface="Microsoft YaHei"/>
                <a:ea typeface="Microsoft YaHei"/>
                <a:cs typeface="Microsoft YaHei"/>
              </a:rPr>
              <a:t>学术报告 · 论文答辩 · 技术分享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D386AB-6F33-4053-A297-18CB53A91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531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C99A4A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C99A4A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6607127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b6164dbb144322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9591DB-99F8-4033-903B-56FD1D98E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78105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4C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84C7D"/>
                </a:solidFill>
                <a:latin typeface="Microsoft YaHei"/>
                <a:ea typeface="Microsoft YaHei"/>
                <a:cs typeface="Microsoft YaHei"/>
              </a:rPr>
              <a:t>STRATEGY / DECISION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086909-FD86-436F-B2C7-B07EE8228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181100"/>
            <a:ext cx="43243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90000"/>
              </a:lnSpc>
              <a:buNone/>
              <a:defRPr sz="3600" b="1">
                <a:solidFill>
                  <a:srgbClr val="211A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211A26"/>
                </a:solidFill>
                <a:latin typeface="Microsoft YaHei"/>
                <a:ea typeface="Microsoft YaHei"/>
                <a:cs typeface="Microsoft YaHei"/>
              </a:rPr>
              <a:t>把选择，</a:t>
            </a:r>
          </a:p>
          <a:p xmlns:a="http://schemas.openxmlformats.org/drawingml/2006/main">
            <a:pPr algn="r">
              <a:lnSpc>
                <a:spcPct val="90000"/>
              </a:lnSpc>
              <a:buNone/>
              <a:defRPr sz="3600" b="1">
                <a:solidFill>
                  <a:srgbClr val="211A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211A26"/>
                </a:solidFill>
                <a:latin typeface="Microsoft YaHei"/>
                <a:ea typeface="Microsoft YaHei"/>
                <a:cs typeface="Microsoft YaHei"/>
              </a:rPr>
              <a:t>变成行动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4490DC-5428-46D7-A763-FC7A54DA1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686050"/>
            <a:ext cx="1733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A4A"/>
          </a:solidFill>
          <a:ln xmlns:a="http://schemas.openxmlformats.org/drawingml/2006/main" w="0">
            <a:solidFill>
              <a:srgbClr val="C99A4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9D9D6F-239E-4AB4-8B4F-8B3817F09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87655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E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E6872"/>
                </a:solidFill>
                <a:latin typeface="Microsoft YaHei"/>
                <a:ea typeface="Microsoft YaHei"/>
                <a:cs typeface="Microsoft YaHei"/>
              </a:rPr>
              <a:t>年度规划 · 商业方案 · 复盘总结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3BF8B3-CFC5-41D9-BCFA-D4C3B36FA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1722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84C7D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684C7D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13895109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39284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727544-1401-40B2-ACDD-EBDC8AEC7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A4A"/>
          </a:solidFill>
          <a:ln xmlns:a="http://schemas.openxmlformats.org/drawingml/2006/main" w="0">
            <a:solidFill>
              <a:srgbClr val="C99A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E13840-215C-4D06-844C-E18D520CB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76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FEA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EFEAF2"/>
                </a:solidFill>
                <a:latin typeface="Microsoft YaHei"/>
                <a:ea typeface="Microsoft YaHei"/>
                <a:cs typeface="Microsoft YaHei"/>
              </a:rPr>
              <a:t>SECTION DIVIDER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018982-C0DC-4292-85C4-DC5BB29A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E4DC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E4DCE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B2BC73-6D83-47D7-A884-C09AE4274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29527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0" b="1">
                <a:solidFill>
                  <a:srgbClr val="C99A4A"/>
                </a:solidFill>
                <a:latin typeface="Georgia"/>
                <a:ea typeface="Georgia"/>
                <a:cs typeface="Georgia"/>
              </a:defRPr>
            </a:pPr>
            <a:r>
              <a:rPr sz="9900" b="1">
                <a:solidFill>
                  <a:srgbClr val="C99A4A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6F3AD4-4EAD-45D6-88D1-9818711EC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1771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BFD0"/>
          </a:solidFill>
          <a:ln xmlns:a="http://schemas.openxmlformats.org/drawingml/2006/main" w="0">
            <a:solidFill>
              <a:srgbClr val="C9BFD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1D51DE-3082-4578-832C-DB5D3F78B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581150"/>
            <a:ext cx="6381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先确定故事，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再选择版式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55C740-096E-4E0F-82A0-0F15A1CCF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124200"/>
            <a:ext cx="5886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4DC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E4DCE8"/>
                </a:solidFill>
                <a:latin typeface="Microsoft YaHei"/>
                <a:ea typeface="Microsoft YaHei"/>
                <a:cs typeface="Microsoft YaHei"/>
              </a:rPr>
              <a:t>章节页负责切换节奏，不承担解释任务。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6F35FC-4704-43EB-A6E5-085A9DD09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962400"/>
            <a:ext cx="2038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BFD0"/>
          </a:solidFill>
          <a:ln xmlns:a="http://schemas.openxmlformats.org/drawingml/2006/main" w="0">
            <a:solidFill>
              <a:srgbClr val="C9BF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4BB31B-F419-434E-814B-6640CE212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1338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99A4A"/>
                </a:solidFill>
                <a:latin typeface="Georgia"/>
                <a:ea typeface="Georgia"/>
                <a:cs typeface="Georgia"/>
              </a:defRPr>
            </a:pPr>
            <a:r>
              <a:rPr sz="1050" b="1">
                <a:solidFill>
                  <a:srgbClr val="C99A4A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F90EA6-C38C-483A-A7AD-021C3CC01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114800"/>
            <a:ext cx="1562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CONTEXT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0287BA-C32D-4198-914D-386B5A0B5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514850"/>
            <a:ext cx="2038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4DC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E4DCE8"/>
                </a:solidFill>
                <a:latin typeface="Microsoft YaHei"/>
                <a:ea typeface="Microsoft YaHei"/>
                <a:cs typeface="Microsoft YaHei"/>
              </a:rPr>
              <a:t>为什么现在重要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EE7534-56F0-4F17-9531-BF0A2B477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962400"/>
            <a:ext cx="2038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A4A"/>
          </a:solidFill>
          <a:ln xmlns:a="http://schemas.openxmlformats.org/drawingml/2006/main" w="0">
            <a:solidFill>
              <a:srgbClr val="C99A4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0270F9-786B-4B3F-BEF1-9E622BC38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1338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99A4A"/>
                </a:solidFill>
                <a:latin typeface="Georgia"/>
                <a:ea typeface="Georgia"/>
                <a:cs typeface="Georgia"/>
              </a:defRPr>
            </a:pPr>
            <a:r>
              <a:rPr sz="1050" b="1">
                <a:solidFill>
                  <a:srgbClr val="C99A4A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5DC076-B746-481F-8738-29F552764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114800"/>
            <a:ext cx="1562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EVIDENCE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0C72A5-F809-416E-BEA0-77961B73E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514850"/>
            <a:ext cx="2038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4DC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E4DCE8"/>
                </a:solidFill>
                <a:latin typeface="Microsoft YaHei"/>
                <a:ea typeface="Microsoft YaHei"/>
                <a:cs typeface="Microsoft YaHei"/>
              </a:rPr>
              <a:t>哪些事实支持判断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3CA5B0-96FB-47A5-858B-7F83ECDE5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962400"/>
            <a:ext cx="2038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BFD0"/>
          </a:solidFill>
          <a:ln xmlns:a="http://schemas.openxmlformats.org/drawingml/2006/main" w="0">
            <a:solidFill>
              <a:srgbClr val="C9BFD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9F4D9C-C8A1-4261-9392-61D482311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1338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99A4A"/>
                </a:solidFill>
                <a:latin typeface="Georgia"/>
                <a:ea typeface="Georgia"/>
                <a:cs typeface="Georgia"/>
              </a:defRPr>
            </a:pPr>
            <a:r>
              <a:rPr sz="1050" b="1">
                <a:solidFill>
                  <a:srgbClr val="C99A4A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FEE3B8-4A93-41DA-9D01-B3DE7EA71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114800"/>
            <a:ext cx="1562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ACTION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47D279-021A-4448-BE57-C9A7478E2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514850"/>
            <a:ext cx="2038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4DC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E4DCE8"/>
                </a:solidFill>
                <a:latin typeface="Microsoft YaHei"/>
                <a:ea typeface="Microsoft YaHei"/>
                <a:cs typeface="Microsoft YaHei"/>
              </a:rPr>
              <a:t>下一步需要做什么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AB4303-FD38-4E44-BCC6-8BE7692F9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657850"/>
            <a:ext cx="121920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A4A"/>
          </a:solidFill>
          <a:ln xmlns:a="http://schemas.openxmlformats.org/drawingml/2006/main" w="0">
            <a:solidFill>
              <a:srgbClr val="C99A4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21D2E4-D61B-4AFA-AF32-AB19EA378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666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928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92846"/>
                </a:solidFill>
                <a:latin typeface="Microsoft YaHei"/>
                <a:ea typeface="Microsoft YaHei"/>
                <a:cs typeface="Microsoft YaHei"/>
              </a:rPr>
              <a:t>STRUCTURE BEFORE DECORATION</a:t>
            </a:r>
          </a:p>
        </p:txBody>
      </p:sp>
    </p:spTree>
    <p:extLst>
      <p:ext uri="{BB962C8B-B14F-4D97-AF65-F5344CB8AC3E}">
        <p14:creationId xmlns:p14="http://schemas.microsoft.com/office/powerpoint/2010/main" val="128219172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ED9669A-82A8-45E1-B414-65ABD3926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4C7D"/>
          </a:solidFill>
          <a:ln xmlns:a="http://schemas.openxmlformats.org/drawingml/2006/main" w="0">
            <a:solidFill>
              <a:srgbClr val="684C7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739BD7-5DFF-401C-A6A3-D5F427549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76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E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E6872"/>
                </a:solidFill>
                <a:latin typeface="Microsoft YaHei"/>
                <a:ea typeface="Microsoft YaHei"/>
                <a:cs typeface="Microsoft YaHei"/>
              </a:rPr>
              <a:t>AGENDA / CHAPTER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B157AA-816F-47D4-800C-6DB8E9BC6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E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E6872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4F93CE-92AA-4988-B4DD-982595BF8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9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99A4A"/>
                </a:solidFill>
                <a:latin typeface="Microsoft YaHei"/>
                <a:ea typeface="Microsoft YaHei"/>
                <a:cs typeface="Microsoft YaHei"/>
              </a:rPr>
              <a:t>ONE CLEAR PATH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390A82-1DDE-488D-8F94-19A2D23BF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28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150" b="1">
                <a:solidFill>
                  <a:srgbClr val="211A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11A26"/>
                </a:solidFill>
                <a:latin typeface="Microsoft YaHei"/>
                <a:ea typeface="Microsoft YaHei"/>
                <a:cs typeface="Microsoft YaHei"/>
              </a:rPr>
              <a:t>四个章节，回答一个核心问题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E6D0D0-9329-4ED0-AE39-6E139D0DC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E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E6872"/>
                </a:solidFill>
                <a:latin typeface="Microsoft YaHei"/>
                <a:ea typeface="Microsoft YaHei"/>
                <a:cs typeface="Microsoft YaHei"/>
              </a:rPr>
              <a:t>让听众始终知道：现在讲到哪里，下一步为什么重要。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0DF815-32EA-4698-8B05-9835004B3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2476500" cy="3067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D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41F4B1-846E-49C8-8673-53C001E26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2476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4C7D"/>
          </a:solidFill>
          <a:ln xmlns:a="http://schemas.openxmlformats.org/drawingml/2006/main" w="0">
            <a:solidFill>
              <a:srgbClr val="684C7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B96869-37AC-4287-914F-4535FAE0D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86100"/>
            <a:ext cx="876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684C7D"/>
                </a:solidFill>
                <a:latin typeface="Georgia"/>
                <a:ea typeface="Georgia"/>
                <a:cs typeface="Georgia"/>
              </a:defRPr>
            </a:pPr>
            <a:r>
              <a:rPr sz="3450" b="1">
                <a:solidFill>
                  <a:srgbClr val="684C7D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AD4FB0-B8DD-4025-9BEF-69E5A55B4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4810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11A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11A26"/>
                </a:solidFill>
                <a:latin typeface="Microsoft YaHei"/>
                <a:ea typeface="Microsoft YaHei"/>
                <a:cs typeface="Microsoft YaHei"/>
              </a:rPr>
              <a:t>背景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3D40DE-1F0B-41CA-91EE-472C0F830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24350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E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E6872"/>
                </a:solidFill>
                <a:latin typeface="Microsoft YaHei"/>
                <a:ea typeface="Microsoft YaHei"/>
                <a:cs typeface="Microsoft YaHei"/>
              </a:rPr>
              <a:t>为什么现在必须讨论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C1E200-91AF-422A-8512-075997D20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86350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4C7D"/>
          </a:solidFill>
          <a:ln xmlns:a="http://schemas.openxmlformats.org/drawingml/2006/main" w="0">
            <a:solidFill>
              <a:srgbClr val="684C7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0E601A-BA6E-48CF-A3FE-468629002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768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84C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84C7D"/>
                </a:solidFill>
                <a:latin typeface="Microsoft YaHei"/>
                <a:ea typeface="Microsoft YaHei"/>
                <a:cs typeface="Microsoft YaHei"/>
              </a:rPr>
              <a:t>形成共同背景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51985B-BAC0-4B3A-95E4-2849CB486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781300"/>
            <a:ext cx="2476500" cy="3067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6F2"/>
          </a:solidFill>
          <a:ln xmlns:a="http://schemas.openxmlformats.org/drawingml/2006/main" w="9525">
            <a:solidFill>
              <a:srgbClr val="D8D0D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31898F-48AA-45E1-80EE-92D497583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781300"/>
            <a:ext cx="2476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A4A"/>
          </a:solidFill>
          <a:ln xmlns:a="http://schemas.openxmlformats.org/drawingml/2006/main" w="0">
            <a:solidFill>
              <a:srgbClr val="C99A4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CE341D-ED77-4C74-934B-E7C5EB192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086100"/>
            <a:ext cx="876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C99A4A"/>
                </a:solidFill>
                <a:latin typeface="Georgia"/>
                <a:ea typeface="Georgia"/>
                <a:cs typeface="Georgia"/>
              </a:defRPr>
            </a:pPr>
            <a:r>
              <a:rPr sz="3450" b="1">
                <a:solidFill>
                  <a:srgbClr val="C99A4A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7DA7F6-B119-40E0-B035-D7CA6BA3C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84810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11A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11A26"/>
                </a:solidFill>
                <a:latin typeface="Microsoft YaHei"/>
                <a:ea typeface="Microsoft YaHei"/>
                <a:cs typeface="Microsoft YaHei"/>
              </a:rPr>
              <a:t>洞察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1694F8-4FE3-46D7-B491-3842385AA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324350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E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E6872"/>
                </a:solidFill>
                <a:latin typeface="Microsoft YaHei"/>
                <a:ea typeface="Microsoft YaHei"/>
                <a:cs typeface="Microsoft YaHei"/>
              </a:rPr>
              <a:t>证据揭示了什么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9B9D49-28A1-4D58-9AA9-0AEDC68F8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086350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A4A"/>
          </a:solidFill>
          <a:ln xmlns:a="http://schemas.openxmlformats.org/drawingml/2006/main" w="0">
            <a:solidFill>
              <a:srgbClr val="C99A4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8E3BFD-8E40-4E29-B957-12F0EC471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2768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84C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84C7D"/>
                </a:solidFill>
                <a:latin typeface="Microsoft YaHei"/>
                <a:ea typeface="Microsoft YaHei"/>
                <a:cs typeface="Microsoft YaHei"/>
              </a:rPr>
              <a:t>提炼关键判断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FDEE8A-3CF8-464E-85CB-6A8660F49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81300"/>
            <a:ext cx="2476500" cy="3067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D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A9B8B0-D866-4665-84CF-7E3E887C2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81300"/>
            <a:ext cx="2476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4C7D"/>
          </a:solidFill>
          <a:ln xmlns:a="http://schemas.openxmlformats.org/drawingml/2006/main" w="0">
            <a:solidFill>
              <a:srgbClr val="684C7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D2B6DD-1650-4FB0-8D79-F68DF752A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086100"/>
            <a:ext cx="876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684C7D"/>
                </a:solidFill>
                <a:latin typeface="Georgia"/>
                <a:ea typeface="Georgia"/>
                <a:cs typeface="Georgia"/>
              </a:defRPr>
            </a:pPr>
            <a:r>
              <a:rPr sz="3450" b="1">
                <a:solidFill>
                  <a:srgbClr val="684C7D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34710A-A745-493E-BEAE-77C7C5AA5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84810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11A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11A26"/>
                </a:solidFill>
                <a:latin typeface="Microsoft YaHei"/>
                <a:ea typeface="Microsoft YaHei"/>
                <a:cs typeface="Microsoft YaHei"/>
              </a:rPr>
              <a:t>方案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5E95CB-350B-427B-821F-45AE326C5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324350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E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E6872"/>
                </a:solidFill>
                <a:latin typeface="Microsoft YaHei"/>
                <a:ea typeface="Microsoft YaHei"/>
                <a:cs typeface="Microsoft YaHei"/>
              </a:rPr>
              <a:t>我们准备如何行动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88204F4-79D3-441F-9976-E7FDE89C3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086350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4C7D"/>
          </a:solidFill>
          <a:ln xmlns:a="http://schemas.openxmlformats.org/drawingml/2006/main" w="0">
            <a:solidFill>
              <a:srgbClr val="684C7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F8CFC7C-EE16-441E-8D05-6BE34AD71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2768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84C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84C7D"/>
                </a:solidFill>
                <a:latin typeface="Microsoft YaHei"/>
                <a:ea typeface="Microsoft YaHei"/>
                <a:cs typeface="Microsoft YaHei"/>
              </a:rPr>
              <a:t>明确执行路径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C55F01-1CD0-450A-9402-8B4AF07B9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781300"/>
            <a:ext cx="2476500" cy="3067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D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66F7A8F-4F06-477E-8338-5FC952D94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781300"/>
            <a:ext cx="2476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4C7D"/>
          </a:solidFill>
          <a:ln xmlns:a="http://schemas.openxmlformats.org/drawingml/2006/main" w="0">
            <a:solidFill>
              <a:srgbClr val="684C7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92F0CC5-E378-47CF-A7BD-C181111B0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086100"/>
            <a:ext cx="876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684C7D"/>
                </a:solidFill>
                <a:latin typeface="Georgia"/>
                <a:ea typeface="Georgia"/>
                <a:cs typeface="Georgia"/>
              </a:defRPr>
            </a:pPr>
            <a:r>
              <a:rPr sz="3450" b="1">
                <a:solidFill>
                  <a:srgbClr val="684C7D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F78D615-5704-4C69-913B-D41120923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84810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11A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11A26"/>
                </a:solidFill>
                <a:latin typeface="Microsoft YaHei"/>
                <a:ea typeface="Microsoft YaHei"/>
                <a:cs typeface="Microsoft YaHei"/>
              </a:rPr>
              <a:t>结果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177FA09-0B50-4F2A-A286-2AFC54640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324350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E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E6872"/>
                </a:solidFill>
                <a:latin typeface="Microsoft YaHei"/>
                <a:ea typeface="Microsoft YaHei"/>
                <a:cs typeface="Microsoft YaHei"/>
              </a:rPr>
              <a:t>成功将如何衡量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61C48DA-1E65-486E-A5B5-FE26788DC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086350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4C7D"/>
          </a:solidFill>
          <a:ln xmlns:a="http://schemas.openxmlformats.org/drawingml/2006/main" w="0">
            <a:solidFill>
              <a:srgbClr val="684C7D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2D58F1C-A77C-4EE0-83B3-9FE4B6847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2768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84C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84C7D"/>
                </a:solidFill>
                <a:latin typeface="Microsoft YaHei"/>
                <a:ea typeface="Microsoft YaHei"/>
                <a:cs typeface="Microsoft YaHei"/>
              </a:rPr>
              <a:t>定义衡量标准</a:t>
            </a:r>
          </a:p>
        </p:txBody>
      </p:sp>
    </p:spTree>
    <p:extLst>
      <p:ext uri="{BB962C8B-B14F-4D97-AF65-F5344CB8AC3E}">
        <p14:creationId xmlns:p14="http://schemas.microsoft.com/office/powerpoint/2010/main" val="94982871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923204-66EF-44CC-8C47-DAC9CD6AB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4C7D"/>
          </a:solidFill>
          <a:ln xmlns:a="http://schemas.openxmlformats.org/drawingml/2006/main" w="0">
            <a:solidFill>
              <a:srgbClr val="684C7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76A374-9F42-4698-A0FF-9E6B890E2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76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E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E6872"/>
                </a:solidFill>
                <a:latin typeface="Microsoft YaHei"/>
                <a:ea typeface="Microsoft YaHei"/>
                <a:cs typeface="Microsoft YaHei"/>
              </a:rPr>
              <a:t>OPENING THESIS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CB74FE-ADEC-4D26-9666-B915DBF83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E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E6872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568295-8B45-4C27-BF18-7A14863AF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9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99A4A"/>
                </a:solidFill>
                <a:latin typeface="Microsoft YaHei"/>
                <a:ea typeface="Microsoft YaHei"/>
                <a:cs typeface="Microsoft YaHei"/>
              </a:rPr>
              <a:t>ONE THESIS / THREE PROOFS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3B81E2-B46E-4B56-9A4B-3A112EAF3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65151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3600" b="1">
                <a:solidFill>
                  <a:srgbClr val="211A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211A26"/>
                </a:solidFill>
                <a:latin typeface="Microsoft YaHei"/>
                <a:ea typeface="Microsoft YaHei"/>
                <a:cs typeface="Microsoft YaHei"/>
              </a:rPr>
              <a:t>真正高级的演示，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3600" b="1">
                <a:solidFill>
                  <a:srgbClr val="211A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211A26"/>
                </a:solidFill>
                <a:latin typeface="Microsoft YaHei"/>
                <a:ea typeface="Microsoft YaHei"/>
                <a:cs typeface="Microsoft YaHei"/>
              </a:rPr>
              <a:t>不是信息更多，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3600" b="1">
                <a:solidFill>
                  <a:srgbClr val="211A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211A26"/>
                </a:solidFill>
                <a:latin typeface="Microsoft YaHei"/>
                <a:ea typeface="Microsoft YaHei"/>
                <a:cs typeface="Microsoft YaHei"/>
              </a:rPr>
              <a:t>而是判断更清楚。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08A9E4-4163-4269-99D7-0B4EBDA04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1600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A4A"/>
          </a:solidFill>
          <a:ln xmlns:a="http://schemas.openxmlformats.org/drawingml/2006/main" w="0">
            <a:solidFill>
              <a:srgbClr val="C99A4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FD0DC9-FBCA-4A14-8AE1-DEDAFD500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57600"/>
            <a:ext cx="61150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6E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E6872"/>
                </a:solidFill>
                <a:latin typeface="Microsoft YaHei"/>
                <a:ea typeface="Microsoft YaHei"/>
                <a:cs typeface="Microsoft YaHei"/>
              </a:rPr>
              <a:t>结论先行，证据随后，行动收束。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6E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E6872"/>
                </a:solidFill>
                <a:latin typeface="Microsoft YaHei"/>
                <a:ea typeface="Microsoft YaHei"/>
                <a:cs typeface="Microsoft YaHei"/>
              </a:rPr>
              <a:t>每一页都承担清晰的叙事任务。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E4BE57-40F1-4E21-AD4B-5997B1EB6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65151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F2"/>
          </a:solidFill>
          <a:ln xmlns:a="http://schemas.openxmlformats.org/drawingml/2006/main" w="9525">
            <a:solidFill>
              <a:srgbClr val="D8D0D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6CD5C9-2F20-4168-953E-DFBA0B4B0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101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84C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84C7D"/>
                </a:solidFill>
                <a:latin typeface="Microsoft YaHei"/>
                <a:ea typeface="Microsoft YaHei"/>
                <a:cs typeface="Microsoft YaHei"/>
              </a:rPr>
              <a:t>判断标准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A9239E-EAC9-47C8-A1E1-E7E30E3D9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53050"/>
            <a:ext cx="5829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11A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11A26"/>
                </a:solidFill>
                <a:latin typeface="Microsoft YaHei"/>
                <a:ea typeface="Microsoft YaHei"/>
                <a:cs typeface="Microsoft YaHei"/>
              </a:rPr>
              <a:t>听众能否在 5 秒内复述这一页的结论？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15AA59-39FB-4951-B3F8-D46B8A2E8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990600"/>
            <a:ext cx="3695700" cy="483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2846"/>
          </a:solidFill>
          <a:ln xmlns:a="http://schemas.openxmlformats.org/drawingml/2006/main" w="0">
            <a:solidFill>
              <a:srgbClr val="39284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B3F044-B5FE-485E-B43A-111C08EE6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3525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99A4A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C99A4A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770D5C-C2B3-4711-B733-A505C5E3A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3335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少而关键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D4A36E-D46C-4206-BB31-0F519A152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71450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4DC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E4DCE8"/>
                </a:solidFill>
                <a:latin typeface="Microsoft YaHei"/>
                <a:ea typeface="Microsoft YaHei"/>
                <a:cs typeface="Microsoft YaHei"/>
              </a:rPr>
              <a:t>只保留推动结论的信息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B4822B-6B8E-4D37-AA78-0F3C60806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552700"/>
            <a:ext cx="3086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649A"/>
          </a:solidFill>
          <a:ln xmlns:a="http://schemas.openxmlformats.org/drawingml/2006/main" w="0">
            <a:solidFill>
              <a:srgbClr val="81649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7C12D9-7F1C-4F5B-AE06-88D67C36E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7622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99A4A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C99A4A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EADE2E-658A-4ACA-8273-394DD6AAE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7432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标题有判断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6A073D-2B5A-423C-BACF-1579CBE06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12420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4DC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E4DCE8"/>
                </a:solidFill>
                <a:latin typeface="Microsoft YaHei"/>
                <a:ea typeface="Microsoft YaHei"/>
                <a:cs typeface="Microsoft YaHei"/>
              </a:rPr>
              <a:t>让听众先知道这页意味着什么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D45C2E-421E-4193-9DE6-ECCBC9625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962400"/>
            <a:ext cx="3086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649A"/>
          </a:solidFill>
          <a:ln xmlns:a="http://schemas.openxmlformats.org/drawingml/2006/main" w="0">
            <a:solidFill>
              <a:srgbClr val="81649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711D95-5686-4BAE-90BD-0E122C8D9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1719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99A4A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C99A4A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ADA258-8CF3-4374-BACB-E6BB47454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1529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系统要稳定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A2D922-45B7-4745-8741-1472ED17A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53390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4DC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E4DCE8"/>
                </a:solidFill>
                <a:latin typeface="Microsoft YaHei"/>
                <a:ea typeface="Microsoft YaHei"/>
                <a:cs typeface="Microsoft YaHei"/>
              </a:rPr>
              <a:t>图像、字体和节奏保持一致</a:t>
            </a:r>
          </a:p>
        </p:txBody>
      </p:sp>
    </p:spTree>
    <p:extLst>
      <p:ext uri="{BB962C8B-B14F-4D97-AF65-F5344CB8AC3E}">
        <p14:creationId xmlns:p14="http://schemas.microsoft.com/office/powerpoint/2010/main" val="72166419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48C68E7-2385-4898-ADF7-2C7443DA8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4C7D"/>
          </a:solidFill>
          <a:ln xmlns:a="http://schemas.openxmlformats.org/drawingml/2006/main" w="0">
            <a:solidFill>
              <a:srgbClr val="684C7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E50EAB-086F-4367-A0A7-6C5AA8448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76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E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E6872"/>
                </a:solidFill>
                <a:latin typeface="Microsoft YaHei"/>
                <a:ea typeface="Microsoft YaHei"/>
                <a:cs typeface="Microsoft YaHei"/>
              </a:rPr>
              <a:t>VISUAL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678A47-4074-47E5-B363-534BB39EB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E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E6872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8F00B7-B220-4A88-9C3C-65F6CDFCF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9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99A4A"/>
                </a:solidFill>
                <a:latin typeface="Microsoft YaHei"/>
                <a:ea typeface="Microsoft YaHei"/>
                <a:cs typeface="Microsoft YaHei"/>
              </a:rPr>
              <a:t>IMAGE + CLAIM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F329CA-DF24-4465-AFEA-3FE348501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28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150" b="1">
                <a:solidFill>
                  <a:srgbClr val="211A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11A26"/>
                </a:solidFill>
                <a:latin typeface="Microsoft YaHei"/>
                <a:ea typeface="Microsoft YaHei"/>
                <a:cs typeface="Microsoft YaHei"/>
              </a:rPr>
              <a:t>一张图，只负责证明一个结论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CE3BF7-CC1C-49F4-956E-D3C1F91C9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E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E6872"/>
                </a:solidFill>
                <a:latin typeface="Microsoft YaHei"/>
                <a:ea typeface="Microsoft YaHei"/>
                <a:cs typeface="Microsoft YaHei"/>
              </a:rPr>
              <a:t>用可替换主视觉建立情境，用三条证据完成解释。</a:t>
            </a:r>
          </a:p>
        </p:txBody>
      </p:sp>
      <p:sp>
        <p:nvSpPr>
          <p:cNvPr id="7" name="replaceable-visual-frame">
            <a:extLst xmlns:a="http://schemas.openxmlformats.org/drawingml/2006/main">
              <a:ext uri="{FF2B5EF4-FFF2-40B4-BE49-F238E27FC236}">
                <a16:creationId xmlns:a16="http://schemas.microsoft.com/office/drawing/2014/main" id="{7D797F75-3FE5-412E-82C2-1D3258260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6153150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F2"/>
          </a:solidFill>
          <a:ln xmlns:a="http://schemas.openxmlformats.org/drawingml/2006/main" w="9525">
            <a:solidFill>
              <a:srgbClr val="D8D0D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EEA27C-5D33-4C18-80D0-4A78FFF1C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14650"/>
            <a:ext cx="5695950" cy="241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BFD0"/>
          </a:solidFill>
          <a:ln xmlns:a="http://schemas.openxmlformats.org/drawingml/2006/main" w="0">
            <a:solidFill>
              <a:srgbClr val="C9BF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87387F-8F7F-49EF-9FC3-7C826BA0C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829050"/>
            <a:ext cx="3371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928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92846"/>
                </a:solidFill>
                <a:latin typeface="Microsoft YaHei"/>
                <a:ea typeface="Microsoft YaHei"/>
                <a:cs typeface="Microsoft YaHei"/>
              </a:rPr>
              <a:t>可替换主视觉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8AA7D5-9360-49FD-AFE8-19593138D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34000"/>
            <a:ext cx="56959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2846"/>
          </a:solidFill>
          <a:ln xmlns:a="http://schemas.openxmlformats.org/drawingml/2006/main" w="0">
            <a:solidFill>
              <a:srgbClr val="39284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7498A2-620E-475C-AF33-6C67C9051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429250"/>
            <a:ext cx="5314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FEA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EFEAF2"/>
                </a:solidFill>
                <a:latin typeface="Microsoft YaHei"/>
                <a:ea typeface="Microsoft YaHei"/>
                <a:cs typeface="Microsoft YaHei"/>
              </a:rPr>
              <a:t>CAPTION / SOURCE / KEY OBSERVATION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15E867-D7EC-46D9-A858-AADB9B762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81300"/>
            <a:ext cx="4000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D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2606B3-C05F-482E-8CEA-5E735AF8A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9527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84C7D"/>
                </a:solidFill>
                <a:latin typeface="Georgia"/>
                <a:ea typeface="Georgia"/>
                <a:cs typeface="Georgia"/>
              </a:defRPr>
            </a:pPr>
            <a:r>
              <a:rPr sz="1050" b="1">
                <a:solidFill>
                  <a:srgbClr val="684C7D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195119-8F4A-44A1-857F-62FF7CD6D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146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11A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11A26"/>
                </a:solidFill>
                <a:latin typeface="Microsoft YaHei"/>
                <a:ea typeface="Microsoft YaHei"/>
                <a:cs typeface="Microsoft YaHei"/>
              </a:rPr>
              <a:t>先给结论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2124DF-0563-4180-8C22-39DEE1E50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23850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E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E6872"/>
                </a:solidFill>
                <a:latin typeface="Microsoft YaHei"/>
                <a:ea typeface="Microsoft YaHei"/>
                <a:cs typeface="Microsoft YaHei"/>
              </a:rPr>
              <a:t>标题直接说明这张图意味着什么。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F2098A-BDF2-4C84-8171-2D849068D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810000"/>
            <a:ext cx="4000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2846"/>
          </a:solidFill>
          <a:ln xmlns:a="http://schemas.openxmlformats.org/drawingml/2006/main" w="9525">
            <a:solidFill>
              <a:srgbClr val="39284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450509-39C2-465C-B2CC-0992AF5BF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9814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99A4A"/>
                </a:solidFill>
                <a:latin typeface="Georgia"/>
                <a:ea typeface="Georgia"/>
                <a:cs typeface="Georgia"/>
              </a:defRPr>
            </a:pPr>
            <a:r>
              <a:rPr sz="1050" b="1">
                <a:solidFill>
                  <a:srgbClr val="C99A4A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E986CD-6A7E-42FF-8761-133708DEB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9433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再给证据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4B89D3-0074-4053-A83D-923ECA879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6720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4DC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E4DCE8"/>
                </a:solidFill>
                <a:latin typeface="Microsoft YaHei"/>
                <a:ea typeface="Microsoft YaHei"/>
                <a:cs typeface="Microsoft YaHei"/>
              </a:rPr>
              <a:t>保留数字、事实、来源和必要限定。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B5BA69-AD74-4CB7-969A-F44C01A75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838700"/>
            <a:ext cx="4000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D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B40E3D-20A8-4F2E-9A26-F3CBB637D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0101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84C7D"/>
                </a:solidFill>
                <a:latin typeface="Georgia"/>
                <a:ea typeface="Georgia"/>
                <a:cs typeface="Georgia"/>
              </a:defRPr>
            </a:pPr>
            <a:r>
              <a:rPr sz="1050" b="1">
                <a:solidFill>
                  <a:srgbClr val="684C7D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B42F66-9F15-46CA-BCC0-F49DF8621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9720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11A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11A26"/>
                </a:solidFill>
                <a:latin typeface="Microsoft YaHei"/>
                <a:ea typeface="Microsoft YaHei"/>
                <a:cs typeface="Microsoft YaHei"/>
              </a:rPr>
              <a:t>最后给行动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2F18B2-111E-4FBD-8240-F2D6C2540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29590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E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E6872"/>
                </a:solidFill>
                <a:latin typeface="Microsoft YaHei"/>
                <a:ea typeface="Microsoft YaHei"/>
                <a:cs typeface="Microsoft YaHei"/>
              </a:rPr>
              <a:t>明确下一步、风险或需要作出的决定。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288587-984E-4AFB-B35B-1EFF684BC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9626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84C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84C7D"/>
                </a:solidFill>
                <a:latin typeface="Microsoft YaHei"/>
                <a:ea typeface="Microsoft YaHei"/>
                <a:cs typeface="Microsoft YaHei"/>
              </a:rPr>
              <a:t>一张图 + 一个判断 + 三条解释</a:t>
            </a:r>
          </a:p>
        </p:txBody>
      </p:sp>
    </p:spTree>
    <p:extLst>
      <p:ext uri="{BB962C8B-B14F-4D97-AF65-F5344CB8AC3E}">
        <p14:creationId xmlns:p14="http://schemas.microsoft.com/office/powerpoint/2010/main" val="133867768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D3E4C8-CEF4-4657-B749-388B87D09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4C7D"/>
          </a:solidFill>
          <a:ln xmlns:a="http://schemas.openxmlformats.org/drawingml/2006/main" w="0">
            <a:solidFill>
              <a:srgbClr val="684C7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D1E479-0C12-4A9D-9FCB-2AEA715DF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76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E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E6872"/>
                </a:solidFill>
                <a:latin typeface="Microsoft YaHei"/>
                <a:ea typeface="Microsoft YaHei"/>
                <a:cs typeface="Microsoft YaHei"/>
              </a:rPr>
              <a:t>VISUAL GALLERY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329D75-2FC1-4B34-961A-4B20B2E97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E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E6872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7890E2-56A0-42AB-9832-8AE628B08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9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99A4A"/>
                </a:solidFill>
                <a:latin typeface="Microsoft YaHei"/>
                <a:ea typeface="Microsoft YaHei"/>
                <a:cs typeface="Microsoft YaHei"/>
              </a:rPr>
              <a:t>THREE VIEWS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9B76D6-B4C1-4450-944C-B65436D2C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28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150" b="1">
                <a:solidFill>
                  <a:srgbClr val="211A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11A26"/>
                </a:solidFill>
                <a:latin typeface="Microsoft YaHei"/>
                <a:ea typeface="Microsoft YaHei"/>
                <a:cs typeface="Microsoft YaHei"/>
              </a:rPr>
              <a:t>用三种视角，解释同一个主题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1DCF1E-7C16-41E4-8D79-7363403E9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E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E6872"/>
                </a:solidFill>
                <a:latin typeface="Microsoft YaHei"/>
                <a:ea typeface="Microsoft YaHei"/>
                <a:cs typeface="Microsoft YaHei"/>
              </a:rPr>
              <a:t>适合案例、产品、实验过程和阶段成果。</a:t>
            </a:r>
          </a:p>
        </p:txBody>
      </p:sp>
      <p:sp>
        <p:nvSpPr>
          <p:cNvPr id="7" name="gallery-frame-1">
            <a:extLst xmlns:a="http://schemas.openxmlformats.org/drawingml/2006/main">
              <a:ext uri="{FF2B5EF4-FFF2-40B4-BE49-F238E27FC236}">
                <a16:creationId xmlns:a16="http://schemas.microsoft.com/office/drawing/2014/main" id="{4885BDFC-F4FD-44A7-93FA-D05F79E81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325755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F2"/>
          </a:solidFill>
          <a:ln xmlns:a="http://schemas.openxmlformats.org/drawingml/2006/main" w="9525">
            <a:solidFill>
              <a:srgbClr val="D8D0D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9C1C6C-45F2-46F6-8167-5E3E37F9F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86350"/>
            <a:ext cx="32575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D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890BB1-FE8D-4082-B472-B42583C88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578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99A4A"/>
                </a:solidFill>
                <a:latin typeface="Georgia"/>
                <a:ea typeface="Georgia"/>
                <a:cs typeface="Georgia"/>
              </a:defRPr>
            </a:pPr>
            <a:r>
              <a:rPr sz="1050" b="1">
                <a:solidFill>
                  <a:srgbClr val="C99A4A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C71251-CF98-4F8D-901D-B6B813BD1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2197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11A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11A26"/>
                </a:solidFill>
                <a:latin typeface="Microsoft YaHei"/>
                <a:ea typeface="Microsoft YaHei"/>
                <a:cs typeface="Microsoft YaHei"/>
              </a:rPr>
              <a:t>全景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6C296B-E2EE-446F-825E-02D438C76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435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E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E6872"/>
                </a:solidFill>
                <a:latin typeface="Microsoft YaHei"/>
                <a:ea typeface="Microsoft YaHei"/>
                <a:cs typeface="Microsoft YaHei"/>
              </a:rPr>
              <a:t>建立背景与尺度</a:t>
            </a:r>
          </a:p>
        </p:txBody>
      </p:sp>
      <p:sp>
        <p:nvSpPr>
          <p:cNvPr id="12" name="gallery-frame-2">
            <a:extLst xmlns:a="http://schemas.openxmlformats.org/drawingml/2006/main">
              <a:ext uri="{FF2B5EF4-FFF2-40B4-BE49-F238E27FC236}">
                <a16:creationId xmlns:a16="http://schemas.microsoft.com/office/drawing/2014/main" id="{12B04DE8-5457-4A26-B289-56652B301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686050"/>
            <a:ext cx="325755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BFD0"/>
          </a:solidFill>
          <a:ln xmlns:a="http://schemas.openxmlformats.org/drawingml/2006/main" w="9525">
            <a:solidFill>
              <a:srgbClr val="D8D0D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4743C1-AE14-466A-8098-71A4235D9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086350"/>
            <a:ext cx="32575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2846"/>
          </a:solidFill>
          <a:ln xmlns:a="http://schemas.openxmlformats.org/drawingml/2006/main" w="9525">
            <a:solidFill>
              <a:srgbClr val="D8D0D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407340-23A5-4EFE-A4B8-35BE01FE7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2578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99A4A"/>
                </a:solidFill>
                <a:latin typeface="Georgia"/>
                <a:ea typeface="Georgia"/>
                <a:cs typeface="Georgia"/>
              </a:defRPr>
            </a:pPr>
            <a:r>
              <a:rPr sz="1050" b="1">
                <a:solidFill>
                  <a:srgbClr val="C99A4A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9D479A-32A3-44A6-B5A5-A45B37E22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197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细节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A1DDFF-8866-43B1-8249-B24E7C0CA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5435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4DC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E4DCE8"/>
                </a:solidFill>
                <a:latin typeface="Microsoft YaHei"/>
                <a:ea typeface="Microsoft YaHei"/>
                <a:cs typeface="Microsoft YaHei"/>
              </a:rPr>
              <a:t>突出关键差异</a:t>
            </a:r>
          </a:p>
        </p:txBody>
      </p:sp>
      <p:sp>
        <p:nvSpPr>
          <p:cNvPr id="17" name="gallery-frame-3">
            <a:extLst xmlns:a="http://schemas.openxmlformats.org/drawingml/2006/main">
              <a:ext uri="{FF2B5EF4-FFF2-40B4-BE49-F238E27FC236}">
                <a16:creationId xmlns:a16="http://schemas.microsoft.com/office/drawing/2014/main" id="{A2EF48CD-D4D7-4B8D-A62B-490FB0D5D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686050"/>
            <a:ext cx="325755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F2"/>
          </a:solidFill>
          <a:ln xmlns:a="http://schemas.openxmlformats.org/drawingml/2006/main" w="9525">
            <a:solidFill>
              <a:srgbClr val="D8D0D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4CD3D9-410E-4D0F-92BC-9D88C02F1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086350"/>
            <a:ext cx="32575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D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AAB8AC-7144-44D1-9601-F0A498870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2578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99A4A"/>
                </a:solidFill>
                <a:latin typeface="Georgia"/>
                <a:ea typeface="Georgia"/>
                <a:cs typeface="Georgia"/>
              </a:defRPr>
            </a:pPr>
            <a:r>
              <a:rPr sz="1050" b="1">
                <a:solidFill>
                  <a:srgbClr val="C99A4A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0B7418-605E-4786-B163-AE3006EBD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2197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11A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11A26"/>
                </a:solidFill>
                <a:latin typeface="Microsoft YaHei"/>
                <a:ea typeface="Microsoft YaHei"/>
                <a:cs typeface="Microsoft YaHei"/>
              </a:rPr>
              <a:t>结果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82B801-0D12-4D5A-9D4A-288F93041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5435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E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E6872"/>
                </a:solidFill>
                <a:latin typeface="Microsoft YaHei"/>
                <a:ea typeface="Microsoft YaHei"/>
                <a:cs typeface="Microsoft YaHei"/>
              </a:rPr>
              <a:t>让价值可以被看见</a:t>
            </a:r>
          </a:p>
        </p:txBody>
      </p:sp>
    </p:spTree>
    <p:extLst>
      <p:ext uri="{BB962C8B-B14F-4D97-AF65-F5344CB8AC3E}">
        <p14:creationId xmlns:p14="http://schemas.microsoft.com/office/powerpoint/2010/main" val="191776542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3BE17AD-B18B-45DA-80AD-97697FCBB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4C7D"/>
          </a:solidFill>
          <a:ln xmlns:a="http://schemas.openxmlformats.org/drawingml/2006/main" w="0">
            <a:solidFill>
              <a:srgbClr val="684C7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44515C-2911-4A78-B2A9-532629061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76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E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E6872"/>
                </a:solidFill>
                <a:latin typeface="Microsoft YaHei"/>
                <a:ea typeface="Microsoft YaHei"/>
                <a:cs typeface="Microsoft YaHei"/>
              </a:rPr>
              <a:t>EVIDENCE FRAME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2B2D1C-5705-4E2B-AD42-DF4B9BB64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E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E6872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9206E9-46FA-4265-84D8-A5D6E6087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9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99A4A"/>
                </a:solidFill>
                <a:latin typeface="Microsoft YaHei"/>
                <a:ea typeface="Microsoft YaHei"/>
                <a:cs typeface="Microsoft YaHei"/>
              </a:rPr>
              <a:t>THREE SIGNALS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A56223-B40D-440C-A041-1E81EFE66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28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150" b="1">
                <a:solidFill>
                  <a:srgbClr val="211A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11A26"/>
                </a:solidFill>
                <a:latin typeface="Microsoft YaHei"/>
                <a:ea typeface="Microsoft YaHei"/>
                <a:cs typeface="Microsoft YaHei"/>
              </a:rPr>
              <a:t>三个证据，共同支持一个判断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C025BE-6DE6-44FB-B847-236B93D12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E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E6872"/>
                </a:solidFill>
                <a:latin typeface="Microsoft YaHei"/>
                <a:ea typeface="Microsoft YaHei"/>
                <a:cs typeface="Microsoft YaHei"/>
              </a:rPr>
              <a:t>横向比较时保持同一尺度，避免把信息堆成卡片墙。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364FB5-C559-4E65-8CB2-B5051D830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3257550" cy="3086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D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E4DF57-294B-471B-971B-6F6CC6714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3257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4C7D"/>
          </a:solidFill>
          <a:ln xmlns:a="http://schemas.openxmlformats.org/drawingml/2006/main" w="0">
            <a:solidFill>
              <a:srgbClr val="684C7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C00973-8A43-4CFF-A051-38BFCD49C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43250"/>
            <a:ext cx="2781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684C7D"/>
                </a:solidFill>
                <a:latin typeface="Georgia"/>
                <a:ea typeface="Georgia"/>
                <a:cs typeface="Georgia"/>
              </a:defRPr>
            </a:pPr>
            <a:r>
              <a:rPr sz="3900" b="1">
                <a:solidFill>
                  <a:srgbClr val="684C7D"/>
                </a:solidFill>
                <a:latin typeface="Georgia"/>
                <a:ea typeface="Georgia"/>
                <a:cs typeface="Georgia"/>
              </a:rPr>
              <a:t>72%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438865-E97D-42F7-9D4B-B0DE729AC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11A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11A26"/>
                </a:solidFill>
                <a:latin typeface="Microsoft YaHei"/>
                <a:ea typeface="Microsoft YaHei"/>
                <a:cs typeface="Microsoft YaHei"/>
              </a:rPr>
              <a:t>需求已经出现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730C59-2F3E-4307-BDD0-4B3FFEE46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10100"/>
            <a:ext cx="2781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E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E6872"/>
                </a:solidFill>
                <a:latin typeface="Microsoft YaHei"/>
                <a:ea typeface="Microsoft YaHei"/>
                <a:cs typeface="Microsoft YaHei"/>
              </a:rPr>
              <a:t>受访者主动提出更快、更简单的流程。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A7461D-EC72-4118-BE01-8A0A46536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29250"/>
            <a:ext cx="495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4C7D"/>
          </a:solidFill>
          <a:ln xmlns:a="http://schemas.openxmlformats.org/drawingml/2006/main" w="0">
            <a:solidFill>
              <a:srgbClr val="684C7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843035-DAEB-4B37-8122-BBF8ACB76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626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E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E6872"/>
                </a:solidFill>
                <a:latin typeface="Microsoft YaHei"/>
                <a:ea typeface="Microsoft YaHei"/>
                <a:cs typeface="Microsoft YaHei"/>
              </a:rPr>
              <a:t>SIGNAL / DEMAND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3C7976-3A7E-4E16-9A56-20CEC752E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781300"/>
            <a:ext cx="3257550" cy="3086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2846"/>
          </a:solidFill>
          <a:ln xmlns:a="http://schemas.openxmlformats.org/drawingml/2006/main" w="9525">
            <a:solidFill>
              <a:srgbClr val="39284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F0B035-4F06-4187-90A9-BCEB30A57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781300"/>
            <a:ext cx="3257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A4A"/>
          </a:solidFill>
          <a:ln xmlns:a="http://schemas.openxmlformats.org/drawingml/2006/main" w="0">
            <a:solidFill>
              <a:srgbClr val="C99A4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D21FB4-1FC2-4256-9D90-AA8529F5E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143250"/>
            <a:ext cx="2781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C99A4A"/>
                </a:solidFill>
                <a:latin typeface="Georgia"/>
                <a:ea typeface="Georgia"/>
                <a:cs typeface="Georgia"/>
              </a:defRPr>
            </a:pPr>
            <a:r>
              <a:rPr sz="3900" b="1">
                <a:solidFill>
                  <a:srgbClr val="C99A4A"/>
                </a:solidFill>
                <a:latin typeface="Georgia"/>
                <a:ea typeface="Georgia"/>
                <a:cs typeface="Georgia"/>
              </a:rPr>
              <a:t>2.4×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78CC54-8713-4FA1-AB19-3712AEEEC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09575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效率可以提升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52BC60-E937-41CC-BEE6-3C70507B6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610100"/>
            <a:ext cx="2781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4DC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E4DCE8"/>
                </a:solidFill>
                <a:latin typeface="Microsoft YaHei"/>
                <a:ea typeface="Microsoft YaHei"/>
                <a:cs typeface="Microsoft YaHei"/>
              </a:rPr>
              <a:t>重复工作被压缩，</a:t>
            </a:r>
          </a:p>
          <a:p xmlns:a="http://schemas.openxmlformats.org/drawingml/2006/main">
            <a:pPr algn="l">
              <a:defRPr sz="1200" b="0">
                <a:solidFill>
                  <a:srgbClr val="E4DC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E4DCE8"/>
                </a:solidFill>
                <a:latin typeface="Microsoft YaHei"/>
                <a:ea typeface="Microsoft YaHei"/>
                <a:cs typeface="Microsoft YaHei"/>
              </a:rPr>
              <a:t>团队把时间留给判断。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B761C2-677E-4FE3-A825-5BB6BBE2D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429250"/>
            <a:ext cx="495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A4A"/>
          </a:solidFill>
          <a:ln xmlns:a="http://schemas.openxmlformats.org/drawingml/2006/main" w="0">
            <a:solidFill>
              <a:srgbClr val="C99A4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E278FE-05F7-4053-84DF-4C0F32BCD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5626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DC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E4DCE8"/>
                </a:solidFill>
                <a:latin typeface="Microsoft YaHei"/>
                <a:ea typeface="Microsoft YaHei"/>
                <a:cs typeface="Microsoft YaHei"/>
              </a:rPr>
              <a:t>SIGNAL / SPEED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58DB12-DCA9-4586-99E0-85C00B25F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81300"/>
            <a:ext cx="3257550" cy="3086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D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9522C0-02B5-4225-B546-32FB14590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81300"/>
            <a:ext cx="3257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4C7D"/>
          </a:solidFill>
          <a:ln xmlns:a="http://schemas.openxmlformats.org/drawingml/2006/main" w="0">
            <a:solidFill>
              <a:srgbClr val="684C7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CF0450-B574-41B7-A3AD-D3F60ECD4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43250"/>
            <a:ext cx="2781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684C7D"/>
                </a:solidFill>
                <a:latin typeface="Georgia"/>
                <a:ea typeface="Georgia"/>
                <a:cs typeface="Georgia"/>
              </a:defRPr>
            </a:pPr>
            <a:r>
              <a:rPr sz="3900" b="1">
                <a:solidFill>
                  <a:srgbClr val="684C7D"/>
                </a:solidFill>
                <a:latin typeface="Georgia"/>
                <a:ea typeface="Georgia"/>
                <a:cs typeface="Georgia"/>
              </a:rPr>
              <a:t>18%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56C3D4-C884-420E-B318-BADCEC138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9575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11A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11A26"/>
                </a:solidFill>
                <a:latin typeface="Microsoft YaHei"/>
                <a:ea typeface="Microsoft YaHei"/>
                <a:cs typeface="Microsoft YaHei"/>
              </a:rPr>
              <a:t>风险仍需管理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788B53D-CB2E-4967-90CA-222A0E6E6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610100"/>
            <a:ext cx="2781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E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E6872"/>
                </a:solidFill>
                <a:latin typeface="Microsoft YaHei"/>
                <a:ea typeface="Microsoft YaHei"/>
                <a:cs typeface="Microsoft YaHei"/>
              </a:rPr>
              <a:t>必须保留人工复核和来源追踪。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659231D-B883-4464-B6E4-D7BC6974A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429250"/>
            <a:ext cx="495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4C7D"/>
          </a:solidFill>
          <a:ln xmlns:a="http://schemas.openxmlformats.org/drawingml/2006/main" w="0">
            <a:solidFill>
              <a:srgbClr val="684C7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16A44A9-551B-40A7-BC71-2C3435F8B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5626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E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E6872"/>
                </a:solidFill>
                <a:latin typeface="Microsoft YaHei"/>
                <a:ea typeface="Microsoft YaHei"/>
                <a:cs typeface="Microsoft YaHei"/>
              </a:rPr>
              <a:t>SIGNAL / CONTROL</a:t>
            </a:r>
          </a:p>
        </p:txBody>
      </p:sp>
    </p:spTree>
    <p:extLst>
      <p:ext uri="{BB962C8B-B14F-4D97-AF65-F5344CB8AC3E}">
        <p14:creationId xmlns:p14="http://schemas.microsoft.com/office/powerpoint/2010/main" val="189110133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39284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2CF17A9-BCA9-4E43-9292-4F22433B2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A4A"/>
          </a:solidFill>
          <a:ln xmlns:a="http://schemas.openxmlformats.org/drawingml/2006/main" w="0">
            <a:solidFill>
              <a:srgbClr val="C99A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FD86DE-91EB-42C9-8CF9-DD402CC89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76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FEA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EFEAF2"/>
                </a:solidFill>
                <a:latin typeface="Microsoft YaHei"/>
                <a:ea typeface="Microsoft YaHei"/>
                <a:cs typeface="Microsoft YaHei"/>
              </a:rPr>
              <a:t>PROCESS / HOW IT WORKS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42BE9E-A2AA-4DCF-B156-EEFD1B84E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E4DC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E4DCE8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4DF535-E26E-4424-83D9-2B97F960A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9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99A4A"/>
                </a:solidFill>
                <a:latin typeface="Microsoft YaHei"/>
                <a:ea typeface="Microsoft YaHei"/>
                <a:cs typeface="Microsoft YaHei"/>
              </a:rPr>
              <a:t>FOUR STEPS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38FDFF-3C5E-4AD1-A739-588F7CA7A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28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从零散材料到可讲述的演示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0842EF-8853-49B0-B8AC-6FCE8CE98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4DC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E4DCE8"/>
                </a:solidFill>
                <a:latin typeface="Microsoft YaHei"/>
                <a:ea typeface="Microsoft YaHei"/>
                <a:cs typeface="Microsoft YaHei"/>
              </a:rPr>
              <a:t>默认自动完成，用户只需提供内容。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7758C8-0EEF-4AB0-B656-556BDC3FF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1082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BFD0"/>
          </a:solidFill>
          <a:ln xmlns:a="http://schemas.openxmlformats.org/drawingml/2006/main" w="0">
            <a:solidFill>
              <a:srgbClr val="C9BFD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8091D9-ECD6-4FFC-9229-B8C0AA10A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1649A"/>
          </a:solidFill>
          <a:ln xmlns:a="http://schemas.openxmlformats.org/drawingml/2006/main" w="0">
            <a:solidFill>
              <a:srgbClr val="81649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77F4F6-B45C-429F-B4E4-DF12B4E5E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3852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26AE88-967C-4F13-8E1A-B5CEBA8E1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诊断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CCCC4B-816A-4D91-83E8-3E47877AC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2133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4DC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E4DCE8"/>
                </a:solidFill>
                <a:latin typeface="Microsoft YaHei"/>
                <a:ea typeface="Microsoft YaHei"/>
                <a:cs typeface="Microsoft YaHei"/>
              </a:rPr>
              <a:t>识别受众与目标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5E25F9-1A3D-4E03-8A3B-30C5B052D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2385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1649A"/>
          </a:solidFill>
          <a:ln xmlns:a="http://schemas.openxmlformats.org/drawingml/2006/main" w="0">
            <a:solidFill>
              <a:srgbClr val="81649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4F3142-E471-4AC0-A0A2-DFDB3A02B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43852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E84E55-CECF-44EF-BF00-D3D53739F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1910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组织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CF781B-CFC4-4EB4-9C2E-F4E742F39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667250"/>
            <a:ext cx="2133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4DC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E4DCE8"/>
                </a:solidFill>
                <a:latin typeface="Microsoft YaHei"/>
                <a:ea typeface="Microsoft YaHei"/>
                <a:cs typeface="Microsoft YaHei"/>
              </a:rPr>
              <a:t>形成故事线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023807-9C0A-4CCC-9282-18D4C96AC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385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9A4A"/>
          </a:solidFill>
          <a:ln xmlns:a="http://schemas.openxmlformats.org/drawingml/2006/main" w="0">
            <a:solidFill>
              <a:srgbClr val="C99A4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37EA97-3E33-41FE-8A54-3D3F078BC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3852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92846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392846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24540A-6AE3-4086-8297-97BAB4C15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1910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匹配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9BBC7E-8F80-4DC5-91DC-F63285278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67250"/>
            <a:ext cx="2133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4DC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E4DCE8"/>
                </a:solidFill>
                <a:latin typeface="Microsoft YaHei"/>
                <a:ea typeface="Microsoft YaHei"/>
                <a:cs typeface="Microsoft YaHei"/>
              </a:rPr>
              <a:t>选择最佳版式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B13B6F-93E6-444E-ADD2-CC79899BE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2385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1649A"/>
          </a:solidFill>
          <a:ln xmlns:a="http://schemas.openxmlformats.org/drawingml/2006/main" w="0">
            <a:solidFill>
              <a:srgbClr val="81649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4DB8D7-BF0E-4923-8D4F-D45D4B95C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43852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69818B-ED90-4E0F-977C-6409B8FB1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1910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质检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4E6FAB-2CDA-43F1-B659-E193FEBC7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667250"/>
            <a:ext cx="2133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4DC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E4DCE8"/>
                </a:solidFill>
                <a:latin typeface="Microsoft YaHei"/>
                <a:ea typeface="Microsoft YaHei"/>
                <a:cs typeface="Microsoft YaHei"/>
              </a:rPr>
              <a:t>渲染并修正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489BE5-DBF8-4155-A33D-99115AF71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562600"/>
            <a:ext cx="121920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3658"/>
          </a:solidFill>
          <a:ln xmlns:a="http://schemas.openxmlformats.org/drawingml/2006/main" w="0">
            <a:solidFill>
              <a:srgbClr val="49365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EC3284-703D-4CB0-9287-01A93636F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99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99A4A"/>
                </a:solidFill>
                <a:latin typeface="Microsoft YaHei"/>
                <a:ea typeface="Microsoft YaHei"/>
                <a:cs typeface="Microsoft YaHei"/>
              </a:rPr>
              <a:t>INPUT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23B1DE2-C37D-4A2C-A0B3-DF8F74FF6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原始材料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C437395-FA9F-4919-872B-B746CABA0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5829300"/>
            <a:ext cx="95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649A"/>
          </a:solidFill>
          <a:ln xmlns:a="http://schemas.openxmlformats.org/drawingml/2006/main" w="0">
            <a:solidFill>
              <a:srgbClr val="81649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DD04F1D-87ED-44CB-ACB2-43F4D41A8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8293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99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99A4A"/>
                </a:solidFill>
                <a:latin typeface="Microsoft YaHei"/>
                <a:ea typeface="Microsoft YaHei"/>
                <a:cs typeface="Microsoft YaHei"/>
              </a:rPr>
              <a:t>MAP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6AC8941-E493-4AC0-902E-3DC44D64B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61150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故事结构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C125187-9755-4AE8-A07F-424E047CF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829300"/>
            <a:ext cx="95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649A"/>
          </a:solidFill>
          <a:ln xmlns:a="http://schemas.openxmlformats.org/drawingml/2006/main" w="0">
            <a:solidFill>
              <a:srgbClr val="81649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C877717-72AE-435C-9744-6F3CF159E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8293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99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99A4A"/>
                </a:solidFill>
                <a:latin typeface="Microsoft YaHei"/>
                <a:ea typeface="Microsoft YaHei"/>
                <a:cs typeface="Microsoft YaHei"/>
              </a:rPr>
              <a:t>LAYOUT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6245A7B-E764-4023-BAB6-F6FE7C30C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61150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可编辑页面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037AAEA-9657-4D40-914C-DD9F50E00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829300"/>
            <a:ext cx="95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649A"/>
          </a:solidFill>
          <a:ln xmlns:a="http://schemas.openxmlformats.org/drawingml/2006/main" w="0">
            <a:solidFill>
              <a:srgbClr val="81649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BD2DA57-2C21-436E-B4A6-B06986860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58293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99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99A4A"/>
                </a:solidFill>
                <a:latin typeface="Microsoft YaHei"/>
                <a:ea typeface="Microsoft YaHei"/>
                <a:cs typeface="Microsoft YaHei"/>
              </a:rPr>
              <a:t>QA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67D6323-B5E3-4275-B7BB-8D37AA06F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61150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渲染成品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CE7CBEF-2AFF-4C55-AC78-A2B7F5A01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E4DC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E4DCE8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09706060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EAA307E-00C7-4022-B580-310668655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4C7D"/>
          </a:solidFill>
          <a:ln xmlns:a="http://schemas.openxmlformats.org/drawingml/2006/main" w="0">
            <a:solidFill>
              <a:srgbClr val="684C7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9A9376-A1E1-4E9C-8760-02169BD25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76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E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E6872"/>
                </a:solidFill>
                <a:latin typeface="Microsoft YaHei"/>
                <a:ea typeface="Microsoft YaHei"/>
                <a:cs typeface="Microsoft YaHei"/>
              </a:rPr>
              <a:t>TIMELINE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1815CF-061C-41EE-B48D-37F163F38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E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E6872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33CE33-4FB5-4368-BA8F-C2F778A6B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9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99A4A"/>
                </a:solidFill>
                <a:latin typeface="Microsoft YaHei"/>
                <a:ea typeface="Microsoft YaHei"/>
                <a:cs typeface="Microsoft YaHei"/>
              </a:rPr>
              <a:t>MOMENTUM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7B1765-520B-4125-A5BB-B5B5E7FD1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28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150" b="1">
                <a:solidFill>
                  <a:srgbClr val="211A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11A26"/>
                </a:solidFill>
                <a:latin typeface="Microsoft YaHei"/>
                <a:ea typeface="Microsoft YaHei"/>
                <a:cs typeface="Microsoft YaHei"/>
              </a:rPr>
              <a:t>把时间线写成变化，而不是日期清单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F6A1E9-20CB-4296-9E94-70E1D6B9A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E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E6872"/>
                </a:solidFill>
                <a:latin typeface="Microsoft YaHei"/>
                <a:ea typeface="Microsoft YaHei"/>
                <a:cs typeface="Microsoft YaHei"/>
              </a:rPr>
              <a:t>每个节点只回答：发生了什么，以及它为何改变下一步。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F44533-9DE3-4912-837F-3478AE686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733800"/>
            <a:ext cx="9906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DB"/>
          </a:solidFill>
          <a:ln xmlns:a="http://schemas.openxmlformats.org/drawingml/2006/main" w="0">
            <a:solidFill>
              <a:srgbClr val="D8D0D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BA33F5-A2AD-46C1-B918-4BE5F5213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5528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84C7D"/>
          </a:solidFill>
          <a:ln xmlns:a="http://schemas.openxmlformats.org/drawingml/2006/main" w="0">
            <a:solidFill>
              <a:srgbClr val="684C7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E452D6-69E3-4E7B-96BA-816705747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9900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84C7D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684C7D"/>
                </a:solidFill>
                <a:latin typeface="Georgia"/>
                <a:ea typeface="Georgia"/>
                <a:cs typeface="Georgia"/>
              </a:rPr>
              <a:t>2022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370746-9937-4034-BA15-3C1D6FD7B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11A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11A26"/>
                </a:solidFill>
                <a:latin typeface="Microsoft YaHei"/>
                <a:ea typeface="Microsoft YaHei"/>
                <a:cs typeface="Microsoft YaHei"/>
              </a:rPr>
              <a:t>验证问题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C59AC9-BF6F-4B8D-B93C-37F81E7F6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629150"/>
            <a:ext cx="1600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E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E6872"/>
                </a:solidFill>
                <a:latin typeface="Microsoft YaHei"/>
                <a:ea typeface="Microsoft YaHei"/>
                <a:cs typeface="Microsoft YaHei"/>
              </a:rPr>
              <a:t>一个可验证的阶段结果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73EFE6-4E74-4199-BE05-1A1530EB4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5528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84C7D"/>
          </a:solidFill>
          <a:ln xmlns:a="http://schemas.openxmlformats.org/drawingml/2006/main" w="0">
            <a:solidFill>
              <a:srgbClr val="684C7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D7C931-1DB6-4D0B-8B0F-4DCA393F7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009900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84C7D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684C7D"/>
                </a:solidFill>
                <a:latin typeface="Georgia"/>
                <a:ea typeface="Georgia"/>
                <a:cs typeface="Georgia"/>
              </a:rPr>
              <a:t>2023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533C21-BF90-41CD-9BDB-0BD922EF7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1719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11A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11A26"/>
                </a:solidFill>
                <a:latin typeface="Microsoft YaHei"/>
                <a:ea typeface="Microsoft YaHei"/>
                <a:cs typeface="Microsoft YaHei"/>
              </a:rPr>
              <a:t>形成方法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0B79E2-A779-4217-BAEA-45D8E1B0C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629150"/>
            <a:ext cx="1600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E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E6872"/>
                </a:solidFill>
                <a:latin typeface="Microsoft YaHei"/>
                <a:ea typeface="Microsoft YaHei"/>
                <a:cs typeface="Microsoft YaHei"/>
              </a:rPr>
              <a:t>一个可验证的阶段结果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4F1599-5BF0-442D-ADCC-D533C2210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5528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84C7D"/>
          </a:solidFill>
          <a:ln xmlns:a="http://schemas.openxmlformats.org/drawingml/2006/main" w="0">
            <a:solidFill>
              <a:srgbClr val="684C7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71AFA2-1304-4D1C-ABDF-AD4C47227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009900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84C7D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684C7D"/>
                </a:solidFill>
                <a:latin typeface="Georgia"/>
                <a:ea typeface="Georgia"/>
                <a:cs typeface="Georgia"/>
              </a:rPr>
              <a:t>2024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F05E6D-BF6E-4042-A9D4-0F9847931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1719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11A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11A26"/>
                </a:solidFill>
                <a:latin typeface="Microsoft YaHei"/>
                <a:ea typeface="Microsoft YaHei"/>
                <a:cs typeface="Microsoft YaHei"/>
              </a:rPr>
              <a:t>扩大应用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06BDDF-8374-4CCC-A3A1-82412CDCE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629150"/>
            <a:ext cx="1600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E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E6872"/>
                </a:solidFill>
                <a:latin typeface="Microsoft YaHei"/>
                <a:ea typeface="Microsoft YaHei"/>
                <a:cs typeface="Microsoft YaHei"/>
              </a:rPr>
              <a:t>一个可验证的阶段结果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DF146C-E895-433D-91B4-05653ADEB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5528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9A4A"/>
          </a:solidFill>
          <a:ln xmlns:a="http://schemas.openxmlformats.org/drawingml/2006/main" w="0">
            <a:solidFill>
              <a:srgbClr val="C99A4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905C3B-18D7-427A-AD54-643A48388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09900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C99A4A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C99A4A"/>
                </a:solidFill>
                <a:latin typeface="Georgia"/>
                <a:ea typeface="Georgia"/>
                <a:cs typeface="Georgia"/>
              </a:rPr>
              <a:t>2025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A22E42-A331-4AF4-977F-F65AAB7C2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1719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11A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11A26"/>
                </a:solidFill>
                <a:latin typeface="Microsoft YaHei"/>
                <a:ea typeface="Microsoft YaHei"/>
                <a:cs typeface="Microsoft YaHei"/>
              </a:rPr>
              <a:t>建立标准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9DDFA5D-118A-4A90-A3F4-680FBFB50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629150"/>
            <a:ext cx="1600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E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E6872"/>
                </a:solidFill>
                <a:latin typeface="Microsoft YaHei"/>
                <a:ea typeface="Microsoft YaHei"/>
                <a:cs typeface="Microsoft YaHei"/>
              </a:rPr>
              <a:t>一个可验证的阶段结果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5961EB-F223-4DAF-8D16-40725DB08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35528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84C7D"/>
          </a:solidFill>
          <a:ln xmlns:a="http://schemas.openxmlformats.org/drawingml/2006/main" w="0">
            <a:solidFill>
              <a:srgbClr val="684C7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D5AB047-6429-4262-A3E5-19116CBC0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009900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84C7D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684C7D"/>
                </a:solidFill>
                <a:latin typeface="Georgia"/>
                <a:ea typeface="Georgia"/>
                <a:cs typeface="Georgia"/>
              </a:rPr>
              <a:t>2026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4B752B1-6E23-40D7-80C2-22AB2DD31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41719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11A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11A26"/>
                </a:solidFill>
                <a:latin typeface="Microsoft YaHei"/>
                <a:ea typeface="Microsoft YaHei"/>
                <a:cs typeface="Microsoft YaHei"/>
              </a:rPr>
              <a:t>规模化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F4B4B89-9D77-4C45-8040-D6CA62DAC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629150"/>
            <a:ext cx="1600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E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E6872"/>
                </a:solidFill>
                <a:latin typeface="Microsoft YaHei"/>
                <a:ea typeface="Microsoft YaHei"/>
                <a:cs typeface="Microsoft YaHei"/>
              </a:rPr>
              <a:t>一个可验证的阶段结果</a:t>
            </a:r>
          </a:p>
        </p:txBody>
      </p:sp>
    </p:spTree>
    <p:extLst>
      <p:ext uri="{BB962C8B-B14F-4D97-AF65-F5344CB8AC3E}">
        <p14:creationId xmlns:p14="http://schemas.microsoft.com/office/powerpoint/2010/main" val="130431757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2688E1-8D8F-4C93-B01F-F6F4F5BEE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4C7D"/>
          </a:solidFill>
          <a:ln xmlns:a="http://schemas.openxmlformats.org/drawingml/2006/main" w="0">
            <a:solidFill>
              <a:srgbClr val="684C7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032D37-4FEB-444E-911B-5C84915D7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76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E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E6872"/>
                </a:solidFill>
                <a:latin typeface="Microsoft YaHei"/>
                <a:ea typeface="Microsoft YaHei"/>
                <a:cs typeface="Microsoft YaHei"/>
              </a:rPr>
              <a:t>COMPARISON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3DF7BC-EAF1-49F6-897F-45BACE93A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E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E6872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AD9789-86AE-4C3E-9739-017323CC3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9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99A4A"/>
                </a:solidFill>
                <a:latin typeface="Microsoft YaHei"/>
                <a:ea typeface="Microsoft YaHei"/>
                <a:cs typeface="Microsoft YaHei"/>
              </a:rPr>
              <a:t>BEFORE / AFTER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4FAC8F-2CDC-450C-A8A1-85E40BDDA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28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150" b="1">
                <a:solidFill>
                  <a:srgbClr val="211A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11A26"/>
                </a:solidFill>
                <a:latin typeface="Microsoft YaHei"/>
                <a:ea typeface="Microsoft YaHei"/>
                <a:cs typeface="Microsoft YaHei"/>
              </a:rPr>
              <a:t>对比的重点，是变化带来的意义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00D87E-B736-4DB6-93BC-B5975D47A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E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E6872"/>
                </a:solidFill>
                <a:latin typeface="Microsoft YaHei"/>
                <a:ea typeface="Microsoft YaHei"/>
                <a:cs typeface="Microsoft YaHei"/>
              </a:rPr>
              <a:t>使用同一维度和同一尺度，避免左右两边各说各话。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84D40D-2427-41E5-BA9C-B4BE592EE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4762500" cy="26670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FEAF2"/>
          </a:solidFill>
          <a:ln xmlns:a="http://schemas.openxmlformats.org/drawingml/2006/main" w="0">
            <a:solidFill>
              <a:srgbClr val="EFEA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49FCBB-E713-4E02-AE9A-05E9328EC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857500"/>
            <a:ext cx="4762500" cy="26670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392846"/>
          </a:solidFill>
          <a:ln xmlns:a="http://schemas.openxmlformats.org/drawingml/2006/main" w="0">
            <a:solidFill>
              <a:srgbClr val="39284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112794-9DC4-416B-AE42-C2A7ED226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6230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84C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684C7D"/>
                </a:solidFill>
                <a:latin typeface="Microsoft YaHei"/>
                <a:ea typeface="Microsoft YaHei"/>
                <a:cs typeface="Microsoft YaHei"/>
              </a:rPr>
              <a:t>过去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BFE0B1-805D-4BE9-B0ED-D0E3B512C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29050"/>
            <a:ext cx="3429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6E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E6872"/>
                </a:solidFill>
                <a:latin typeface="Microsoft YaHei"/>
                <a:ea typeface="Microsoft YaHei"/>
                <a:cs typeface="Microsoft YaHei"/>
              </a:rPr>
              <a:t>材料分散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6E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E6872"/>
                </a:solidFill>
                <a:latin typeface="Microsoft YaHei"/>
                <a:ea typeface="Microsoft YaHei"/>
                <a:cs typeface="Microsoft YaHei"/>
              </a:rPr>
              <a:t>结构依赖个人经验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6E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E6872"/>
                </a:solidFill>
                <a:latin typeface="Microsoft YaHei"/>
                <a:ea typeface="Microsoft YaHei"/>
                <a:cs typeface="Microsoft YaHei"/>
              </a:rPr>
              <a:t>修改成本高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0DAFD0-C03E-4956-94AB-5E2F27FA9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16230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99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99A4A"/>
                </a:solidFill>
                <a:latin typeface="Microsoft YaHei"/>
                <a:ea typeface="Microsoft YaHei"/>
                <a:cs typeface="Microsoft YaHei"/>
              </a:rPr>
              <a:t>现在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07B852-24CB-4D43-B1CB-30161BBCA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829050"/>
            <a:ext cx="3429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自动诊断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按任务匹配版式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全套渲染质检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034C46-EECC-4788-895F-EA11911F7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92430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9A4A"/>
          </a:solidFill>
          <a:ln xmlns:a="http://schemas.openxmlformats.org/drawingml/2006/main" w="0">
            <a:solidFill>
              <a:srgbClr val="C99A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C540E8-BAB0-4D4B-9F57-52A4085DE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1955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928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92846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</p:spTree>
    <p:extLst>
      <p:ext uri="{BB962C8B-B14F-4D97-AF65-F5344CB8AC3E}">
        <p14:creationId xmlns:p14="http://schemas.microsoft.com/office/powerpoint/2010/main" val="149266248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30B23E-492F-4241-AA4F-4401397D1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4C7D"/>
          </a:solidFill>
          <a:ln xmlns:a="http://schemas.openxmlformats.org/drawingml/2006/main" w="0">
            <a:solidFill>
              <a:srgbClr val="684C7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4FA666-FF47-4A8B-9694-4A4FFEE2D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76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E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E6872"/>
                </a:solidFill>
                <a:latin typeface="Microsoft YaHei"/>
                <a:ea typeface="Microsoft YaHei"/>
                <a:cs typeface="Microsoft YaHei"/>
              </a:rPr>
              <a:t>DATA / BAR CHART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B9E835-14BD-4B55-B1E5-53C0DEB6F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E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E6872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400C1E-F945-45B7-9C1C-FBF8D7667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9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99A4A"/>
                </a:solidFill>
                <a:latin typeface="Microsoft YaHei"/>
                <a:ea typeface="Microsoft YaHei"/>
                <a:cs typeface="Microsoft YaHei"/>
              </a:rPr>
              <a:t>DECISION METRIC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0616D7-60E0-47F0-A1F7-8436EF6B5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28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150" b="1">
                <a:solidFill>
                  <a:srgbClr val="211A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11A26"/>
                </a:solidFill>
                <a:latin typeface="Microsoft YaHei"/>
                <a:ea typeface="Microsoft YaHei"/>
                <a:cs typeface="Microsoft YaHei"/>
              </a:rPr>
              <a:t>效率提升来自流程简化，而非减少判断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4BA064-F512-4ACE-9683-018B24DA6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E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E6872"/>
                </a:solidFill>
                <a:latin typeface="Microsoft YaHei"/>
                <a:ea typeface="Microsoft YaHei"/>
                <a:cs typeface="Microsoft YaHei"/>
              </a:rPr>
              <a:t>用一个主指标和一张图回答问题。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CA9E34-A1FB-4B8D-A8D3-A8678C437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266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684C7D"/>
                </a:solidFill>
                <a:latin typeface="Georgia"/>
                <a:ea typeface="Georgia"/>
                <a:cs typeface="Georgia"/>
              </a:defRPr>
            </a:pPr>
            <a:r>
              <a:rPr sz="4650" b="1">
                <a:solidFill>
                  <a:srgbClr val="684C7D"/>
                </a:solidFill>
                <a:latin typeface="Georgia"/>
                <a:ea typeface="Georgia"/>
                <a:cs typeface="Georgia"/>
              </a:rPr>
              <a:t>2.4×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91E93D-6B64-4E1A-873C-F97C14B63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11A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11A26"/>
                </a:solidFill>
                <a:latin typeface="Microsoft YaHei"/>
                <a:ea typeface="Microsoft YaHei"/>
                <a:cs typeface="Microsoft YaHei"/>
              </a:rPr>
              <a:t>交付速度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1C2DC2-B114-4B04-AA3C-43550526F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E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E6872"/>
                </a:solidFill>
                <a:latin typeface="Microsoft YaHei"/>
                <a:ea typeface="Microsoft YaHei"/>
                <a:cs typeface="Microsoft YaHei"/>
              </a:rPr>
              <a:t>从整理到初稿的平均时间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3676650" y="2800350"/>
          <a:ext xmlns:a="http://schemas.openxmlformats.org/drawingml/2006/main" cx="7524750" cy="2857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bdef9d447ea418f"/>
          </a:graphicData>
        </a:graphic>
      </p:graphicFrame>
    </p:spTree>
    <p:extLst>
      <p:ext uri="{BB962C8B-B14F-4D97-AF65-F5344CB8AC3E}">
        <p14:creationId xmlns:p14="http://schemas.microsoft.com/office/powerpoint/2010/main" val="96572578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8EC07B-A6F1-48C3-9E07-6219453C3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4C7D"/>
          </a:solidFill>
          <a:ln xmlns:a="http://schemas.openxmlformats.org/drawingml/2006/main" w="0">
            <a:solidFill>
              <a:srgbClr val="684C7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23E58E-E55C-4DBC-9058-4CE3B9673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76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E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E6872"/>
                </a:solidFill>
                <a:latin typeface="Microsoft YaHei"/>
                <a:ea typeface="Microsoft YaHei"/>
                <a:cs typeface="Microsoft YaHei"/>
              </a:rPr>
              <a:t>DATA / TREND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A66512-F158-4A2B-BD42-A6B24A1D5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E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E6872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534500-5C0A-4C14-8E06-E9FD78DF6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9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99A4A"/>
                </a:solidFill>
                <a:latin typeface="Microsoft YaHei"/>
                <a:ea typeface="Microsoft YaHei"/>
                <a:cs typeface="Microsoft YaHei"/>
              </a:rPr>
              <a:t>TREND + MEANING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FFFCDC-CFB3-4F39-9FB0-8F5CDABEC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28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150" b="1">
                <a:solidFill>
                  <a:srgbClr val="211A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11A26"/>
                </a:solidFill>
                <a:latin typeface="Microsoft YaHei"/>
                <a:ea typeface="Microsoft YaHei"/>
                <a:cs typeface="Microsoft YaHei"/>
              </a:rPr>
              <a:t>质量提升发生在每一次复用之后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FD2357-BFB5-47A2-AF4C-CB116BF57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E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E6872"/>
                </a:solidFill>
                <a:latin typeface="Microsoft YaHei"/>
                <a:ea typeface="Microsoft YaHei"/>
                <a:cs typeface="Microsoft YaHei"/>
              </a:rPr>
              <a:t>趋势图负责显示变化，右侧结论负责解释变化。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685800" y="2781300"/>
          <a:ext xmlns:a="http://schemas.openxmlformats.org/drawingml/2006/main" cx="6858000" cy="28765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d52df8640294cc3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DDF139-A460-4FE2-93FB-72D81CD20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990850"/>
            <a:ext cx="3219450" cy="2190750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392846"/>
          </a:solidFill>
          <a:ln xmlns:a="http://schemas.openxmlformats.org/drawingml/2006/main" w="0">
            <a:solidFill>
              <a:srgbClr val="39284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6E99EB-F95D-4BE7-A0F3-E61F81AAF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314700"/>
            <a:ext cx="238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C99A4A"/>
                </a:solidFill>
                <a:latin typeface="Georgia"/>
                <a:ea typeface="Georgia"/>
                <a:cs typeface="Georgia"/>
              </a:defRPr>
            </a:pPr>
            <a:r>
              <a:rPr sz="3450" b="1">
                <a:solidFill>
                  <a:srgbClr val="C99A4A"/>
                </a:solidFill>
                <a:latin typeface="Georgia"/>
                <a:ea typeface="Georgia"/>
                <a:cs typeface="Georgia"/>
              </a:rPr>
              <a:t>+34pt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3E0916-5030-4DAB-8F62-786F596EE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1719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复用带来的质量增益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4E0DFB-52FF-4AD3-90A6-AF6C231D1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629150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4DC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E4DCE8"/>
                </a:solidFill>
                <a:latin typeface="Microsoft YaHei"/>
                <a:ea typeface="Microsoft YaHei"/>
                <a:cs typeface="Microsoft YaHei"/>
              </a:rPr>
              <a:t>把经验写进资源，而不是留在个人记忆里。</a:t>
            </a:r>
          </a:p>
        </p:txBody>
      </p:sp>
    </p:spTree>
    <p:extLst>
      <p:ext uri="{BB962C8B-B14F-4D97-AF65-F5344CB8AC3E}">
        <p14:creationId xmlns:p14="http://schemas.microsoft.com/office/powerpoint/2010/main" val="65176948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8F2A297-7257-40F3-9853-50060A0DB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4C7D"/>
          </a:solidFill>
          <a:ln xmlns:a="http://schemas.openxmlformats.org/drawingml/2006/main" w="0">
            <a:solidFill>
              <a:srgbClr val="684C7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A3399C-9376-4214-8289-948C96121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76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E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E6872"/>
                </a:solidFill>
                <a:latin typeface="Microsoft YaHei"/>
                <a:ea typeface="Microsoft YaHei"/>
                <a:cs typeface="Microsoft YaHei"/>
              </a:rPr>
              <a:t>DATA / COMPOSITION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A43CE9-2B61-4F97-9452-F8BFA8D9B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E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E6872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1BF4FA-1F67-4A25-9543-7CD6A4F48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9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99A4A"/>
                </a:solidFill>
                <a:latin typeface="Microsoft YaHei"/>
                <a:ea typeface="Microsoft YaHei"/>
                <a:cs typeface="Microsoft YaHei"/>
              </a:rPr>
              <a:t>COMPOSITION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33F1FA-2427-4F5B-A0CC-E9B927772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28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150" b="1">
                <a:solidFill>
                  <a:srgbClr val="211A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11A26"/>
                </a:solidFill>
                <a:latin typeface="Microsoft YaHei"/>
                <a:ea typeface="Microsoft YaHei"/>
                <a:cs typeface="Microsoft YaHei"/>
              </a:rPr>
              <a:t>一套好演示，时间应该花在哪里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E90883-F6CE-478C-888C-15EB3FFDE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E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E6872"/>
                </a:solidFill>
                <a:latin typeface="Microsoft YaHei"/>
                <a:ea typeface="Microsoft YaHei"/>
                <a:cs typeface="Microsoft YaHei"/>
              </a:rPr>
              <a:t>结构和证据优先，装饰只负责强化层级。</a:t>
            </a:r>
          </a:p>
        </p:txBody>
      </p:sp>
      <p:graphicFrame>
        <p:nvGraphicFramePr>
          <p:cNvPr id="30" name="Chart"/>
          <p:cNvGraphicFramePr/>
          <p:nvPr/>
        </p:nvGraphicFramePr>
        <p:xfrm>
          <a:off xmlns:a="http://schemas.openxmlformats.org/drawingml/2006/main" x="685800" y="2724150"/>
          <a:ext xmlns:a="http://schemas.openxmlformats.org/drawingml/2006/main" cx="4953000" cy="31051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5a72b018df94fb7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F8F738-CF2D-4284-8FAC-E05B949F9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289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2846"/>
          </a:solidFill>
          <a:ln xmlns:a="http://schemas.openxmlformats.org/drawingml/2006/main" w="0">
            <a:solidFill>
              <a:srgbClr val="39284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1CEEF5-8180-41A3-BC99-26F5EF050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9908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11A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11A26"/>
                </a:solidFill>
                <a:latin typeface="Microsoft YaHei"/>
                <a:ea typeface="Microsoft YaHei"/>
                <a:cs typeface="Microsoft YaHei"/>
              </a:rPr>
              <a:t>结构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D12F9A-D9FA-4077-9D2E-BDA78C2AF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9908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392846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392846"/>
                </a:solidFill>
                <a:latin typeface="Georgia"/>
                <a:ea typeface="Georgia"/>
                <a:cs typeface="Georgia"/>
              </a:rPr>
              <a:t>35%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7A1C1B-82E2-4F15-AC76-C6C791E2F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390900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DB"/>
          </a:solidFill>
          <a:ln xmlns:a="http://schemas.openxmlformats.org/drawingml/2006/main" w="0">
            <a:solidFill>
              <a:srgbClr val="D8D0D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0AE95B-38E9-4FAB-94AB-CDF44CE14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576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84C7D"/>
          </a:solidFill>
          <a:ln xmlns:a="http://schemas.openxmlformats.org/drawingml/2006/main" w="0">
            <a:solidFill>
              <a:srgbClr val="684C7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677754-CFC7-4AD8-B117-6A1FCACEF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6195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11A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11A26"/>
                </a:solidFill>
                <a:latin typeface="Microsoft YaHei"/>
                <a:ea typeface="Microsoft YaHei"/>
                <a:cs typeface="Microsoft YaHei"/>
              </a:rPr>
              <a:t>证据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A30EB7-93C1-453A-92FC-8D5B9A1A3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6195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84C7D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684C7D"/>
                </a:solidFill>
                <a:latin typeface="Georgia"/>
                <a:ea typeface="Georgia"/>
                <a:cs typeface="Georgia"/>
              </a:rPr>
              <a:t>30%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CFB062-5DAE-44C4-A46A-1FFBEABE2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019550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DB"/>
          </a:solidFill>
          <a:ln xmlns:a="http://schemas.openxmlformats.org/drawingml/2006/main" w="0">
            <a:solidFill>
              <a:srgbClr val="D8D0D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72C26A-AF66-4821-81A0-18B5174EC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862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BFD0"/>
          </a:solidFill>
          <a:ln xmlns:a="http://schemas.openxmlformats.org/drawingml/2006/main" w="0">
            <a:solidFill>
              <a:srgbClr val="C9BFD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DA3850-4C30-410D-B250-43632DB1B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2481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11A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11A26"/>
                </a:solidFill>
                <a:latin typeface="Microsoft YaHei"/>
                <a:ea typeface="Microsoft YaHei"/>
                <a:cs typeface="Microsoft YaHei"/>
              </a:rPr>
              <a:t>视觉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7B4391-C079-4D73-85A4-C198D681E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2481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C9BFD0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C9BFD0"/>
                </a:solidFill>
                <a:latin typeface="Georgia"/>
                <a:ea typeface="Georgia"/>
                <a:cs typeface="Georgia"/>
              </a:rPr>
              <a:t>25%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FCD19D-7234-438A-87D3-28E834686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648200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DB"/>
          </a:solidFill>
          <a:ln xmlns:a="http://schemas.openxmlformats.org/drawingml/2006/main" w="0">
            <a:solidFill>
              <a:srgbClr val="D8D0D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4800C0-8AC1-4F6A-8691-520414321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149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9A4A"/>
          </a:solidFill>
          <a:ln xmlns:a="http://schemas.openxmlformats.org/drawingml/2006/main" w="0">
            <a:solidFill>
              <a:srgbClr val="C99A4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0D423F-2A28-4B5C-87BC-238F388A5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768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11A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11A26"/>
                </a:solidFill>
                <a:latin typeface="Microsoft YaHei"/>
                <a:ea typeface="Microsoft YaHei"/>
                <a:cs typeface="Microsoft YaHei"/>
              </a:rPr>
              <a:t>装饰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F73DBE-D173-491F-BA0F-63F504C7D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8768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C99A4A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C99A4A"/>
                </a:solidFill>
                <a:latin typeface="Georgia"/>
                <a:ea typeface="Georgia"/>
                <a:cs typeface="Georgia"/>
              </a:rPr>
              <a:t>10%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6BB440-38CC-4618-8760-6075F6514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276850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DB"/>
          </a:solidFill>
          <a:ln xmlns:a="http://schemas.openxmlformats.org/drawingml/2006/main" w="0">
            <a:solidFill>
              <a:srgbClr val="D8D0D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7227869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39284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692ED7-0402-4095-A24A-790969630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A4A"/>
          </a:solidFill>
          <a:ln xmlns:a="http://schemas.openxmlformats.org/drawingml/2006/main" w="0">
            <a:solidFill>
              <a:srgbClr val="C99A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45D7DD-CD8D-4821-AF0A-62928BE97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76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FEA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EFEAF2"/>
                </a:solidFill>
                <a:latin typeface="Microsoft YaHei"/>
                <a:ea typeface="Microsoft YaHei"/>
                <a:cs typeface="Microsoft YaHei"/>
              </a:rPr>
              <a:t>RESEARCH METHOD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05DD61-868F-4600-BCDE-821336AC9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E4DC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E4DCE8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45F2C5-494C-43F7-BEAA-6E27D7DD2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9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99A4A"/>
                </a:solidFill>
                <a:latin typeface="Microsoft YaHei"/>
                <a:ea typeface="Microsoft YaHei"/>
                <a:cs typeface="Microsoft YaHei"/>
              </a:rPr>
              <a:t>METHOD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C1EC61-1E0C-4431-9806-7C0FD45E3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28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方法页要让过程可复核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6A70F7-519A-40D4-B7E8-E0457083E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4DC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E4DCE8"/>
                </a:solidFill>
                <a:latin typeface="Microsoft YaHei"/>
                <a:ea typeface="Microsoft YaHei"/>
                <a:cs typeface="Microsoft YaHei"/>
              </a:rPr>
              <a:t>用输入、处理、验证、输出四个环节建立可信度。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D8098D-3F97-415C-B949-333679BE3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2305050" cy="2114550"/>
          </a:xfrm>
          <a:prstGeom xmlns:a="http://schemas.openxmlformats.org/drawingml/2006/main" prst="roundRect">
            <a:avLst>
              <a:gd name="adj" fmla="val 7207"/>
            </a:avLst>
          </a:prstGeom>
          <a:solidFill xmlns:a="http://schemas.openxmlformats.org/drawingml/2006/main">
            <a:srgbClr val="81649A"/>
          </a:solidFill>
          <a:ln xmlns:a="http://schemas.openxmlformats.org/drawingml/2006/main" w="0">
            <a:solidFill>
              <a:srgbClr val="81649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CBC5BF-F0AA-4031-86DC-0C8DCFA54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57550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99A4A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C99A4A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284185-E4A5-4BD5-BB00-5C79ACA63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90950"/>
            <a:ext cx="175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35B3CF-DECD-4266-921D-1D5766844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43400"/>
            <a:ext cx="1752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E4DC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E4DCE8"/>
                </a:solidFill>
                <a:latin typeface="Microsoft YaHei"/>
                <a:ea typeface="Microsoft YaHei"/>
                <a:cs typeface="Microsoft YaHei"/>
              </a:rPr>
              <a:t>原始材料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E4DC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E4DCE8"/>
                </a:solidFill>
                <a:latin typeface="Microsoft YaHei"/>
                <a:ea typeface="Microsoft YaHei"/>
                <a:cs typeface="Microsoft YaHei"/>
              </a:rPr>
              <a:t>数据与来源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55E48C-B5B5-497C-BF9F-F556A1AAD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028950"/>
            <a:ext cx="2305050" cy="2114550"/>
          </a:xfrm>
          <a:prstGeom xmlns:a="http://schemas.openxmlformats.org/drawingml/2006/main" prst="roundRect">
            <a:avLst>
              <a:gd name="adj" fmla="val 7207"/>
            </a:avLst>
          </a:prstGeom>
          <a:solidFill xmlns:a="http://schemas.openxmlformats.org/drawingml/2006/main">
            <a:srgbClr val="81649A"/>
          </a:solidFill>
          <a:ln xmlns:a="http://schemas.openxmlformats.org/drawingml/2006/main" w="0">
            <a:solidFill>
              <a:srgbClr val="81649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21C379-0E61-4574-AD1F-D53041F70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257550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99A4A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C99A4A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04C8B6-413F-4913-A948-0A0E206D5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790950"/>
            <a:ext cx="175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处理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CBAFA4-5BA5-4D5B-90C3-ABD7336ED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343400"/>
            <a:ext cx="1752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E4DC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E4DCE8"/>
                </a:solidFill>
                <a:latin typeface="Microsoft YaHei"/>
                <a:ea typeface="Microsoft YaHei"/>
                <a:cs typeface="Microsoft YaHei"/>
              </a:rPr>
              <a:t>归纳主题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E4DC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E4DCE8"/>
                </a:solidFill>
                <a:latin typeface="Microsoft YaHei"/>
                <a:ea typeface="Microsoft YaHei"/>
                <a:cs typeface="Microsoft YaHei"/>
              </a:rPr>
              <a:t>提取证据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C264D0-10F0-48BC-9F67-D8FC41CF8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28950"/>
            <a:ext cx="2305050" cy="2114550"/>
          </a:xfrm>
          <a:prstGeom xmlns:a="http://schemas.openxmlformats.org/drawingml/2006/main" prst="roundRect">
            <a:avLst>
              <a:gd name="adj" fmla="val 7207"/>
            </a:avLst>
          </a:prstGeom>
          <a:solidFill xmlns:a="http://schemas.openxmlformats.org/drawingml/2006/main">
            <a:srgbClr val="C99A4A"/>
          </a:solidFill>
          <a:ln xmlns:a="http://schemas.openxmlformats.org/drawingml/2006/main" w="0">
            <a:solidFill>
              <a:srgbClr val="C99A4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E3A7C0-3FCE-4C80-8EAD-E3DEA1D38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257550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92846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392846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7C1249-11E4-4300-8F72-251771FBF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790950"/>
            <a:ext cx="175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928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92846"/>
                </a:solidFill>
                <a:latin typeface="Microsoft YaHei"/>
                <a:ea typeface="Microsoft YaHei"/>
                <a:cs typeface="Microsoft YaHei"/>
              </a:rPr>
              <a:t>验证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CDAB5E-A7A0-4602-AFEF-19A9A8232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343400"/>
            <a:ext cx="1752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3928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92846"/>
                </a:solidFill>
                <a:latin typeface="Microsoft YaHei"/>
                <a:ea typeface="Microsoft YaHei"/>
                <a:cs typeface="Microsoft YaHei"/>
              </a:rPr>
              <a:t>核对事实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3928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92846"/>
                </a:solidFill>
                <a:latin typeface="Microsoft YaHei"/>
                <a:ea typeface="Microsoft YaHei"/>
                <a:cs typeface="Microsoft YaHei"/>
              </a:rPr>
              <a:t>检查偏差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1DA254-8273-4F4A-B3AA-1787CE66E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028950"/>
            <a:ext cx="2305050" cy="2114550"/>
          </a:xfrm>
          <a:prstGeom xmlns:a="http://schemas.openxmlformats.org/drawingml/2006/main" prst="roundRect">
            <a:avLst>
              <a:gd name="adj" fmla="val 7207"/>
            </a:avLst>
          </a:prstGeom>
          <a:solidFill xmlns:a="http://schemas.openxmlformats.org/drawingml/2006/main">
            <a:srgbClr val="81649A"/>
          </a:solidFill>
          <a:ln xmlns:a="http://schemas.openxmlformats.org/drawingml/2006/main" w="0">
            <a:solidFill>
              <a:srgbClr val="81649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A68E7A-BB29-437D-B65B-9902F36ED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257550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99A4A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C99A4A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2A4F73-946C-4CE7-808F-6595B6363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790950"/>
            <a:ext cx="175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2EA881-84B7-4E8F-8C05-A40B7BAC1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343400"/>
            <a:ext cx="1752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E4DC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E4DCE8"/>
                </a:solidFill>
                <a:latin typeface="Microsoft YaHei"/>
                <a:ea typeface="Microsoft YaHei"/>
                <a:cs typeface="Microsoft YaHei"/>
              </a:rPr>
              <a:t>形成结论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E4DC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E4DCE8"/>
                </a:solidFill>
                <a:latin typeface="Microsoft YaHei"/>
                <a:ea typeface="Microsoft YaHei"/>
                <a:cs typeface="Microsoft YaHei"/>
              </a:rPr>
              <a:t>给出行动</a:t>
            </a:r>
          </a:p>
        </p:txBody>
      </p:sp>
    </p:spTree>
    <p:extLst>
      <p:ext uri="{BB962C8B-B14F-4D97-AF65-F5344CB8AC3E}">
        <p14:creationId xmlns:p14="http://schemas.microsoft.com/office/powerpoint/2010/main" val="68885775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527929-C749-4D50-BA88-3599D4DE3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4C7D"/>
          </a:solidFill>
          <a:ln xmlns:a="http://schemas.openxmlformats.org/drawingml/2006/main" w="0">
            <a:solidFill>
              <a:srgbClr val="684C7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2D8E38-43DE-44B4-A6FC-D59756C09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76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E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E6872"/>
                </a:solidFill>
                <a:latin typeface="Microsoft YaHei"/>
                <a:ea typeface="Microsoft YaHei"/>
                <a:cs typeface="Microsoft YaHei"/>
              </a:rPr>
              <a:t>FINDINGS MATRIX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05D10B-35D7-47DA-8829-B17ECD171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E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E6872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EA9AAE-7ABD-4D85-BAF1-489554774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9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99A4A"/>
                </a:solidFill>
                <a:latin typeface="Microsoft YaHei"/>
                <a:ea typeface="Microsoft YaHei"/>
                <a:cs typeface="Microsoft YaHei"/>
              </a:rPr>
              <a:t>TWO DIMENSIONS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4CA22A-C623-4736-8760-60417B76A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28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150" b="1">
                <a:solidFill>
                  <a:srgbClr val="211A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11A26"/>
                </a:solidFill>
                <a:latin typeface="Microsoft YaHei"/>
                <a:ea typeface="Microsoft YaHei"/>
                <a:cs typeface="Microsoft YaHei"/>
              </a:rPr>
              <a:t>用二维矩阵，把信息转成优先级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466D55-17D1-4FB2-B0A5-DABB2474A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E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E6872"/>
                </a:solidFill>
                <a:latin typeface="Microsoft YaHei"/>
                <a:ea typeface="Microsoft YaHei"/>
                <a:cs typeface="Microsoft YaHei"/>
              </a:rPr>
              <a:t>横轴表示价值，纵轴表示可行性。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07ABE3-1EBD-46BF-9EE1-5FB48A719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857500"/>
            <a:ext cx="56197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D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4927AE-781A-42ED-A535-8EE66B33F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857500"/>
            <a:ext cx="952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DB"/>
          </a:solidFill>
          <a:ln xmlns:a="http://schemas.openxmlformats.org/drawingml/2006/main" w="0">
            <a:solidFill>
              <a:srgbClr val="D8D0D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0A02C7-9C63-4A5E-A888-A8BC160CD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286250"/>
            <a:ext cx="561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DB"/>
          </a:solidFill>
          <a:ln xmlns:a="http://schemas.openxmlformats.org/drawingml/2006/main" w="0">
            <a:solidFill>
              <a:srgbClr val="D8D0D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53B8E2-6A15-45FC-9396-4539EC4BC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1465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E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E6872"/>
                </a:solidFill>
                <a:latin typeface="Microsoft YaHei"/>
                <a:ea typeface="Microsoft YaHei"/>
                <a:cs typeface="Microsoft YaHei"/>
              </a:rPr>
              <a:t>高可行性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8E72DE-7168-444E-968A-EE03F8876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1495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E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E6872"/>
                </a:solidFill>
                <a:latin typeface="Microsoft YaHei"/>
                <a:ea typeface="Microsoft YaHei"/>
                <a:cs typeface="Microsoft YaHei"/>
              </a:rPr>
              <a:t>低可行性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95A370-CCD5-4536-BB8A-C3038A9C8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8483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E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E6872"/>
                </a:solidFill>
                <a:latin typeface="Microsoft YaHei"/>
                <a:ea typeface="Microsoft YaHei"/>
                <a:cs typeface="Microsoft YaHei"/>
              </a:rPr>
              <a:t>低价值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CEFAC7-0B2A-4188-8788-3A3FF5DFD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8483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E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E6872"/>
                </a:solidFill>
                <a:latin typeface="Microsoft YaHei"/>
                <a:ea typeface="Microsoft YaHei"/>
                <a:cs typeface="Microsoft YaHei"/>
              </a:rPr>
              <a:t>高价值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73BA78-ABAD-4DE1-AA16-6DA8C082C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7625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BFD0"/>
          </a:solidFill>
          <a:ln xmlns:a="http://schemas.openxmlformats.org/drawingml/2006/main" w="0">
            <a:solidFill>
              <a:srgbClr val="C9BFD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22835D-08FF-4332-B236-61A44BF58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467100"/>
            <a:ext cx="933450" cy="933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84C7D"/>
          </a:solidFill>
          <a:ln xmlns:a="http://schemas.openxmlformats.org/drawingml/2006/main" w="0">
            <a:solidFill>
              <a:srgbClr val="684C7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832F0E-E41A-437A-941D-82FA3A8F4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162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9A4A"/>
          </a:solidFill>
          <a:ln xmlns:a="http://schemas.openxmlformats.org/drawingml/2006/main" w="0">
            <a:solidFill>
              <a:srgbClr val="C99A4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07B596-B22D-403D-868A-A44EED910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9433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1649A"/>
          </a:solidFill>
          <a:ln xmlns:a="http://schemas.openxmlformats.org/drawingml/2006/main" w="0">
            <a:solidFill>
              <a:srgbClr val="81649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9399F2-AD6A-487B-9F56-97CF3B4B3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6291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2846"/>
          </a:solidFill>
          <a:ln xmlns:a="http://schemas.openxmlformats.org/drawingml/2006/main" w="0">
            <a:solidFill>
              <a:srgbClr val="39284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47F8DE-F4AD-47EE-BF1F-E3605588D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086100"/>
            <a:ext cx="3219450" cy="2305050"/>
          </a:xfrm>
          <a:prstGeom xmlns:a="http://schemas.openxmlformats.org/drawingml/2006/main" prst="roundRect">
            <a:avLst>
              <a:gd name="adj" fmla="val 6612"/>
            </a:avLst>
          </a:prstGeom>
          <a:solidFill xmlns:a="http://schemas.openxmlformats.org/drawingml/2006/main">
            <a:srgbClr val="EFEAF2"/>
          </a:solidFill>
          <a:ln xmlns:a="http://schemas.openxmlformats.org/drawingml/2006/main" w="0">
            <a:solidFill>
              <a:srgbClr val="EFEAF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620C4D-1435-4F38-BF8C-0F8AC075D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3909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84C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684C7D"/>
                </a:solidFill>
                <a:latin typeface="Microsoft YaHei"/>
                <a:ea typeface="Microsoft YaHei"/>
                <a:cs typeface="Microsoft YaHei"/>
              </a:rPr>
              <a:t>优先做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BA1EEB-E2BB-4953-A764-54E10C21B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000500"/>
            <a:ext cx="2381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211A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11A26"/>
                </a:solidFill>
                <a:latin typeface="Microsoft YaHei"/>
                <a:ea typeface="Microsoft YaHei"/>
                <a:cs typeface="Microsoft YaHei"/>
              </a:rPr>
              <a:t>高价值、低阻力的事项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211A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11A26"/>
                </a:solidFill>
                <a:latin typeface="Microsoft YaHei"/>
                <a:ea typeface="Microsoft YaHei"/>
                <a:cs typeface="Microsoft YaHei"/>
              </a:rPr>
              <a:t>立即进入下一轮验证</a:t>
            </a:r>
          </a:p>
        </p:txBody>
      </p:sp>
    </p:spTree>
    <p:extLst>
      <p:ext uri="{BB962C8B-B14F-4D97-AF65-F5344CB8AC3E}">
        <p14:creationId xmlns:p14="http://schemas.microsoft.com/office/powerpoint/2010/main" val="113897231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760FDC8-A815-461A-8BEA-14EAC63EB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4C7D"/>
          </a:solidFill>
          <a:ln xmlns:a="http://schemas.openxmlformats.org/drawingml/2006/main" w="0">
            <a:solidFill>
              <a:srgbClr val="684C7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51EE2E-D555-438A-B20A-01A390E37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76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E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E6872"/>
                </a:solidFill>
                <a:latin typeface="Microsoft YaHei"/>
                <a:ea typeface="Microsoft YaHei"/>
                <a:cs typeface="Microsoft YaHei"/>
              </a:rPr>
              <a:t>RISK MATRIX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D6B659-452A-4D9A-8132-AAA352B04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E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E6872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17E4D3-7DAC-4ADE-BAD5-C0890CFCB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9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99A4A"/>
                </a:solidFill>
                <a:latin typeface="Microsoft YaHei"/>
                <a:ea typeface="Microsoft YaHei"/>
                <a:cs typeface="Microsoft YaHei"/>
              </a:rPr>
              <a:t>RISK + RESPONSE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0FA781-E077-4C37-A690-1CFDB9F0F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28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150" b="1">
                <a:solidFill>
                  <a:srgbClr val="211A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11A26"/>
                </a:solidFill>
                <a:latin typeface="Microsoft YaHei"/>
                <a:ea typeface="Microsoft YaHei"/>
                <a:cs typeface="Microsoft YaHei"/>
              </a:rPr>
              <a:t>风险页必须同时给出应对方式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E22609-BD58-4181-98DA-110C5D3F3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E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E6872"/>
                </a:solidFill>
                <a:latin typeface="Microsoft YaHei"/>
                <a:ea typeface="Microsoft YaHei"/>
                <a:cs typeface="Microsoft YaHei"/>
              </a:rPr>
              <a:t>只标红问题没有价值；明确触发条件、负责人和动作。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BA5E11-4144-4D69-9C15-A0945F858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914900"/>
            <a:ext cx="1123950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FEAF2"/>
          </a:solidFill>
          <a:ln xmlns:a="http://schemas.openxmlformats.org/drawingml/2006/main" w="0">
            <a:solidFill>
              <a:srgbClr val="EFEA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BE5A3F-66B3-438E-9501-34A2001BD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914900"/>
            <a:ext cx="1123950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FEAF2"/>
          </a:solidFill>
          <a:ln xmlns:a="http://schemas.openxmlformats.org/drawingml/2006/main" w="0">
            <a:solidFill>
              <a:srgbClr val="EFEA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27553A-DBE1-477D-9E8C-09C306017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914900"/>
            <a:ext cx="1123950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2EDF4"/>
          </a:solidFill>
          <a:ln xmlns:a="http://schemas.openxmlformats.org/drawingml/2006/main" w="0">
            <a:solidFill>
              <a:srgbClr val="F2EDF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946FFD-7F6F-4DB2-B49C-5B05F5C62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57650"/>
            <a:ext cx="1123950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FEAF2"/>
          </a:solidFill>
          <a:ln xmlns:a="http://schemas.openxmlformats.org/drawingml/2006/main" w="0">
            <a:solidFill>
              <a:srgbClr val="EFEAF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D87CAC-863D-482B-A8A9-E38E5E6E5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057650"/>
            <a:ext cx="1123950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2EDF4"/>
          </a:solidFill>
          <a:ln xmlns:a="http://schemas.openxmlformats.org/drawingml/2006/main" w="0">
            <a:solidFill>
              <a:srgbClr val="F2EDF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53F280-F615-4FF8-81FD-485807DD7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057650"/>
            <a:ext cx="1123950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D9CCE0"/>
          </a:solidFill>
          <a:ln xmlns:a="http://schemas.openxmlformats.org/drawingml/2006/main" w="0">
            <a:solidFill>
              <a:srgbClr val="D9CC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22030C-EF34-42C0-86BF-DDBEB7608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00400"/>
            <a:ext cx="1123950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2EDF4"/>
          </a:solidFill>
          <a:ln xmlns:a="http://schemas.openxmlformats.org/drawingml/2006/main" w="0">
            <a:solidFill>
              <a:srgbClr val="F2EDF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D4FAF3-AE09-4437-B756-D42E24489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200400"/>
            <a:ext cx="1123950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D9CCE0"/>
          </a:solidFill>
          <a:ln xmlns:a="http://schemas.openxmlformats.org/drawingml/2006/main" w="0">
            <a:solidFill>
              <a:srgbClr val="D9CC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050409-2EAF-4D02-A10C-B1A854832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200400"/>
            <a:ext cx="1123950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C99A4A"/>
          </a:solidFill>
          <a:ln xmlns:a="http://schemas.openxmlformats.org/drawingml/2006/main" w="0">
            <a:solidFill>
              <a:srgbClr val="C99A4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28B8CB-A8DD-4917-BB90-9132B6C01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E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E6872"/>
                </a:solidFill>
                <a:latin typeface="Microsoft YaHei"/>
                <a:ea typeface="Microsoft YaHei"/>
                <a:cs typeface="Microsoft YaHei"/>
              </a:rPr>
              <a:t>影响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AB5DE5-9F61-47A2-B16F-415B66C84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905500"/>
            <a:ext cx="3600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E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E6872"/>
                </a:solidFill>
                <a:latin typeface="Microsoft YaHei"/>
                <a:ea typeface="Microsoft YaHei"/>
                <a:cs typeface="Microsoft YaHei"/>
              </a:rPr>
              <a:t>发生概率 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82314A-9BE0-4A75-936E-F8415733E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4290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2846"/>
          </a:solidFill>
          <a:ln xmlns:a="http://schemas.openxmlformats.org/drawingml/2006/main" w="0">
            <a:solidFill>
              <a:srgbClr val="39284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DD6439-7020-481E-9DA0-EF9853678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4956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AFC0F4-B377-4A4F-8B5F-993B233AD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3243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84C7D"/>
          </a:solidFill>
          <a:ln xmlns:a="http://schemas.openxmlformats.org/drawingml/2006/main" w="0">
            <a:solidFill>
              <a:srgbClr val="684C7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E9CB01-5DD5-4520-A5CB-3482B5478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39102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90C06E-5F31-44F7-9BAD-3A5A6F896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51435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84C7D"/>
          </a:solidFill>
          <a:ln xmlns:a="http://schemas.openxmlformats.org/drawingml/2006/main" w="0">
            <a:solidFill>
              <a:srgbClr val="684C7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605533-F654-4E1D-B8A6-8DA319709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52101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A838C6-6A26-4C2C-8E1F-2A8BED377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1146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84C7D"/>
          </a:solidFill>
          <a:ln xmlns:a="http://schemas.openxmlformats.org/drawingml/2006/main" w="0">
            <a:solidFill>
              <a:srgbClr val="684C7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6DF90E-6379-42DA-9B58-CD794C936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1623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D82A426-E2C6-456D-AFBE-B68BD5D91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086100"/>
            <a:ext cx="453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11A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11A26"/>
                </a:solidFill>
                <a:latin typeface="Microsoft YaHei"/>
                <a:ea typeface="Microsoft YaHei"/>
                <a:cs typeface="Microsoft YaHei"/>
              </a:rPr>
              <a:t>事实错误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4229B39-857D-43D9-BE3B-92C92B276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29000"/>
            <a:ext cx="4533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E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E6872"/>
                </a:solidFill>
                <a:latin typeface="Microsoft YaHei"/>
                <a:ea typeface="Microsoft YaHei"/>
                <a:cs typeface="Microsoft YaHei"/>
              </a:rPr>
              <a:t>关键数据逐项复核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107A2FA-B010-4ECB-8369-C3B0D20CC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9719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84C7D"/>
          </a:solidFill>
          <a:ln xmlns:a="http://schemas.openxmlformats.org/drawingml/2006/main" w="0">
            <a:solidFill>
              <a:srgbClr val="684C7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3AAD71C-8F25-4D92-A134-873400AB0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0195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B37D4C5-2750-42D7-B50D-13A2B03B2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43350"/>
            <a:ext cx="453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11A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11A26"/>
                </a:solidFill>
                <a:latin typeface="Microsoft YaHei"/>
                <a:ea typeface="Microsoft YaHei"/>
                <a:cs typeface="Microsoft YaHei"/>
              </a:rPr>
              <a:t>信息泄露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EBAB678-6CE6-4940-9BE2-76FBA46E4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286250"/>
            <a:ext cx="4533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E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E6872"/>
                </a:solidFill>
                <a:latin typeface="Microsoft YaHei"/>
                <a:ea typeface="Microsoft YaHei"/>
                <a:cs typeface="Microsoft YaHei"/>
              </a:rPr>
              <a:t>输入内容分级处理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26C94FC-C8CD-4312-9567-3E48B9F6F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8291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84C7D"/>
          </a:solidFill>
          <a:ln xmlns:a="http://schemas.openxmlformats.org/drawingml/2006/main" w="0">
            <a:solidFill>
              <a:srgbClr val="684C7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5321310-2DD2-48BC-9E49-D97E63B96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8768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2EED917-91E6-4495-B475-9BC36A5D4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800600"/>
            <a:ext cx="453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11A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11A26"/>
                </a:solidFill>
                <a:latin typeface="Microsoft YaHei"/>
                <a:ea typeface="Microsoft YaHei"/>
                <a:cs typeface="Microsoft YaHei"/>
              </a:rPr>
              <a:t>视觉失真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5B421E7-BF4F-4ECF-9D64-9BBCFB275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143500"/>
            <a:ext cx="4533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E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E6872"/>
                </a:solidFill>
                <a:latin typeface="Microsoft YaHei"/>
                <a:ea typeface="Microsoft YaHei"/>
                <a:cs typeface="Microsoft YaHei"/>
              </a:rPr>
              <a:t>全套渲染后再交付</a:t>
            </a:r>
          </a:p>
        </p:txBody>
      </p:sp>
    </p:spTree>
    <p:extLst>
      <p:ext uri="{BB962C8B-B14F-4D97-AF65-F5344CB8AC3E}">
        <p14:creationId xmlns:p14="http://schemas.microsoft.com/office/powerpoint/2010/main" val="81809656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39284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7A4C54-27A8-4BD9-890A-4F4DDB521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A4A"/>
          </a:solidFill>
          <a:ln xmlns:a="http://schemas.openxmlformats.org/drawingml/2006/main" w="0">
            <a:solidFill>
              <a:srgbClr val="C99A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B0DD75-C640-46EF-A492-A4337A280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76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FEA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EFEAF2"/>
                </a:solidFill>
                <a:latin typeface="Microsoft YaHei"/>
                <a:ea typeface="Microsoft YaHei"/>
                <a:cs typeface="Microsoft YaHei"/>
              </a:rPr>
              <a:t>CASE / QUOTE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E6781C-1534-4B91-834C-CFD54C3D1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E4DC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E4DCE8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30B0DC-ED7B-41D8-996D-321E6F4FD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1047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0909"/>
          </a:bodyPr>
          <a:lstStyle xmlns:a="http://schemas.openxmlformats.org/drawingml/2006/main"/>
          <a:p xmlns:a="http://schemas.openxmlformats.org/drawingml/2006/main">
            <a:pPr algn="l">
              <a:defRPr sz="6600" b="1">
                <a:solidFill>
                  <a:srgbClr val="C99A4A"/>
                </a:solidFill>
                <a:latin typeface="Georgia"/>
                <a:ea typeface="Georgia"/>
                <a:cs typeface="Georgia"/>
              </a:defRPr>
            </a:pPr>
            <a:r>
              <a:rPr sz="6600" b="1">
                <a:solidFill>
                  <a:srgbClr val="C99A4A"/>
                </a:solidFill>
                <a:latin typeface="Georgia"/>
                <a:ea typeface="Georgia"/>
                <a:cs typeface="Georgia"/>
              </a:rPr>
              <a:t>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7D5AE6-F5CC-4704-878C-752900518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504950"/>
            <a:ext cx="6096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用户不需要学会设计，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只需要把真实材料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交给系统。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F7D953-06DE-42EB-B4C7-E6E3B1D42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638550"/>
            <a:ext cx="209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BFD0"/>
          </a:solidFill>
          <a:ln xmlns:a="http://schemas.openxmlformats.org/drawingml/2006/main" w="0">
            <a:solidFill>
              <a:srgbClr val="C9BFD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74F47E-BA98-4DA6-8B03-D95EF7DF0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94335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4DC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E4DCE8"/>
                </a:solidFill>
                <a:latin typeface="Microsoft YaHei"/>
                <a:ea typeface="Microsoft YaHei"/>
                <a:cs typeface="Microsoft YaHei"/>
              </a:rPr>
              <a:t>— 资源型 skill 的产品原则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7445D6-FE9A-43F2-97F6-B17B5E80E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066800"/>
            <a:ext cx="3448050" cy="449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3658"/>
          </a:solidFill>
          <a:ln xmlns:a="http://schemas.openxmlformats.org/drawingml/2006/main" w="9525">
            <a:solidFill>
              <a:srgbClr val="81649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43E875-78CE-45BE-A512-6CF0DB42E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466850"/>
            <a:ext cx="1066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C99A4A"/>
                </a:solidFill>
                <a:latin typeface="Georgia"/>
                <a:ea typeface="Georgia"/>
                <a:cs typeface="Georgia"/>
              </a:defRPr>
            </a:pPr>
            <a:r>
              <a:rPr sz="3000" b="1">
                <a:solidFill>
                  <a:srgbClr val="C99A4A"/>
                </a:solidFill>
                <a:latin typeface="Georgia"/>
                <a:ea typeface="Georgia"/>
                <a:cs typeface="Georgia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3B0D78-0BDF-491D-B27A-2171DBFD6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562100"/>
            <a:ext cx="1657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推荐方向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B861CF-3B80-4397-8372-FFB032411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495550"/>
            <a:ext cx="2838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649A"/>
          </a:solidFill>
          <a:ln xmlns:a="http://schemas.openxmlformats.org/drawingml/2006/main" w="0">
            <a:solidFill>
              <a:srgbClr val="81649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7CFAB5-A4F8-41B6-AA8C-F7B9EBBB1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686050"/>
            <a:ext cx="1066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C99A4A"/>
                </a:solidFill>
                <a:latin typeface="Georgia"/>
                <a:ea typeface="Georgia"/>
                <a:cs typeface="Georgia"/>
              </a:defRPr>
            </a:pPr>
            <a:r>
              <a:rPr sz="3000" b="1">
                <a:solidFill>
                  <a:srgbClr val="C99A4A"/>
                </a:solidFill>
                <a:latin typeface="Georgia"/>
                <a:ea typeface="Georgia"/>
                <a:cs typeface="Georgia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ADC30A-6F32-4C62-95E4-D75D8619F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781300"/>
            <a:ext cx="1657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必要问题上限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246EC9-6DAC-4E65-BE4E-222C05757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714750"/>
            <a:ext cx="2838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649A"/>
          </a:solidFill>
          <a:ln xmlns:a="http://schemas.openxmlformats.org/drawingml/2006/main" w="0">
            <a:solidFill>
              <a:srgbClr val="81649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B66838-B246-42F1-83FC-5048E41FB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905250"/>
            <a:ext cx="1066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C99A4A"/>
                </a:solidFill>
                <a:latin typeface="Georgia"/>
                <a:ea typeface="Georgia"/>
                <a:cs typeface="Georgia"/>
              </a:defRPr>
            </a:pPr>
            <a:r>
              <a:rPr sz="3000" b="1">
                <a:solidFill>
                  <a:srgbClr val="C99A4A"/>
                </a:solidFill>
                <a:latin typeface="Georgia"/>
                <a:ea typeface="Georgia"/>
                <a:cs typeface="Georgia"/>
              </a:rPr>
              <a:t>100%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2FD207-8538-479C-A9F3-A735E1391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000500"/>
            <a:ext cx="1657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逐页渲染质检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84F4FC-20C3-4293-BDB0-9CFD41BAD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674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649A"/>
          </a:solidFill>
          <a:ln xmlns:a="http://schemas.openxmlformats.org/drawingml/2006/main" w="0">
            <a:solidFill>
              <a:srgbClr val="81649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895D0F-279D-41AE-B5C3-5DDCA2794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81600"/>
            <a:ext cx="6248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RAW MATERIAL → CLEAR STORY → EDITABLE DECK → RENDER QA</a:t>
            </a:r>
          </a:p>
        </p:txBody>
      </p:sp>
    </p:spTree>
    <p:extLst>
      <p:ext uri="{BB962C8B-B14F-4D97-AF65-F5344CB8AC3E}">
        <p14:creationId xmlns:p14="http://schemas.microsoft.com/office/powerpoint/2010/main" val="31329171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C2824C-EFDB-44CE-81F8-E663C11D3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4C7D"/>
          </a:solidFill>
          <a:ln xmlns:a="http://schemas.openxmlformats.org/drawingml/2006/main" w="0">
            <a:solidFill>
              <a:srgbClr val="684C7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1072B6-E242-4846-88FF-AEAAD8860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76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E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E6872"/>
                </a:solidFill>
                <a:latin typeface="Microsoft YaHei"/>
                <a:ea typeface="Microsoft YaHei"/>
                <a:cs typeface="Microsoft YaHei"/>
              </a:rPr>
              <a:t>CLOSING / NEXT ACTION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A2DEFB-D625-4544-B32A-D4F4BBC27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E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E6872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16B738-08F9-4EC7-AAFC-4E79A4B3D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666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3750" b="1">
                <a:solidFill>
                  <a:srgbClr val="211A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211A26"/>
                </a:solidFill>
                <a:latin typeface="Microsoft YaHei"/>
                <a:ea typeface="Microsoft YaHei"/>
                <a:cs typeface="Microsoft YaHei"/>
              </a:rPr>
              <a:t>好的演示，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3750" b="1">
                <a:solidFill>
                  <a:srgbClr val="211A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211A26"/>
                </a:solidFill>
                <a:latin typeface="Microsoft YaHei"/>
                <a:ea typeface="Microsoft YaHei"/>
                <a:cs typeface="Microsoft YaHei"/>
              </a:rPr>
              <a:t>让下一步变得简单。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A10D51-8C11-4462-87CA-BAEEFA27E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E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E6872"/>
                </a:solidFill>
                <a:latin typeface="Microsoft YaHei"/>
                <a:ea typeface="Microsoft YaHei"/>
                <a:cs typeface="Microsoft YaHei"/>
              </a:rPr>
              <a:t>把材料交进来，剩下的由 skill 完成。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537A73-1BA7-4FCD-BB1A-21A340E68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2305050" cy="1200150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EFEAF2"/>
          </a:solidFill>
          <a:ln xmlns:a="http://schemas.openxmlformats.org/drawingml/2006/main" w="0">
            <a:solidFill>
              <a:srgbClr val="EFEA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13211C-D129-45D5-9464-941EB7164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291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84C7D"/>
                </a:solidFill>
                <a:latin typeface="Georgia"/>
                <a:ea typeface="Georgia"/>
                <a:cs typeface="Georgia"/>
              </a:defRPr>
            </a:pPr>
            <a:r>
              <a:rPr sz="1125" b="1">
                <a:solidFill>
                  <a:srgbClr val="684C7D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031182-D09E-43DF-A2E0-76502AE0A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86300"/>
            <a:ext cx="1847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11A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11A26"/>
                </a:solidFill>
                <a:latin typeface="Microsoft YaHei"/>
                <a:ea typeface="Microsoft YaHei"/>
                <a:cs typeface="Microsoft YaHei"/>
              </a:rPr>
              <a:t>提供材料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56A685-2C25-4126-9F92-2A0EB5B11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019550"/>
            <a:ext cx="2305050" cy="1200150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EFEAF2"/>
          </a:solidFill>
          <a:ln xmlns:a="http://schemas.openxmlformats.org/drawingml/2006/main" w="0">
            <a:solidFill>
              <a:srgbClr val="EFEA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3E7419-2F12-4F19-9718-D3B517F30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2291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84C7D"/>
                </a:solidFill>
                <a:latin typeface="Georgia"/>
                <a:ea typeface="Georgia"/>
                <a:cs typeface="Georgia"/>
              </a:defRPr>
            </a:pPr>
            <a:r>
              <a:rPr sz="1125" b="1">
                <a:solidFill>
                  <a:srgbClr val="684C7D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CA172B-7DF4-4E4B-AF44-FE755824B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686300"/>
            <a:ext cx="1847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11A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11A26"/>
                </a:solidFill>
                <a:latin typeface="Microsoft YaHei"/>
                <a:ea typeface="Microsoft YaHei"/>
                <a:cs typeface="Microsoft YaHei"/>
              </a:rPr>
              <a:t>确认听众与时长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074F76-2045-4571-B753-F91C0149C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19550"/>
            <a:ext cx="2305050" cy="1200150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392846"/>
          </a:solidFill>
          <a:ln xmlns:a="http://schemas.openxmlformats.org/drawingml/2006/main" w="0">
            <a:solidFill>
              <a:srgbClr val="39284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B60315-2BF2-463F-AFCD-82AE7B918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2291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99A4A"/>
                </a:solidFill>
                <a:latin typeface="Georgia"/>
                <a:ea typeface="Georgia"/>
                <a:cs typeface="Georgia"/>
              </a:defRPr>
            </a:pPr>
            <a:r>
              <a:rPr sz="1125" b="1">
                <a:solidFill>
                  <a:srgbClr val="C99A4A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5942AC-3F26-458D-A1DD-735C692BC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686300"/>
            <a:ext cx="1847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领取可编辑成品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47EA34-B7D2-4DFC-A8AF-E4D6415AA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066800"/>
            <a:ext cx="1962150" cy="434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A4A"/>
          </a:solidFill>
          <a:ln xmlns:a="http://schemas.openxmlformats.org/drawingml/2006/main" w="0">
            <a:solidFill>
              <a:srgbClr val="C99A4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3A4221-EDF3-41ED-B923-12156BBE7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1714500"/>
            <a:ext cx="1581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92846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392846"/>
                </a:solidFill>
                <a:latin typeface="Georgia"/>
                <a:ea typeface="Georgia"/>
                <a:cs typeface="Georgia"/>
              </a:rPr>
              <a:t>READY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EE4F0D-226C-41F1-AAFE-6702675D4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552700"/>
            <a:ext cx="15811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2400" b="1">
                <a:solidFill>
                  <a:srgbClr val="392846"/>
                </a:solidFill>
                <a:latin typeface="Georgia"/>
                <a:ea typeface="Georgia"/>
                <a:cs typeface="Georgia"/>
              </a:defRPr>
            </a:pPr>
            <a:r>
              <a:rPr sz="2400" b="1">
                <a:solidFill>
                  <a:srgbClr val="392846"/>
                </a:solidFill>
                <a:latin typeface="Georgia"/>
                <a:ea typeface="Georgia"/>
                <a:cs typeface="Georgia"/>
              </a:rPr>
              <a:t>TO</a:t>
            </a:r>
          </a:p>
          <a:p xmlns:a="http://schemas.openxmlformats.org/drawingml/2006/main">
            <a:pPr algn="ctr">
              <a:lnSpc>
                <a:spcPct val="90000"/>
              </a:lnSpc>
              <a:buNone/>
              <a:defRPr sz="2400" b="1">
                <a:solidFill>
                  <a:srgbClr val="392846"/>
                </a:solidFill>
                <a:latin typeface="Georgia"/>
                <a:ea typeface="Georgia"/>
                <a:cs typeface="Georgia"/>
              </a:defRPr>
            </a:pPr>
            <a:r>
              <a:rPr sz="2400" b="1">
                <a:solidFill>
                  <a:srgbClr val="392846"/>
                </a:solidFill>
                <a:latin typeface="Georgia"/>
                <a:ea typeface="Georgia"/>
                <a:cs typeface="Georgia"/>
              </a:rPr>
              <a:t>PRESENT</a:t>
            </a:r>
          </a:p>
        </p:txBody>
      </p:sp>
    </p:spTree>
    <p:extLst>
      <p:ext uri="{BB962C8B-B14F-4D97-AF65-F5344CB8AC3E}">
        <p14:creationId xmlns:p14="http://schemas.microsoft.com/office/powerpoint/2010/main" val="16938704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2026-07-19T18:59:28.3150000Z</dcterms:created>
  <dcterms:modified xsi:type="dcterms:W3CDTF">2026-07-19T18:59:28.3150000Z</dcterms:modified>
</coreProperties>
</file>