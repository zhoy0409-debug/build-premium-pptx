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1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2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3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4ff8ff70a474830" /><Relationship Type="http://schemas.openxmlformats.org/officeDocument/2006/relationships/extended-properties" Target="/docProps/app.xml" Id="Rb7c123fbf3fc464a" /><Relationship Type="http://schemas.openxmlformats.org/officeDocument/2006/relationships/officeDocument" Target="/ppt/presentation.xml" Id="Rbde3dc945788401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f3174f75f2d44af"/>
  </p:sldMasterIdLst>
  <p:notesMasterIdLst>
    <p:notesMasterId xmlns:r="http://schemas.openxmlformats.org/officeDocument/2006/relationships" r:id="R6efbe879fc2642da"/>
  </p:notesMasterIdLst>
  <p:sldIdLst>
    <p:sldId xmlns:r="http://schemas.openxmlformats.org/officeDocument/2006/relationships" id="256" r:id="R570a6a1ba3654983"/>
    <p:sldId xmlns:r="http://schemas.openxmlformats.org/officeDocument/2006/relationships" id="257" r:id="R8abf9d92fd324a78"/>
    <p:sldId xmlns:r="http://schemas.openxmlformats.org/officeDocument/2006/relationships" id="258" r:id="Rd6a75582f31340b2"/>
    <p:sldId xmlns:r="http://schemas.openxmlformats.org/officeDocument/2006/relationships" id="259" r:id="R0f8471f24f094201"/>
    <p:sldId xmlns:r="http://schemas.openxmlformats.org/officeDocument/2006/relationships" id="260" r:id="R165a530294df4727"/>
    <p:sldId xmlns:r="http://schemas.openxmlformats.org/officeDocument/2006/relationships" id="261" r:id="R2ff99e633c9d4079"/>
    <p:sldId xmlns:r="http://schemas.openxmlformats.org/officeDocument/2006/relationships" id="262" r:id="Rcd7ad815a06547aa"/>
    <p:sldId xmlns:r="http://schemas.openxmlformats.org/officeDocument/2006/relationships" id="263" r:id="R3b2f12a0f1a74578"/>
    <p:sldId xmlns:r="http://schemas.openxmlformats.org/officeDocument/2006/relationships" id="264" r:id="R8b7b89e343b94032"/>
    <p:sldId xmlns:r="http://schemas.openxmlformats.org/officeDocument/2006/relationships" id="265" r:id="R91578485267448a6"/>
    <p:sldId xmlns:r="http://schemas.openxmlformats.org/officeDocument/2006/relationships" id="266" r:id="R60033b2a256b4da9"/>
    <p:sldId xmlns:r="http://schemas.openxmlformats.org/officeDocument/2006/relationships" id="267" r:id="Rc588de59ade94253"/>
    <p:sldId xmlns:r="http://schemas.openxmlformats.org/officeDocument/2006/relationships" id="268" r:id="R12948c9c8c5348cd"/>
    <p:sldId xmlns:r="http://schemas.openxmlformats.org/officeDocument/2006/relationships" id="269" r:id="Rda405fa74013499a"/>
    <p:sldId xmlns:r="http://schemas.openxmlformats.org/officeDocument/2006/relationships" id="270" r:id="R7ab303a36baf400c"/>
    <p:sldId xmlns:r="http://schemas.openxmlformats.org/officeDocument/2006/relationships" id="271" r:id="Re8341fa55db34270"/>
    <p:sldId xmlns:r="http://schemas.openxmlformats.org/officeDocument/2006/relationships" id="272" r:id="Rb0d9fb5a1c324af6"/>
    <p:sldId xmlns:r="http://schemas.openxmlformats.org/officeDocument/2006/relationships" id="273" r:id="R4959972bb494402d"/>
    <p:sldId xmlns:r="http://schemas.openxmlformats.org/officeDocument/2006/relationships" id="274" r:id="Rf7702d0f1b874477"/>
    <p:sldId xmlns:r="http://schemas.openxmlformats.org/officeDocument/2006/relationships" id="275" r:id="Rf82e479e7c064ad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513f08493614b6f" /><Relationship Type="http://schemas.openxmlformats.org/officeDocument/2006/relationships/slideMaster" Target="/ppt/slideMasters/slideMaster1.xml" Id="R0f3174f75f2d44af" /><Relationship Type="http://schemas.openxmlformats.org/officeDocument/2006/relationships/notesMaster" Target="/ppt/notesMasters/notesMaster1.xml" Id="R6efbe879fc2642da" /><Relationship Type="http://schemas.openxmlformats.org/officeDocument/2006/relationships/presProps" Target="/ppt/presProps.xml" Id="Ra04e4f5f6e17431e" /><Relationship Type="http://schemas.openxmlformats.org/officeDocument/2006/relationships/tableStyles" Target="/ppt/tableStyles.xml" Id="Racf581defc4e4d47" /><Relationship Type="http://schemas.openxmlformats.org/officeDocument/2006/relationships/slide" Target="/ppt/slides/slide1.xml" Id="R570a6a1ba3654983" /><Relationship Type="http://schemas.openxmlformats.org/officeDocument/2006/relationships/slide" Target="/ppt/slides/slide2.xml" Id="R8abf9d92fd324a78" /><Relationship Type="http://schemas.openxmlformats.org/officeDocument/2006/relationships/slide" Target="/ppt/slides/slide3.xml" Id="Rd6a75582f31340b2" /><Relationship Type="http://schemas.openxmlformats.org/officeDocument/2006/relationships/slide" Target="/ppt/slides/slide4.xml" Id="R0f8471f24f094201" /><Relationship Type="http://schemas.openxmlformats.org/officeDocument/2006/relationships/slide" Target="/ppt/slides/slide5.xml" Id="R165a530294df4727" /><Relationship Type="http://schemas.openxmlformats.org/officeDocument/2006/relationships/slide" Target="/ppt/slides/slide6.xml" Id="R2ff99e633c9d4079" /><Relationship Type="http://schemas.openxmlformats.org/officeDocument/2006/relationships/slide" Target="/ppt/slides/slide7.xml" Id="Rcd7ad815a06547aa" /><Relationship Type="http://schemas.openxmlformats.org/officeDocument/2006/relationships/slide" Target="/ppt/slides/slide8.xml" Id="R3b2f12a0f1a74578" /><Relationship Type="http://schemas.openxmlformats.org/officeDocument/2006/relationships/slide" Target="/ppt/slides/slide9.xml" Id="R8b7b89e343b94032" /><Relationship Type="http://schemas.openxmlformats.org/officeDocument/2006/relationships/slide" Target="/ppt/slides/slide10.xml" Id="R91578485267448a6" /><Relationship Type="http://schemas.openxmlformats.org/officeDocument/2006/relationships/slide" Target="/ppt/slides/slide11.xml" Id="R60033b2a256b4da9" /><Relationship Type="http://schemas.openxmlformats.org/officeDocument/2006/relationships/slide" Target="/ppt/slides/slide12.xml" Id="Rc588de59ade94253" /><Relationship Type="http://schemas.openxmlformats.org/officeDocument/2006/relationships/slide" Target="/ppt/slides/slide13.xml" Id="R12948c9c8c5348cd" /><Relationship Type="http://schemas.openxmlformats.org/officeDocument/2006/relationships/slide" Target="/ppt/slides/slide14.xml" Id="Rda405fa74013499a" /><Relationship Type="http://schemas.openxmlformats.org/officeDocument/2006/relationships/slide" Target="/ppt/slides/slide15.xml" Id="R7ab303a36baf400c" /><Relationship Type="http://schemas.openxmlformats.org/officeDocument/2006/relationships/slide" Target="/ppt/slides/slide16.xml" Id="Re8341fa55db34270" /><Relationship Type="http://schemas.openxmlformats.org/officeDocument/2006/relationships/slide" Target="/ppt/slides/slide17.xml" Id="Rb0d9fb5a1c324af6" /><Relationship Type="http://schemas.openxmlformats.org/officeDocument/2006/relationships/slide" Target="/ppt/slides/slide18.xml" Id="R4959972bb494402d" /><Relationship Type="http://schemas.openxmlformats.org/officeDocument/2006/relationships/slide" Target="/ppt/slides/slide19.xml" Id="Rf7702d0f1b874477" /><Relationship Type="http://schemas.openxmlformats.org/officeDocument/2006/relationships/slide" Target="/ppt/slides/slide20.xml" Id="Rf82e479e7c064ad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1684600501d42f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bb10e298ce24de4" /><Relationship Type="http://schemas.openxmlformats.org/officeDocument/2006/relationships/notesMaster" Target="/ppt/notesMasters/notesMaster1.xml" Id="R58e0417ec9344e4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4049f1518684a25" /><Relationship Type="http://schemas.openxmlformats.org/officeDocument/2006/relationships/notesMaster" Target="/ppt/notesMasters/notesMaster1.xml" Id="R6aa0a50a46034f1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2f257656d504187" /><Relationship Type="http://schemas.openxmlformats.org/officeDocument/2006/relationships/notesMaster" Target="/ppt/notesMasters/notesMaster1.xml" Id="R99d899455a554d5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74ddb1864894a47" /><Relationship Type="http://schemas.openxmlformats.org/officeDocument/2006/relationships/notesMaster" Target="/ppt/notesMasters/notesMaster1.xml" Id="R4fa3a4734cf7488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aca4c5211f840a3" /><Relationship Type="http://schemas.openxmlformats.org/officeDocument/2006/relationships/notesMaster" Target="/ppt/notesMasters/notesMaster1.xml" Id="R1c0c4209987744d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0d49b7272104019" /><Relationship Type="http://schemas.openxmlformats.org/officeDocument/2006/relationships/notesMaster" Target="/ppt/notesMasters/notesMaster1.xml" Id="R28e301771bbc4a5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7ccca55cf7c4e25" /><Relationship Type="http://schemas.openxmlformats.org/officeDocument/2006/relationships/notesMaster" Target="/ppt/notesMasters/notesMaster1.xml" Id="Rf3ba8e2e92c2411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c1cd9e8638d4651" /><Relationship Type="http://schemas.openxmlformats.org/officeDocument/2006/relationships/notesMaster" Target="/ppt/notesMasters/notesMaster1.xml" Id="R658087cbd0cc4e5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4d06a0f1a3e4734" /><Relationship Type="http://schemas.openxmlformats.org/officeDocument/2006/relationships/notesMaster" Target="/ppt/notesMasters/notesMaster1.xml" Id="R18cbb49d266548b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aef5613125241a9" /><Relationship Type="http://schemas.openxmlformats.org/officeDocument/2006/relationships/notesMaster" Target="/ppt/notesMasters/notesMaster1.xml" Id="Radec041f73c243b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0dcd68c152c4f0c" /><Relationship Type="http://schemas.openxmlformats.org/officeDocument/2006/relationships/notesMaster" Target="/ppt/notesMasters/notesMaster1.xml" Id="Rb8fce1bc21c4419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070e7cb1dcb4107" /><Relationship Type="http://schemas.openxmlformats.org/officeDocument/2006/relationships/notesMaster" Target="/ppt/notesMasters/notesMaster1.xml" Id="Rac35a42482dd455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bc905945e374098" /><Relationship Type="http://schemas.openxmlformats.org/officeDocument/2006/relationships/notesMaster" Target="/ppt/notesMasters/notesMaster1.xml" Id="R30470682de374d4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8466169a6674b27" /><Relationship Type="http://schemas.openxmlformats.org/officeDocument/2006/relationships/notesMaster" Target="/ppt/notesMasters/notesMaster1.xml" Id="R914470f1303a4d2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01a640b20ef4823" /><Relationship Type="http://schemas.openxmlformats.org/officeDocument/2006/relationships/notesMaster" Target="/ppt/notesMasters/notesMaster1.xml" Id="R835d6b4dde5d4b2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92e4b331592479d" /><Relationship Type="http://schemas.openxmlformats.org/officeDocument/2006/relationships/notesMaster" Target="/ppt/notesMasters/notesMaster1.xml" Id="R86e8e48c915046c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491e77a4f0a436a" /><Relationship Type="http://schemas.openxmlformats.org/officeDocument/2006/relationships/notesMaster" Target="/ppt/notesMasters/notesMaster1.xml" Id="R62093fe1bc8040b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0f62f9d06084f05" /><Relationship Type="http://schemas.openxmlformats.org/officeDocument/2006/relationships/notesMaster" Target="/ppt/notesMasters/notesMaster1.xml" Id="Rcaff297942284b4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7062aa3f7d04040" /><Relationship Type="http://schemas.openxmlformats.org/officeDocument/2006/relationships/notesMaster" Target="/ppt/notesMasters/notesMaster1.xml" Id="R9fce9adbc667408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511700439034b42" /><Relationship Type="http://schemas.openxmlformats.org/officeDocument/2006/relationships/notesMaster" Target="/ppt/notesMasters/notesMaster1.xml" Id="R990175fa029346f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a8c8f09a70412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a093fe2fc484176" /><Relationship Type="http://schemas.openxmlformats.org/officeDocument/2006/relationships/slideLayout" Target="/ppt/slideLayouts/slideLayout1.xml" Id="R38c05dced661469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8c05dced661469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c6b9af99a447a7" /><Relationship Type="http://schemas.openxmlformats.org/officeDocument/2006/relationships/image" Target="/ppt/media/image.png" Id="R1f7c702946064e8c" /><Relationship Type="http://schemas.openxmlformats.org/officeDocument/2006/relationships/notesSlide" Target="/ppt/notesSlides/notesSlide1.xml" Id="R41a51b72acc145e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426c5f78034326" /><Relationship Type="http://schemas.openxmlformats.org/officeDocument/2006/relationships/image" Target="/ppt/media/image2.png" Id="R91a772dc532f4b8f" /><Relationship Type="http://schemas.openxmlformats.org/officeDocument/2006/relationships/notesSlide" Target="/ppt/notesSlides/notesSlide2.xml" Id="Rd307524d32ee4b9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1a5f9ef8d04617" /><Relationship Type="http://schemas.openxmlformats.org/officeDocument/2006/relationships/image" Target="/ppt/media/image3.png" Id="R836884139c4a416d" /><Relationship Type="http://schemas.openxmlformats.org/officeDocument/2006/relationships/notesSlide" Target="/ppt/notesSlides/notesSlide3.xml" Id="R1bbb839d3cd6432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9a7f13c12b4ff1" /><Relationship Type="http://schemas.openxmlformats.org/officeDocument/2006/relationships/notesSlide" Target="/ppt/notesSlides/notesSlide4.xml" Id="R8405850af2b5434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04e8aaf60a4fc5" /><Relationship Type="http://schemas.openxmlformats.org/officeDocument/2006/relationships/notesSlide" Target="/ppt/notesSlides/notesSlide5.xml" Id="R6314311cbbdd423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0b590344114459" /><Relationship Type="http://schemas.openxmlformats.org/officeDocument/2006/relationships/notesSlide" Target="/ppt/notesSlides/notesSlide6.xml" Id="R1d0d34c07acd4ab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0bdd9980204125" /><Relationship Type="http://schemas.openxmlformats.org/officeDocument/2006/relationships/notesSlide" Target="/ppt/notesSlides/notesSlide7.xml" Id="R8ccdf1306c904f5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c6c85541904c7b" /><Relationship Type="http://schemas.openxmlformats.org/officeDocument/2006/relationships/notesSlide" Target="/ppt/notesSlides/notesSlide8.xml" Id="Ra140cb633f5847f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0ec1b8ec8e4f0d" /><Relationship Type="http://schemas.openxmlformats.org/officeDocument/2006/relationships/notesSlide" Target="/ppt/notesSlides/notesSlide9.xml" Id="Rc142718d49564a6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4b5abc708545d2" /><Relationship Type="http://schemas.openxmlformats.org/officeDocument/2006/relationships/notesSlide" Target="/ppt/notesSlides/notesSlide10.xml" Id="R6019158180894b9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aabc5eeef04baf" /><Relationship Type="http://schemas.openxmlformats.org/officeDocument/2006/relationships/notesSlide" Target="/ppt/notesSlides/notesSlide11.xml" Id="R49623482d256421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51e63f4ab54cf9" /><Relationship Type="http://schemas.openxmlformats.org/officeDocument/2006/relationships/notesSlide" Target="/ppt/notesSlides/notesSlide12.xml" Id="R0bb742626c9c446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eed6e26e3341c1" /><Relationship Type="http://schemas.openxmlformats.org/officeDocument/2006/relationships/chart" Target="/ppt/slides/charts/chart1.xml" Id="R6eef9cb192c14a54" /><Relationship Type="http://schemas.openxmlformats.org/officeDocument/2006/relationships/notesSlide" Target="/ppt/notesSlides/notesSlide13.xml" Id="R1ba4bdf97d8b414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ef0d7d56b64c2f" /><Relationship Type="http://schemas.openxmlformats.org/officeDocument/2006/relationships/chart" Target="/ppt/slides/charts/chart2.xml" Id="R9ffd971cb2544e24" /><Relationship Type="http://schemas.openxmlformats.org/officeDocument/2006/relationships/notesSlide" Target="/ppt/notesSlides/notesSlide14.xml" Id="R089036e57ca24aa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a5db88bec84edd" /><Relationship Type="http://schemas.openxmlformats.org/officeDocument/2006/relationships/chart" Target="/ppt/slides/charts/chart3.xml" Id="Rf6d55dde13354c0e" /><Relationship Type="http://schemas.openxmlformats.org/officeDocument/2006/relationships/notesSlide" Target="/ppt/notesSlides/notesSlide15.xml" Id="R83d9738b3996455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6f9b12559f4983" /><Relationship Type="http://schemas.openxmlformats.org/officeDocument/2006/relationships/notesSlide" Target="/ppt/notesSlides/notesSlide16.xml" Id="R3651727dc7ad44e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3d2e9dc75f4d8d" /><Relationship Type="http://schemas.openxmlformats.org/officeDocument/2006/relationships/notesSlide" Target="/ppt/notesSlides/notesSlide17.xml" Id="Raddf9398f4384d8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59bb0772944913" /><Relationship Type="http://schemas.openxmlformats.org/officeDocument/2006/relationships/notesSlide" Target="/ppt/notesSlides/notesSlide18.xml" Id="R52cdb25577a24b7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029e5010d24734" /><Relationship Type="http://schemas.openxmlformats.org/officeDocument/2006/relationships/notesSlide" Target="/ppt/notesSlides/notesSlide19.xml" Id="R2e1aa67c0ceb4fd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f61aeb6bc74308" /><Relationship Type="http://schemas.openxmlformats.org/officeDocument/2006/relationships/notesSlide" Target="/ppt/notesSlides/notesSlide20.xml" Id="R8ce83231377f4cda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分钟</c:v>
          </c:tx>
          <c:spPr>
            <a:solidFill xmlns:a="http://schemas.openxmlformats.org/drawingml/2006/main">
              <a:srgbClr val="1D6B43"/>
            </a:solidFill>
          </c:spPr>
          <c:cat>
            <c:strLit>
              <c:ptCount val="4"/>
              <c:pt idx="0">
                <c:v>材料整理</c:v>
              </c:pt>
              <c:pt idx="1">
                <c:v>故事组织</c:v>
              </c:pt>
              <c:pt idx="2">
                <c:v>版式制作</c:v>
              </c:pt>
              <c:pt idx="3">
                <c:v>最终质检</c:v>
              </c:pt>
            </c:strLit>
          </c:cat>
          <c:val>
            <c:numLit>
              <c:formatCode>General</c:formatCode>
              <c:ptCount val="4"/>
              <c:pt idx="0">
                <c:v>42</c:v>
              </c:pt>
              <c:pt idx="1">
                <c:v>31</c:v>
              </c:pt>
              <c:pt idx="2">
                <c:v>18</c:v>
              </c:pt>
              <c:pt idx="3">
                <c:v>14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62019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BD5CC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168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7F3EA"/>
        </a:solidFill>
      </c:spPr>
    </c:plotArea>
    <c:plotVisOnly val="1"/>
  </c:chart>
  <c:spPr>
    <a:solidFill xmlns:a="http://schemas.openxmlformats.org/drawingml/2006/main">
      <a:srgbClr val="F7F3EA"/>
    </a:solidFill>
  </c:spPr>
</c:chartSpace>
</file>

<file path=ppt/slides/charts/chart2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完成度</c:v>
          </c:tx>
          <c:spPr>
            <a:ln xmlns:a="http://schemas.openxmlformats.org/drawingml/2006/main" w="38100">
              <a:solidFill>
                <a:srgbClr val="1D6B43"/>
              </a:solidFill>
              <a:prstDash val="solid"/>
            </a:ln>
          </c:spPr>
          <c:marker>
            <c:symbol val="circle"/>
            <c:size val="8"/>
          </c:marker>
          <c:cat>
            <c:strLit>
              <c:ptCount val="5"/>
              <c:pt idx="0">
                <c:v>第1次</c:v>
              </c:pt>
              <c:pt idx="1">
                <c:v>第2次</c:v>
              </c:pt>
              <c:pt idx="2">
                <c:v>第3次</c:v>
              </c:pt>
              <c:pt idx="3">
                <c:v>第4次</c:v>
              </c:pt>
              <c:pt idx="4">
                <c:v>第5次</c:v>
              </c:pt>
            </c:strLit>
          </c:cat>
          <c:val>
            <c:numLit>
              <c:formatCode>0%</c:formatCode>
              <c:ptCount val="5"/>
              <c:pt idx="0">
                <c:v>0.58</c:v>
              </c:pt>
              <c:pt idx="1">
                <c:v>0.66</c:v>
              </c:pt>
              <c:pt idx="2">
                <c:v>0.74</c:v>
              </c:pt>
              <c:pt idx="3">
                <c:v>0.85</c:v>
              </c:pt>
              <c:pt idx="4">
                <c:v>0.92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BD5CC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168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.4"/>
        </c:scaling>
        <c:delete val="0"/>
        <c:axPos val="l"/>
        <c:majorGridlines>
          <c:spPr>
            <a:ln xmlns:a="http://schemas.openxmlformats.org/drawingml/2006/main" w="9525">
              <a:solidFill>
                <a:srgbClr val="CBD5CC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168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7F3EA"/>
        </a:solidFill>
      </c:spPr>
    </c:plotArea>
    <c:plotVisOnly val="1"/>
  </c:chart>
  <c:spPr>
    <a:solidFill xmlns:a="http://schemas.openxmlformats.org/drawingml/2006/main">
      <a:srgbClr val="F7F3EA"/>
    </a:solidFill>
  </c:spPr>
</c:chartSpace>
</file>

<file path=ppt/slides/charts/chart3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投入</c:v>
          </c:tx>
          <c:dPt>
            <c:idx val="0"/>
            <c:spPr>
              <a:solidFill xmlns:a="http://schemas.openxmlformats.org/drawingml/2006/main">
                <a:srgbClr val="0B3B2A"/>
              </a:solidFill>
            </c:spPr>
          </c:dPt>
          <c:dPt>
            <c:idx val="1"/>
            <c:spPr>
              <a:solidFill xmlns:a="http://schemas.openxmlformats.org/drawingml/2006/main">
                <a:srgbClr val="1D6B43"/>
              </a:solidFill>
            </c:spPr>
          </c:dPt>
          <c:dPt>
            <c:idx val="2"/>
            <c:spPr>
              <a:solidFill xmlns:a="http://schemas.openxmlformats.org/drawingml/2006/main">
                <a:srgbClr val="AFC3B2"/>
              </a:solidFill>
            </c:spPr>
          </c:dPt>
          <c:dPt>
            <c:idx val="3"/>
            <c:spPr>
              <a:solidFill xmlns:a="http://schemas.openxmlformats.org/drawingml/2006/main">
                <a:srgbClr val="D89A2B"/>
              </a:solidFill>
            </c:spPr>
          </c:dPt>
          <c:cat>
            <c:strLit>
              <c:ptCount val="4"/>
              <c:pt idx="0">
                <c:v>结构</c:v>
              </c:pt>
              <c:pt idx="1">
                <c:v>证据</c:v>
              </c:pt>
              <c:pt idx="2">
                <c:v>视觉</c:v>
              </c:pt>
              <c:pt idx="3">
                <c:v>装饰</c:v>
              </c:pt>
            </c:strLit>
          </c:cat>
          <c:val>
            <c:numLit>
              <c:formatCode>General</c:formatCode>
              <c:ptCount val="4"/>
              <c:pt idx="0">
                <c:v>35</c:v>
              </c:pt>
              <c:pt idx="1">
                <c:v>30</c:v>
              </c:pt>
              <c:pt idx="2">
                <c:v>25</c:v>
              </c:pt>
              <c:pt idx="3">
                <c:v>10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 b="1">
                  <a:solidFill>
                    <a:srgbClr val="162019"/>
                  </a:solidFill>
                </a:defRPr>
              </a:pPr>
            </a:p>
          </c:txPr>
          <c:dLblPos val="outEnd"/>
          <c:showLegendKey val="0"/>
          <c:showVal val="0"/>
          <c:showCatName val="0"/>
          <c:showSerName val="0"/>
          <c:showPercent val="1"/>
          <c:showBubbleSize val="0"/>
          <c:showLeaderLines val="0"/>
        </c:dLbls>
        <c:firstSliceAng val="270"/>
        <c:holeSize val="62"/>
      </c:doughnutChart>
      <c:spPr>
        <a:solidFill xmlns:a="http://schemas.openxmlformats.org/drawingml/2006/main">
          <a:srgbClr val="F7F3EA"/>
        </a:solidFill>
      </c:spPr>
    </c:plotArea>
    <c:plotVisOnly val="1"/>
  </c:chart>
  <c:spPr>
    <a:solidFill xmlns:a="http://schemas.openxmlformats.org/drawingml/2006/main">
      <a:srgbClr val="F7F3EA"/>
    </a:solidFill>
  </c:spPr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7c702946064e8c"/>
          <a:srcRect xmlns:a="http://schemas.openxmlformats.org/drawingml/2006/main" l="18733" t="0" r="1873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0" y="0"/>
            <a:ext cx="7620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860D0E-1BD2-4E9F-8326-77B3574D7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2863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F7F3E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194654-29C5-403A-A13C-E5E4C8404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93BE4F-D836-4261-9B31-1A9F1AA4E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D6B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D6B43"/>
                </a:solidFill>
                <a:latin typeface="Microsoft YaHei"/>
                <a:ea typeface="Microsoft YaHei"/>
                <a:cs typeface="Microsoft YaHei"/>
              </a:rPr>
              <a:t>PREMIUM STORY DECK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E5152B-63FB-49C7-AA18-4C598FFD6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40957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36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让复杂内容，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36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变成清晰结论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2996D3-3E11-430E-9DFB-CC0EF6E53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6235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适合工作汇报 · 项目提案 · 科研分享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AB8B3F-05DA-4D63-B8E0-2289F7D2A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62450"/>
            <a:ext cx="342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C"/>
          </a:solidFill>
          <a:ln xmlns:a="http://schemas.openxmlformats.org/drawingml/2006/main" w="0">
            <a:solidFill>
              <a:srgbClr val="CBD5C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57F66B-E98C-44B6-B87A-7FC57681C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D6B43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D6B43"/>
                </a:solidFill>
                <a:latin typeface="Georgia"/>
                <a:ea typeface="Georgia"/>
                <a:cs typeface="Georgia"/>
              </a:rPr>
              <a:t>12 MIN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D52C5A-A8CC-4A59-A506-F2C953501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028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演讲时长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FD1D4A-A6C4-468F-8D8E-69CEC1562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5910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1 PATH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D6C1E6-2027-40DC-9016-A76F0AFF7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953000"/>
            <a:ext cx="1028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推荐方向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1C1325-ABD8-4FAA-88E3-9834CF462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5910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D6B43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D6B43"/>
                </a:solidFill>
                <a:latin typeface="Georgia"/>
                <a:ea typeface="Georgia"/>
                <a:cs typeface="Georgia"/>
              </a:rPr>
              <a:t>100%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7FAAF9-2F45-442E-A71D-6B0136384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953000"/>
            <a:ext cx="1028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可编辑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A728AB-45B1-41A8-9F52-DC28CD071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PROJECT BRIEF /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A9757C-18DC-43F7-9AC4-323191779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00750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50121053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a772dc532f4b8f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D4050D-10EC-467D-BE44-231907C47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09600"/>
            <a:ext cx="5715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629D0F-2130-4CB0-9CBA-0BFB54DED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990600"/>
            <a:ext cx="398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rPr>
              <a:t>SCIENCE / RESEARCH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E99E13-C478-4CCE-9D0F-DC15A6A2A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581150"/>
            <a:ext cx="44577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0000"/>
              </a:lnSpc>
              <a:buNone/>
              <a:def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从问题出发，</a:t>
            </a:r>
          </a:p>
          <a:p xmlns:a="http://schemas.openxmlformats.org/drawingml/2006/main">
            <a:pPr algn="r">
              <a:lnSpc>
                <a:spcPct val="90000"/>
              </a:lnSpc>
              <a:buNone/>
              <a:def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让证据说话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B1ABBB-0908-43C5-AEFB-F53CC9C7A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219450"/>
            <a:ext cx="3924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rPr>
              <a:t>学术报告 · 论文答辩 · 技术分享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81EB82-C3EE-4C6F-997E-FA9617BD2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1531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74819210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6884139c4a416d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DD55BC-7729-4AF1-8EFD-A508EF705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781050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D6B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D6B43"/>
                </a:solidFill>
                <a:latin typeface="Microsoft YaHei"/>
                <a:ea typeface="Microsoft YaHei"/>
                <a:cs typeface="Microsoft YaHei"/>
              </a:rPr>
              <a:t>STRATEGY / DECISION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80EFE6-4EDA-40AD-B44B-9EAA1FBA6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181100"/>
            <a:ext cx="43243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0000"/>
              </a:lnSpc>
              <a:buNone/>
              <a:defRPr sz="36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把选择，</a:t>
            </a:r>
          </a:p>
          <a:p xmlns:a="http://schemas.openxmlformats.org/drawingml/2006/main">
            <a:pPr algn="r">
              <a:lnSpc>
                <a:spcPct val="90000"/>
              </a:lnSpc>
              <a:buNone/>
              <a:defRPr sz="36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变成行动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7EE4B2-BF88-4BF3-8C50-43A682BE4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686050"/>
            <a:ext cx="1733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8ADC2C-9DD4-42B7-9CD5-0185DA8DF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876550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年度规划 · 商业方案 · 复盘总结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A3C6EB-7AE8-43E7-A570-06D756740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1722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1D6B43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1D6B43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79787014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3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EBA226-2E1E-446E-9A80-DF03D90D4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3B951B-E8CF-4F86-BB7D-7E2DDAFD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76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7EF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7EFE8"/>
                </a:solidFill>
                <a:latin typeface="Microsoft YaHei"/>
                <a:ea typeface="Microsoft YaHei"/>
                <a:cs typeface="Microsoft YaHei"/>
              </a:rPr>
              <a:t>SECTION DIVIDER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4991A5-ADE2-4A57-AC4C-0E3F1F3D1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3CF428-35D3-4D20-B19D-1FD2DFD5D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295275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90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990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5FB10B-6920-41E4-8F03-14686FC25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771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C3B2"/>
          </a:solidFill>
          <a:ln xmlns:a="http://schemas.openxmlformats.org/drawingml/2006/main" w="0">
            <a:solidFill>
              <a:srgbClr val="AFC3B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3DE618-604D-4940-8F9F-8C88642C8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581150"/>
            <a:ext cx="6381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先确定故事，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3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再选择版式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A08C40-081A-422D-ADD8-D060AD6DD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124200"/>
            <a:ext cx="5886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rPr>
              <a:t>章节页负责切换节奏，不承担解释任务。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CA5495-6B41-4FAC-B5A6-F9FAC08AE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962400"/>
            <a:ext cx="2038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C3B2"/>
          </a:solidFill>
          <a:ln xmlns:a="http://schemas.openxmlformats.org/drawingml/2006/main" w="0">
            <a:solidFill>
              <a:srgbClr val="AFC3B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27E66C-B1A5-424F-B970-3EDC2A484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13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CFD2F0-7139-4B31-AF47-3FFDD8884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114800"/>
            <a:ext cx="1562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CONTEXT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8FDB5E-68D3-4F81-94FD-10E5CC852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514850"/>
            <a:ext cx="2038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rPr>
              <a:t>为什么现在重要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1254FA-19AE-4FAC-865B-17D0A9325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62400"/>
            <a:ext cx="2038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F9476C-D8CF-48CB-9074-1951341E7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13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0F8464-22E5-4A8B-B1F0-52D0E6CAC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14800"/>
            <a:ext cx="1562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48FE13-3F0D-4B16-A45E-5B561BAA7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514850"/>
            <a:ext cx="2038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rPr>
              <a:t>哪些事实支持判断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DB67F9-7574-4B8A-A9AC-5AFEE60FF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962400"/>
            <a:ext cx="2038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C3B2"/>
          </a:solidFill>
          <a:ln xmlns:a="http://schemas.openxmlformats.org/drawingml/2006/main" w="0">
            <a:solidFill>
              <a:srgbClr val="AFC3B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13314B-93FF-43C7-8CA5-667CBDD4E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13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964EE5-8119-493B-BDDF-564A735A4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114800"/>
            <a:ext cx="1562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45748C-4310-4E56-8040-CE9B28419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514850"/>
            <a:ext cx="2038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rPr>
              <a:t>下一步需要做什么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E95448-B68D-47D9-81A1-082188A7B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657850"/>
            <a:ext cx="12192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D3F7C6-3D35-4531-9B94-49742EEA7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00750"/>
            <a:ext cx="666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3B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B3B2A"/>
                </a:solidFill>
                <a:latin typeface="Microsoft YaHei"/>
                <a:ea typeface="Microsoft YaHei"/>
                <a:cs typeface="Microsoft YaHei"/>
              </a:rPr>
              <a:t>STRUCTURE BEFORE DECORATION</a:t>
            </a:r>
          </a:p>
        </p:txBody>
      </p:sp>
    </p:spTree>
    <p:extLst>
      <p:ext uri="{BB962C8B-B14F-4D97-AF65-F5344CB8AC3E}">
        <p14:creationId xmlns:p14="http://schemas.microsoft.com/office/powerpoint/2010/main" val="103074034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5790C56-2086-40BE-8ED4-C5C9472C0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02DE71-3AA2-431A-AB6B-C296F34AD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76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AGENDA / CHAPTER MAP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2FD0F8-B974-437C-81C3-5AF90EAC7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F3541F-9865-4845-892E-5151A7055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rPr>
              <a:t>ONE CLEAR PATH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930DD7-5750-499E-BF49-9000D350C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8286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1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四个章节，回答一个核心问题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4C39F9-2AE1-47DF-8ADF-BC34A6C6F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让听众始终知道：现在讲到哪里，下一步为什么重要。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1CC2E2-8A9D-49DE-92D5-1B982A8E6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247650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73D9D3-B243-44E9-9A4C-67FFBDF17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24765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1C5024-BF4C-4C9D-A989-E78F006FB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6100"/>
            <a:ext cx="876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D6B43"/>
                </a:solidFill>
                <a:latin typeface="Georgia"/>
                <a:ea typeface="Georgia"/>
                <a:cs typeface="Georgia"/>
              </a:defRPr>
            </a:pPr>
            <a:r>
              <a:rPr sz="3450" b="1">
                <a:solidFill>
                  <a:srgbClr val="1D6B43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3F6E0B-96F5-4450-AC2A-D19E5040E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481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背景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E7152B-4CAC-4F38-8F66-9D4ED9F6C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2435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为什么现在必须讨论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E3B7D6-B606-493C-8568-FF35CE84C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863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080813-CD2F-48B7-B7E8-67637E838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768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D6B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D6B43"/>
                </a:solidFill>
                <a:latin typeface="Microsoft YaHei"/>
                <a:ea typeface="Microsoft YaHei"/>
                <a:cs typeface="Microsoft YaHei"/>
              </a:rPr>
              <a:t>形成共同背景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827279-C443-415C-9775-F8BBE20EB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781300"/>
            <a:ext cx="247650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7CF"/>
          </a:solidFill>
          <a:ln xmlns:a="http://schemas.openxmlformats.org/drawingml/2006/main" w="9525">
            <a:solidFill>
              <a:srgbClr val="CBD5C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F92CCC-8C79-4635-BA88-E6671A80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781300"/>
            <a:ext cx="24765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7487EA-083E-4EB3-9D0F-4A4484979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086100"/>
            <a:ext cx="876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345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44A6F4-3779-44FE-9A01-3B5131DB3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8481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洞察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A7CFC3-8CEA-49FF-8311-3C3FCB1E0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32435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证据揭示了什么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4EBA25-FF04-4F7F-A03B-03F644845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0863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97B82F-7618-4891-AAFE-D08C10403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2768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D6B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D6B43"/>
                </a:solidFill>
                <a:latin typeface="Microsoft YaHei"/>
                <a:ea typeface="Microsoft YaHei"/>
                <a:cs typeface="Microsoft YaHei"/>
              </a:rPr>
              <a:t>提炼关键判断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D1223C-3927-4012-812F-601130D5F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81300"/>
            <a:ext cx="247650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F5000B-C24F-43E1-9F93-7E535A797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81300"/>
            <a:ext cx="24765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3B69D0-136A-4F00-85DD-BD1A0F49D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086100"/>
            <a:ext cx="876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D6B43"/>
                </a:solidFill>
                <a:latin typeface="Georgia"/>
                <a:ea typeface="Georgia"/>
                <a:cs typeface="Georgia"/>
              </a:defRPr>
            </a:pPr>
            <a:r>
              <a:rPr sz="3450" b="1">
                <a:solidFill>
                  <a:srgbClr val="1D6B43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F97C06-DB94-4A87-8F82-C2A9383DC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8481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方案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B2136A-6A36-4474-A717-DBE80B888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2435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我们准备如何行动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2377D8-67DD-4A70-BD27-5DFE5D523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0863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2AA78EB-8799-4FA2-98E4-8D9695FB8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768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D6B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D6B43"/>
                </a:solidFill>
                <a:latin typeface="Microsoft YaHei"/>
                <a:ea typeface="Microsoft YaHei"/>
                <a:cs typeface="Microsoft YaHei"/>
              </a:rPr>
              <a:t>明确执行路径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3AB4EC5-55C4-40EA-A75C-7A282EF18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781300"/>
            <a:ext cx="247650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BBCE44E-D0FA-4793-A5D8-388305E5F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781300"/>
            <a:ext cx="24765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12C56CB-388A-4EFA-8D1C-99353735A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086100"/>
            <a:ext cx="876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D6B43"/>
                </a:solidFill>
                <a:latin typeface="Georgia"/>
                <a:ea typeface="Georgia"/>
                <a:cs typeface="Georgia"/>
              </a:defRPr>
            </a:pPr>
            <a:r>
              <a:rPr sz="3450" b="1">
                <a:solidFill>
                  <a:srgbClr val="1D6B43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6E22ADD-DF83-4BEC-A91B-DA07E1EDE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8481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结果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A290391-67A1-4670-A8DF-5690672B7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32435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成功将如何衡量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C3AEAC9-545D-41FC-AEE0-8601348ED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0863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1AED770-A4C7-4FED-A16A-10B9173B8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2768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D6B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D6B43"/>
                </a:solidFill>
                <a:latin typeface="Microsoft YaHei"/>
                <a:ea typeface="Microsoft YaHei"/>
                <a:cs typeface="Microsoft YaHei"/>
              </a:rPr>
              <a:t>定义衡量标准</a:t>
            </a:r>
          </a:p>
        </p:txBody>
      </p:sp>
    </p:spTree>
    <p:extLst>
      <p:ext uri="{BB962C8B-B14F-4D97-AF65-F5344CB8AC3E}">
        <p14:creationId xmlns:p14="http://schemas.microsoft.com/office/powerpoint/2010/main" val="86202400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26DBC9-DBE9-4271-BD77-FC4D49B35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1D5704-2A63-4A5C-83D8-54D7A1BBE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76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OPENING THESIS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110C0D-0CB6-44E2-9B56-F3FFEDEC3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EDDE34-BF32-493D-9D67-C620A82D1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rPr>
              <a:t>ONE THESIS / THREE PROOFS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35F046-01B0-41B5-A3D3-500955690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65151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36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真正高级的演示，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36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不是信息更多，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36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而是判断更清楚。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1FB370-8724-44C2-87BD-60C21274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90900"/>
            <a:ext cx="1600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0114E1-0509-4893-B39E-7D4FCC720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6115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结论先行，证据随后，行动收束。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每一页都承担清晰的叙事任务。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86815D-9A1E-498B-81F4-61DC7C407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65151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FE8"/>
          </a:solidFill>
          <a:ln xmlns:a="http://schemas.openxmlformats.org/drawingml/2006/main" w="9525">
            <a:solidFill>
              <a:srgbClr val="CBD5C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6D2593-DED9-4A38-A8F6-FA6E299E3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0101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D6B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D6B43"/>
                </a:solidFill>
                <a:latin typeface="Microsoft YaHei"/>
                <a:ea typeface="Microsoft YaHei"/>
                <a:cs typeface="Microsoft YaHei"/>
              </a:rPr>
              <a:t>判断标准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88A432-F09F-4F71-BAF9-438B0DE77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353050"/>
            <a:ext cx="5829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听众能否在 5 秒内复述这一页的结论？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51BCC7-14BF-4004-921D-0A28F0C0C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990600"/>
            <a:ext cx="3695700" cy="483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B2A"/>
          </a:solidFill>
          <a:ln xmlns:a="http://schemas.openxmlformats.org/drawingml/2006/main" w="0">
            <a:solidFill>
              <a:srgbClr val="0B3B2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07CB41-0514-496F-8B7C-2AEB564B2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3525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12FC90-50BC-4828-AC52-B45783047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3335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少而关键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20A53A-4A0D-4FB2-8417-06AE94744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7145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rPr>
              <a:t>只保留推动结论的信息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1B7650-611F-495F-BDF4-E71AF21EF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552700"/>
            <a:ext cx="3086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8355"/>
          </a:solidFill>
          <a:ln xmlns:a="http://schemas.openxmlformats.org/drawingml/2006/main" w="0">
            <a:solidFill>
              <a:srgbClr val="2D835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0BD53A-AF0E-4D7D-9220-6CBB3FCFC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7622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CAD53C-3196-48B2-85A6-E83BE25F6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743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标题有判断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4622A3-FF86-42EA-8124-954028420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1242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rPr>
              <a:t>让听众先知道这页意味着什么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D6C1C9-F33C-407E-A4E9-D61F61428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962400"/>
            <a:ext cx="3086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8355"/>
          </a:solidFill>
          <a:ln xmlns:a="http://schemas.openxmlformats.org/drawingml/2006/main" w="0">
            <a:solidFill>
              <a:srgbClr val="2D835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15A3A0-FE7E-4C5A-A930-6D5760DF1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171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6640D6-6EF8-4CB2-A9E2-498F8141D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1529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系统要稳定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FE3327-E8F0-4998-9D4E-707AAF223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5339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rPr>
              <a:t>图像、字体和节奏保持一致</a:t>
            </a:r>
          </a:p>
        </p:txBody>
      </p:sp>
    </p:spTree>
    <p:extLst>
      <p:ext uri="{BB962C8B-B14F-4D97-AF65-F5344CB8AC3E}">
        <p14:creationId xmlns:p14="http://schemas.microsoft.com/office/powerpoint/2010/main" val="170675938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A843CC-8235-4BF6-A06F-F3572F923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195716-55AA-4318-912D-F52FC0599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76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VISUAL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538C91-960D-49CE-BB0C-E001740BA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C4875E-3C12-4616-B3C1-7859D92C8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rPr>
              <a:t>IMAGE + CLAIM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527E6D-3CF7-4750-BB19-5E22C08C5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8286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1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一张图，只负责证明一个结论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193B8D-893D-4976-8FCD-8ACF98E93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用可替换主视觉建立情境，用三条证据完成解释。</a:t>
            </a:r>
          </a:p>
        </p:txBody>
      </p:sp>
      <p:sp>
        <p:nvSpPr>
          <p:cNvPr id="7" name="replaceable-visual-frame">
            <a:extLst xmlns:a="http://schemas.openxmlformats.org/drawingml/2006/main">
              <a:ext uri="{FF2B5EF4-FFF2-40B4-BE49-F238E27FC236}">
                <a16:creationId xmlns:a16="http://schemas.microsoft.com/office/drawing/2014/main" id="{89C2134C-38B8-4240-8449-74FB15BF3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6153150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FE8"/>
          </a:solidFill>
          <a:ln xmlns:a="http://schemas.openxmlformats.org/drawingml/2006/main" w="9525">
            <a:solidFill>
              <a:srgbClr val="CBD5C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F2A384-CA11-4050-AB6F-B56858974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14650"/>
            <a:ext cx="5695950" cy="2419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C3B2"/>
          </a:solidFill>
          <a:ln xmlns:a="http://schemas.openxmlformats.org/drawingml/2006/main" w="0">
            <a:solidFill>
              <a:srgbClr val="AFC3B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9CEF16-0578-436B-8E92-6F8B81D21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829050"/>
            <a:ext cx="3371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B3B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B3B2A"/>
                </a:solidFill>
                <a:latin typeface="Microsoft YaHei"/>
                <a:ea typeface="Microsoft YaHei"/>
                <a:cs typeface="Microsoft YaHei"/>
              </a:rPr>
              <a:t>可替换主视觉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90E618-68F3-4CD5-B747-061A46E22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34000"/>
            <a:ext cx="5695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B2A"/>
          </a:solidFill>
          <a:ln xmlns:a="http://schemas.openxmlformats.org/drawingml/2006/main" w="0">
            <a:solidFill>
              <a:srgbClr val="0B3B2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C15E01-6771-4964-856A-842D004E7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429250"/>
            <a:ext cx="5314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7EF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E7EFE8"/>
                </a:solidFill>
                <a:latin typeface="Microsoft YaHei"/>
                <a:ea typeface="Microsoft YaHei"/>
                <a:cs typeface="Microsoft YaHei"/>
              </a:rPr>
              <a:t>CAPTION / SOURCE / KEY OBSERVATION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918FC1-5E56-419E-A65D-EE143485F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781300"/>
            <a:ext cx="4000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FEB45D-2C6B-4BC8-8867-77C79945A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527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D6B43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1D6B43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32F004-C375-4BB0-B26C-BBD4AD03A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9146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先给结论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C36798-39B9-4896-B878-D6E74EAA2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23850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标题直接说明这张图意味着什么。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B92F48-6F09-409F-95AC-048C7F093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810000"/>
            <a:ext cx="4000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B2A"/>
          </a:solidFill>
          <a:ln xmlns:a="http://schemas.openxmlformats.org/drawingml/2006/main" w="9525">
            <a:solidFill>
              <a:srgbClr val="0B3B2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154AAC-9BF4-4A2F-AC9B-4FAC28A15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9814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1B0083-7A51-42F5-B049-DCE6C315B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9433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再给证据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05FB4C-3DE0-4659-B3B4-A1F7F8F9B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26720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rPr>
              <a:t>保留数字、事实、来源和必要限定。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30115B-2B2B-41CB-A74D-DD9FE871A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838700"/>
            <a:ext cx="4000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B12417-C257-4312-BC88-480AD2C0C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0101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D6B43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1D6B43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223F8D-881D-43F5-852F-5BC177F6B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9720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最后给行动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7E8AD0-2595-4E7F-875E-C5560FDC1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29590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明确下一步、风险或需要作出的决定。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EB888D-BE39-435A-BDF6-F62C38CE2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59626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D6B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D6B43"/>
                </a:solidFill>
                <a:latin typeface="Microsoft YaHei"/>
                <a:ea typeface="Microsoft YaHei"/>
                <a:cs typeface="Microsoft YaHei"/>
              </a:rPr>
              <a:t>一张图 + 一个判断 + 三条解释</a:t>
            </a:r>
          </a:p>
        </p:txBody>
      </p:sp>
    </p:spTree>
    <p:extLst>
      <p:ext uri="{BB962C8B-B14F-4D97-AF65-F5344CB8AC3E}">
        <p14:creationId xmlns:p14="http://schemas.microsoft.com/office/powerpoint/2010/main" val="54839063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FD1C1C-B09B-4562-97DC-1A7A9BF8D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1456DD-E61E-481C-9DEE-9121D4289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76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VISUAL GALLERY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56C22B-E7D2-448F-A8EF-2687249E0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5AED08-C932-4408-AB1A-EE65C6998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rPr>
              <a:t>THREE VIEWS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18F42C-326C-4906-9106-6F98037E4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8286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1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用三种视角，解释同一个主题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D05746-3CD6-43EF-BA2E-3CF18B39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适合案例、产品、实验过程和阶段成果。</a:t>
            </a:r>
          </a:p>
        </p:txBody>
      </p:sp>
      <p:sp>
        <p:nvSpPr>
          <p:cNvPr id="7" name="gallery-frame-1">
            <a:extLst xmlns:a="http://schemas.openxmlformats.org/drawingml/2006/main">
              <a:ext uri="{FF2B5EF4-FFF2-40B4-BE49-F238E27FC236}">
                <a16:creationId xmlns:a16="http://schemas.microsoft.com/office/drawing/2014/main" id="{00F7CF07-609D-477B-9F76-E9E3E80A2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325755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FE8"/>
          </a:solidFill>
          <a:ln xmlns:a="http://schemas.openxmlformats.org/drawingml/2006/main" w="9525">
            <a:solidFill>
              <a:srgbClr val="CBD5C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1165EB-07EE-44B8-8A65-24FD3F1FE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86350"/>
            <a:ext cx="32575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E13812-78E8-4C61-86B4-8916C18EB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5780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AB85C6-4E16-4BD0-9DDA-30596F176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2197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全景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C01D72-E09F-45CE-A069-58CD06A32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435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建立背景与尺度</a:t>
            </a:r>
          </a:p>
        </p:txBody>
      </p:sp>
      <p:sp>
        <p:nvSpPr>
          <p:cNvPr id="12" name="gallery-frame-2">
            <a:extLst xmlns:a="http://schemas.openxmlformats.org/drawingml/2006/main">
              <a:ext uri="{FF2B5EF4-FFF2-40B4-BE49-F238E27FC236}">
                <a16:creationId xmlns:a16="http://schemas.microsoft.com/office/drawing/2014/main" id="{8838F239-075F-4EE3-8980-0121A6C3F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686050"/>
            <a:ext cx="325755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C3B2"/>
          </a:solidFill>
          <a:ln xmlns:a="http://schemas.openxmlformats.org/drawingml/2006/main" w="9525">
            <a:solidFill>
              <a:srgbClr val="CBD5C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B89DC7-04D9-4B66-90DA-6094F3AE5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086350"/>
            <a:ext cx="32575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B2A"/>
          </a:solidFill>
          <a:ln xmlns:a="http://schemas.openxmlformats.org/drawingml/2006/main" w="9525">
            <a:solidFill>
              <a:srgbClr val="CBD5C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3D0F45-C316-442B-A11F-7F547BD26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25780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35318C-990A-42B0-8E3F-510BDC0A8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2197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细节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58FC80-F076-4541-92F0-6ADC1F2F4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5435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rPr>
              <a:t>突出关键差异</a:t>
            </a:r>
          </a:p>
        </p:txBody>
      </p:sp>
      <p:sp>
        <p:nvSpPr>
          <p:cNvPr id="17" name="gallery-frame-3">
            <a:extLst xmlns:a="http://schemas.openxmlformats.org/drawingml/2006/main">
              <a:ext uri="{FF2B5EF4-FFF2-40B4-BE49-F238E27FC236}">
                <a16:creationId xmlns:a16="http://schemas.microsoft.com/office/drawing/2014/main" id="{3F43A4E4-85BE-45EC-9715-6AF7C39ED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686050"/>
            <a:ext cx="325755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FE8"/>
          </a:solidFill>
          <a:ln xmlns:a="http://schemas.openxmlformats.org/drawingml/2006/main" w="9525">
            <a:solidFill>
              <a:srgbClr val="CBD5C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64AED8-33B9-4629-A02F-D7C3925BA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086350"/>
            <a:ext cx="32575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0BA261-3461-421F-A847-FE540C596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25780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3B58D9-010C-45B1-94FD-AE64FD34A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52197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结果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49FB9E-5512-426D-B504-22D9AB0FA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5435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让价值可以被看见</a:t>
            </a:r>
          </a:p>
        </p:txBody>
      </p:sp>
    </p:spTree>
    <p:extLst>
      <p:ext uri="{BB962C8B-B14F-4D97-AF65-F5344CB8AC3E}">
        <p14:creationId xmlns:p14="http://schemas.microsoft.com/office/powerpoint/2010/main" val="98393036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2962A29-72B5-43A0-A511-EC08E4C35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69BBAD-74F4-4F4B-8D71-F0A0360E5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76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EVIDENCE FRAME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114F8D-9780-450A-BC4F-1ACA602B1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08639F-122E-4D02-A670-D9DA6E300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rPr>
              <a:t>THREE SIGNALS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A3298B-E054-4C1F-ADD9-AB4A81FD1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8286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1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三个证据，共同支持一个判断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5F7577-66BC-46B5-BD1B-3003268DA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横向比较时保持同一尺度，避免把信息堆成卡片墙。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5C95AD-2FDB-4518-AEDB-10FAB2F46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3257550" cy="3086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394091-0A56-4778-9C8D-43F4807CA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32575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9F5677-399D-4C44-9187-6B40FEA70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43250"/>
            <a:ext cx="2781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D6B43"/>
                </a:solidFill>
                <a:latin typeface="Georgia"/>
                <a:ea typeface="Georgia"/>
                <a:cs typeface="Georgia"/>
              </a:defRPr>
            </a:pPr>
            <a:r>
              <a:rPr sz="3900" b="1">
                <a:solidFill>
                  <a:srgbClr val="1D6B43"/>
                </a:solidFill>
                <a:latin typeface="Georgia"/>
                <a:ea typeface="Georgia"/>
                <a:cs typeface="Georgia"/>
              </a:rPr>
              <a:t>72%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B0435B-2886-41DA-9D09-2A373C27F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需求已经出现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10CDA4-36B6-4D7D-8B6D-61392A2D6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0100"/>
            <a:ext cx="2781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受访者主动提出更快、更简单的流程。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639D0C-B605-48A0-A9ED-4E2A6C624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29250"/>
            <a:ext cx="49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A44107-3336-436E-8450-48AC29352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6260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SIGNAL / DEMAND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AD55EC-B9CE-409A-A1B7-00A94ECCB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781300"/>
            <a:ext cx="3257550" cy="3086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B2A"/>
          </a:solidFill>
          <a:ln xmlns:a="http://schemas.openxmlformats.org/drawingml/2006/main" w="9525">
            <a:solidFill>
              <a:srgbClr val="0B3B2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477136-2B42-4289-9F4C-D1857E57E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781300"/>
            <a:ext cx="32575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C12D44-0317-425A-9E34-AC532438C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143250"/>
            <a:ext cx="2781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390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2.4×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B915C6-3110-4343-B594-C93BC2545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效率可以提升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D41615-7955-4C48-BA37-EFE60F962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610100"/>
            <a:ext cx="2781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rPr>
              <a:t>重复工作被压缩，</a:t>
            </a:r>
          </a:p>
          <a:p xmlns:a="http://schemas.openxmlformats.org/drawingml/2006/main">
            <a:pPr algn="l">
              <a:defRPr sz="1200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rPr>
              <a:t>团队把时间留给判断。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89A8CE-FBD8-4677-8A6F-97FE0A61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429250"/>
            <a:ext cx="49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7FD24E-5646-41A6-A348-17CEA1AD0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56260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rPr>
              <a:t>SIGNAL / SPEED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E2ACD9-19C7-4DB6-AFA3-C6CD62B6F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81300"/>
            <a:ext cx="3257550" cy="3086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2089B9-33FA-4E91-85DA-4F96DF353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81300"/>
            <a:ext cx="32575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F1B047-8696-46D2-9C1C-A332E8C7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43250"/>
            <a:ext cx="2781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D6B43"/>
                </a:solidFill>
                <a:latin typeface="Georgia"/>
                <a:ea typeface="Georgia"/>
                <a:cs typeface="Georgia"/>
              </a:defRPr>
            </a:pPr>
            <a:r>
              <a:rPr sz="3900" b="1">
                <a:solidFill>
                  <a:srgbClr val="1D6B43"/>
                </a:solidFill>
                <a:latin typeface="Georgia"/>
                <a:ea typeface="Georgia"/>
                <a:cs typeface="Georgia"/>
              </a:rPr>
              <a:t>18%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A0A0921-85C2-4C6A-96F8-DD03CFFD7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风险仍需管理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ECBC96-7E6A-4DB7-AA84-AC6C99749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610100"/>
            <a:ext cx="2781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必须保留人工复核和来源追踪。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DAE077A-A58E-4CAD-A0F6-CE95858AD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429250"/>
            <a:ext cx="49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815F165-B758-4615-BADE-5FC574FBD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56260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SIGNAL / CONTROL</a:t>
            </a:r>
          </a:p>
        </p:txBody>
      </p:sp>
    </p:spTree>
    <p:extLst>
      <p:ext uri="{BB962C8B-B14F-4D97-AF65-F5344CB8AC3E}">
        <p14:creationId xmlns:p14="http://schemas.microsoft.com/office/powerpoint/2010/main" val="183196260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3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546A364-3D18-4389-8137-2F7D005C3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53C3A3-A827-4FC1-BC14-75D4B2487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76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7EF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7EFE8"/>
                </a:solidFill>
                <a:latin typeface="Microsoft YaHei"/>
                <a:ea typeface="Microsoft YaHei"/>
                <a:cs typeface="Microsoft YaHei"/>
              </a:rPr>
              <a:t>PROCESS / HOW IT WORKS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EE133D-6DDD-49AD-B80F-A7ADD3162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C1657E-4F1A-4A5E-B6E4-61231C385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rPr>
              <a:t>FOUR STEPS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6D54BC-DC40-4D29-A5AB-06844892C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8286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从零散材料到可讲述的演示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EBA936-9A95-43D5-8C26-9216CB2BC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rPr>
              <a:t>默认自动完成，用户只需提供内容。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A65E70-2B42-4E5F-8AB7-E904B74C8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43300"/>
            <a:ext cx="108204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C3B2"/>
          </a:solidFill>
          <a:ln xmlns:a="http://schemas.openxmlformats.org/drawingml/2006/main" w="0">
            <a:solidFill>
              <a:srgbClr val="AFC3B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DD7F49-4EE8-46E2-B627-01051BAC5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355"/>
          </a:solidFill>
          <a:ln xmlns:a="http://schemas.openxmlformats.org/drawingml/2006/main" w="0">
            <a:solidFill>
              <a:srgbClr val="2D83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E916BE-7D70-423A-9066-48D794926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38525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B9F9D2-9618-4B02-A65A-A035CAF57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诊断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58EAF6-24A2-4076-8FED-8B1791DB2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0"/>
            <a:ext cx="2133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rPr>
              <a:t>识别受众与目标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DF9DA0-A97E-4284-B135-A563E6C3D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385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355"/>
          </a:solidFill>
          <a:ln xmlns:a="http://schemas.openxmlformats.org/drawingml/2006/main" w="0">
            <a:solidFill>
              <a:srgbClr val="2D835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5BA869-3918-4963-8E8D-9B677B0B0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438525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091B1E-2FC5-4853-9624-0CC944B02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1910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组织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6DD3EB-586C-4D45-9570-80FA84DEF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667250"/>
            <a:ext cx="2133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rPr>
              <a:t>形成故事线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D4A300-0EEE-4BA9-BB1A-90F29C5A3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2385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1CC88D-F694-4D8D-90C9-3688C9AD3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438525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3B2A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0B3B2A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A8884A-51DC-4456-B5E3-75E0F518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1910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匹配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564E1C-EB47-4CB0-998C-4E028BA78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667250"/>
            <a:ext cx="2133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rPr>
              <a:t>选择最佳版式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1B1A27-39C0-4C6A-9BD3-4447B3AA9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2385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355"/>
          </a:solidFill>
          <a:ln xmlns:a="http://schemas.openxmlformats.org/drawingml/2006/main" w="0">
            <a:solidFill>
              <a:srgbClr val="2D835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74B368-DFCC-4A66-9AD1-0169878D6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438525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477D9D-ABBC-4C44-8E1A-84AB45626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1910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质检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019C63-8B90-4E4F-A2EC-C48CD9F84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667250"/>
            <a:ext cx="2133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rPr>
              <a:t>渲染并修正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37A1649-0CB2-46B7-803E-FD7D8B598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562600"/>
            <a:ext cx="121920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F30"/>
          </a:solidFill>
          <a:ln xmlns:a="http://schemas.openxmlformats.org/drawingml/2006/main" w="0">
            <a:solidFill>
              <a:srgbClr val="123F3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8AEA2EE-ACC7-48BA-8090-02D37754E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rPr>
              <a:t>INPUT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16022F-EFFD-4C5B-B61A-B4879C25A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150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原始材料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6504E98-DFE9-44A6-B2B5-B38DFAF2D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5829300"/>
            <a:ext cx="95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8355"/>
          </a:solidFill>
          <a:ln xmlns:a="http://schemas.openxmlformats.org/drawingml/2006/main" w="0">
            <a:solidFill>
              <a:srgbClr val="2D835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9F97259-9A1C-42A8-A093-2666B462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8293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rPr>
              <a:t>MAP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4B4D553-55CF-4CBF-BCB7-6D549DE10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61150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故事结构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77C8429-2AE0-4C8D-9F00-DF2859A7A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5829300"/>
            <a:ext cx="95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8355"/>
          </a:solidFill>
          <a:ln xmlns:a="http://schemas.openxmlformats.org/drawingml/2006/main" w="0">
            <a:solidFill>
              <a:srgbClr val="2D8355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8441F5B-4B2D-41BE-A2FD-002DBC7F7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8293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rPr>
              <a:t>LAYOUT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C092117-333A-4484-972E-E793A0CF7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61150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可编辑页面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BC8B2D3-A6B7-477B-B794-18DA7B75E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5829300"/>
            <a:ext cx="95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8355"/>
          </a:solidFill>
          <a:ln xmlns:a="http://schemas.openxmlformats.org/drawingml/2006/main" w="0">
            <a:solidFill>
              <a:srgbClr val="2D8355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E8B9858-B4F8-4767-B096-630119780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8293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rPr>
              <a:t>QA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3C0E0B2-5904-46F5-AA6E-43C3A8723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1150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渲染成品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063A46F-FDF2-457C-87C2-15A4F3118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2848399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FA4019B-1108-4DC3-8FA3-C02B3C214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49BF0F-CA4C-4F05-969A-7EF49684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76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TIMELINE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DE5773-2459-4CC9-9568-6E89CB7F7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1C0998-3489-4FFC-9764-7D8786B86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rPr>
              <a:t>MOMENTUM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56FE98-834E-4003-8647-4D6A9A56F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8286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1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把时间线写成变化，而不是日期清单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A9373B-9783-4658-926D-ADA2F98F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每个节点只回答：发生了什么，以及它为何改变下一步。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F08CA3-BF37-4F9F-9083-FDCFB4DD4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733800"/>
            <a:ext cx="990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C"/>
          </a:solidFill>
          <a:ln xmlns:a="http://schemas.openxmlformats.org/drawingml/2006/main" w="0">
            <a:solidFill>
              <a:srgbClr val="CBD5C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52D890-13D1-4984-ACC5-2AA0BCB40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5528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111453-8D99-4DA6-B03E-FB302DA02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099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D6B43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1D6B43"/>
                </a:solidFill>
                <a:latin typeface="Georgia"/>
                <a:ea typeface="Georgia"/>
                <a:cs typeface="Georgia"/>
              </a:rPr>
              <a:t>2022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C54422-B4C2-433A-86A7-A0C29276D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验证问题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870FFE-6FB0-4875-B7D9-134D98D06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629150"/>
            <a:ext cx="1600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一个可验证的阶段结果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43EAD3-6A3B-411C-9924-1E3103AA4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528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7DB364-48F1-4E6E-9462-603AAED8B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0099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D6B43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1D6B43"/>
                </a:solidFill>
                <a:latin typeface="Georgia"/>
                <a:ea typeface="Georgia"/>
                <a:cs typeface="Georgia"/>
              </a:rPr>
              <a:t>2023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8EA793-8699-4F26-94CD-91E60081D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1719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形成方法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77755E-9E62-423C-B2DF-D0F2AEDDA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629150"/>
            <a:ext cx="1600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一个可验证的阶段结果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DED043-67A2-4592-9CE5-00104B510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5528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400053-D46D-45B8-9B63-C98B1F33E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0099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D6B43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1D6B43"/>
                </a:solidFill>
                <a:latin typeface="Georgia"/>
                <a:ea typeface="Georgia"/>
                <a:cs typeface="Georgia"/>
              </a:rPr>
              <a:t>2024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6DEAC4-DB3A-4478-9045-3D5D5ADF4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1719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扩大应用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F3DA9C-B26B-4CCF-AF39-427CA41B9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629150"/>
            <a:ext cx="1600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一个可验证的阶段结果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D7CD51-DCBD-43B4-9835-661B009FE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5528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BE1CBF-680D-4A30-8267-DEDF62666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099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2025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F95B2E-05BA-424A-9F8C-56FF6168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1719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建立标准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45738C-4FA5-4B45-B4D7-96C9A3F00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629150"/>
            <a:ext cx="1600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一个可验证的阶段结果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3DEACA-EBEB-4EF8-9A2B-6CD4D3AFA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5528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7A1A0C-7AAC-4E2B-94FB-11DC95FE1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30099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D6B43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1D6B43"/>
                </a:solidFill>
                <a:latin typeface="Georgia"/>
                <a:ea typeface="Georgia"/>
                <a:cs typeface="Georgia"/>
              </a:rPr>
              <a:t>2026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B977A6-30F0-4DE7-A206-548478325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1719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规模化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F9E849C-B5E0-43EB-BE5F-F281BA822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629150"/>
            <a:ext cx="1600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一个可验证的阶段结果</a:t>
            </a:r>
          </a:p>
        </p:txBody>
      </p:sp>
    </p:spTree>
    <p:extLst>
      <p:ext uri="{BB962C8B-B14F-4D97-AF65-F5344CB8AC3E}">
        <p14:creationId xmlns:p14="http://schemas.microsoft.com/office/powerpoint/2010/main" val="134486100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28BE6B-E830-41B5-ACC5-BBA0F6D32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7BF34F-E21B-49A3-975A-9AA0FF68D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76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COMPARISON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2980F0-1548-4A35-9F98-B228F7CBA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2F19D6-8406-424F-B9FA-28C8CB2CD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rPr>
              <a:t>BEFORE / AFTER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60EE3B-CA6C-4081-89E2-132194909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8286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1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对比的重点，是变化带来的意义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E8ED3E-B1E6-4392-AA94-E95F06D79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使用同一维度和同一尺度，避免左右两边各说各话。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BFBE54-9660-428D-9988-39231D833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4762500" cy="26670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7EFE8"/>
          </a:solidFill>
          <a:ln xmlns:a="http://schemas.openxmlformats.org/drawingml/2006/main" w="0">
            <a:solidFill>
              <a:srgbClr val="E7EF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E26B4E-C38F-44F3-8C55-29B8E25AF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857500"/>
            <a:ext cx="4762500" cy="26670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0B3B2A"/>
          </a:solidFill>
          <a:ln xmlns:a="http://schemas.openxmlformats.org/drawingml/2006/main" w="0">
            <a:solidFill>
              <a:srgbClr val="0B3B2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96BB62-F9B3-4814-B784-5ABFEC925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62300"/>
            <a:ext cx="152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D6B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D6B43"/>
                </a:solidFill>
                <a:latin typeface="Microsoft YaHei"/>
                <a:ea typeface="Microsoft YaHei"/>
                <a:cs typeface="Microsoft YaHei"/>
              </a:rPr>
              <a:t>过去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84929E-6370-4233-8125-A0279E162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29050"/>
            <a:ext cx="3429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材料分散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结构依赖个人经验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修改成本高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C626F9-7CED-4682-AE38-5495F982C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162300"/>
            <a:ext cx="152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rPr>
              <a:t>现在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EE0E5A-5D19-408C-B9E2-700DFE253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829050"/>
            <a:ext cx="3429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自动诊断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按任务匹配版式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全套渲染质检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D32117-4F38-4466-B2A7-8E278B1EC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924300"/>
            <a:ext cx="5715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A573F1-017D-4AED-A764-8FAE9612C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019550"/>
            <a:ext cx="571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B3B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B3B2A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171771478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406934-6F19-430A-BC3F-BBB4F1364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719026-AC8A-4639-9FAD-54B151103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76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DATA / BAR CHART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EB5900-75BD-4245-A41D-8B7757666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A855C5-9B78-4C81-BABE-748F8CD5C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rPr>
              <a:t>DECISION METRIC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8BF44B-6EA5-4275-9914-7D506592C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8286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1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效率提升来自流程简化，而非减少判断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C5C5FB-FD3A-40E0-9C4D-9552A6570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用一个主指标和一张图回答问题。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8E99EF-731B-45B5-8F64-379454D79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266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D6B43"/>
                </a:solidFill>
                <a:latin typeface="Georgia"/>
                <a:ea typeface="Georgia"/>
                <a:cs typeface="Georgia"/>
              </a:defRPr>
            </a:pPr>
            <a:r>
              <a:rPr sz="4650" b="1">
                <a:solidFill>
                  <a:srgbClr val="1D6B43"/>
                </a:solidFill>
                <a:latin typeface="Georgia"/>
                <a:ea typeface="Georgia"/>
                <a:cs typeface="Georgia"/>
              </a:rPr>
              <a:t>2.4×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9CBCEE-6FD1-4AD8-879C-AE597A00C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交付速度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CF7454-7907-4BBE-8B43-029A1792E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从整理到初稿的平均时间</a:t>
            </a:r>
          </a:p>
        </p:txBody>
      </p:sp>
      <p:graphicFrame>
        <p:nvGraphicFramePr>
          <p:cNvPr id="20" name="Chart"/>
          <p:cNvGraphicFramePr/>
          <p:nvPr/>
        </p:nvGraphicFramePr>
        <p:xfrm>
          <a:off xmlns:a="http://schemas.openxmlformats.org/drawingml/2006/main" x="3676650" y="2800350"/>
          <a:ext xmlns:a="http://schemas.openxmlformats.org/drawingml/2006/main" cx="752475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eef9cb192c14a54"/>
          </a:graphicData>
        </a:graphic>
      </p:graphicFrame>
    </p:spTree>
    <p:extLst>
      <p:ext uri="{BB962C8B-B14F-4D97-AF65-F5344CB8AC3E}">
        <p14:creationId xmlns:p14="http://schemas.microsoft.com/office/powerpoint/2010/main" val="19346137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F5B937-B0DB-4BC8-9840-E3E714B82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155A96-B0EA-45C4-92C6-F9061A697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76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DATA / TREND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2D7E37-DA0A-4730-A81F-12E2A8009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E93BC2-3131-43DE-A064-213F14276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rPr>
              <a:t>TREND + MEANING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BAC3CA-F74B-453E-AC51-6F91EBB32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8286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1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质量提升发生在每一次复用之后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65C9B0-1CE5-49CE-A35E-F694449E1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趋势图负责显示变化，右侧结论负责解释变化。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685800" y="2781300"/>
          <a:ext xmlns:a="http://schemas.openxmlformats.org/drawingml/2006/main" cx="6858000" cy="2876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ffd971cb2544e24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4BA3EB-B64C-4319-B15C-CBB4A11F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990850"/>
            <a:ext cx="3219450" cy="2190750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0B3B2A"/>
          </a:solidFill>
          <a:ln xmlns:a="http://schemas.openxmlformats.org/drawingml/2006/main" w="0">
            <a:solidFill>
              <a:srgbClr val="0B3B2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344170-4DF3-477A-AA86-95D0059AA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314700"/>
            <a:ext cx="2381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345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+34pt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FC867E-DEBA-48A3-988C-253365281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1719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复用带来的质量增益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FEA146-6FA1-4E3E-86A3-F941B2634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629150"/>
            <a:ext cx="238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rPr>
              <a:t>把经验写进资源，而不是留在个人记忆里。</a:t>
            </a:r>
          </a:p>
        </p:txBody>
      </p:sp>
    </p:spTree>
    <p:extLst>
      <p:ext uri="{BB962C8B-B14F-4D97-AF65-F5344CB8AC3E}">
        <p14:creationId xmlns:p14="http://schemas.microsoft.com/office/powerpoint/2010/main" val="133091974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E8A628A-4448-4239-A304-799743D06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1CD83E-FD27-4E17-8FB3-61A6CE1EE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76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DATA / COMPOSITION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7A05C7-C93B-4B14-BFCD-BF4E3CD22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DEF0D7-99E6-438A-B497-16E325637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rPr>
              <a:t>COMPOSITION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D786EE-502E-495F-9DD0-B8091DEFB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8286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1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一套好演示，时间应该花在哪里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D5078F-DF11-45FC-8397-CDBE3EFF1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结构和证据优先，装饰只负责强化层级。</a:t>
            </a:r>
          </a:p>
        </p:txBody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685800" y="2724150"/>
          <a:ext xmlns:a="http://schemas.openxmlformats.org/drawingml/2006/main" cx="4953000" cy="31051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6d55dde13354c0e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203490-5D11-4929-9FA9-18E657A53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028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3B2A"/>
          </a:solidFill>
          <a:ln xmlns:a="http://schemas.openxmlformats.org/drawingml/2006/main" w="0">
            <a:solidFill>
              <a:srgbClr val="0B3B2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ED131F-80F1-4CE5-8FCB-6C19BAFDE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9908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结构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8A82C1-87F4-409D-AAD5-C756E3803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9908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0B3B2A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0B3B2A"/>
                </a:solidFill>
                <a:latin typeface="Georgia"/>
                <a:ea typeface="Georgia"/>
                <a:cs typeface="Georgia"/>
              </a:rPr>
              <a:t>35%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3F489A-C99D-4A7A-B107-E745B9E0D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90900"/>
            <a:ext cx="4000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C"/>
          </a:solidFill>
          <a:ln xmlns:a="http://schemas.openxmlformats.org/drawingml/2006/main" w="0">
            <a:solidFill>
              <a:srgbClr val="CBD5C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44F93D-E04E-40BE-AB06-BA51687F9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6576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63CC21-3D2F-48B1-A29D-EB562FFC8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61950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证据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742204-8891-417B-8DBF-E4BDDE333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6195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D6B43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D6B43"/>
                </a:solidFill>
                <a:latin typeface="Georgia"/>
                <a:ea typeface="Georgia"/>
                <a:cs typeface="Georgia"/>
              </a:rPr>
              <a:t>30%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CEC96F-F2FA-492E-A6B2-489A8E5A5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019550"/>
            <a:ext cx="4000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C"/>
          </a:solidFill>
          <a:ln xmlns:a="http://schemas.openxmlformats.org/drawingml/2006/main" w="0">
            <a:solidFill>
              <a:srgbClr val="CBD5C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E14726-A6CF-4D2E-8BCB-4A5E4CA55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2862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FC3B2"/>
          </a:solidFill>
          <a:ln xmlns:a="http://schemas.openxmlformats.org/drawingml/2006/main" w="0">
            <a:solidFill>
              <a:srgbClr val="AFC3B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37D2C6-953D-470F-9859-7855F26A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2481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视觉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0AB635-D826-446F-B6C8-AC1C56639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2481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AFC3B2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AFC3B2"/>
                </a:solidFill>
                <a:latin typeface="Georgia"/>
                <a:ea typeface="Georgia"/>
                <a:cs typeface="Georgia"/>
              </a:rPr>
              <a:t>25%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92357C-0429-4888-979D-8CD6ADC9C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648200"/>
            <a:ext cx="4000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C"/>
          </a:solidFill>
          <a:ln xmlns:a="http://schemas.openxmlformats.org/drawingml/2006/main" w="0">
            <a:solidFill>
              <a:srgbClr val="CBD5C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5FCAE1-810B-47AA-849A-C27A72D14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9149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437A9D-C5F9-4675-9939-8D1BEF1F5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87680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装饰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AEE7DD-E513-4A86-9ADB-9CDD1F52F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8768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10%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D35425-73FF-484B-A71E-4BF241D93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276850"/>
            <a:ext cx="4000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C"/>
          </a:solidFill>
          <a:ln xmlns:a="http://schemas.openxmlformats.org/drawingml/2006/main" w="0">
            <a:solidFill>
              <a:srgbClr val="CBD5CC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5628457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B3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F4219E-CE93-40AE-8033-7DC5E99FB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387FB0-51BA-46ED-AD07-D24C29FD3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76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7EF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7EFE8"/>
                </a:solidFill>
                <a:latin typeface="Microsoft YaHei"/>
                <a:ea typeface="Microsoft YaHei"/>
                <a:cs typeface="Microsoft YaHei"/>
              </a:rPr>
              <a:t>RESEARCH METHOD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7D7B0C-8D27-4ECC-9A10-01B81A414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2E0AF0-6C77-443F-B458-0F433E15D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rPr>
              <a:t>METHOD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82C62B-BD49-40C3-AC57-360EE5CE8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8286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方法页要让过程可复核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18EAC-864D-4E09-99DB-C12E19663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rPr>
              <a:t>用输入、处理、验证、输出四个环节建立可信度。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87BC7D-35A0-4575-97C2-55E7659BD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28950"/>
            <a:ext cx="2305050" cy="2114550"/>
          </a:xfrm>
          <a:prstGeom xmlns:a="http://schemas.openxmlformats.org/drawingml/2006/main" prst="roundRect">
            <a:avLst>
              <a:gd name="adj" fmla="val 7207"/>
            </a:avLst>
          </a:prstGeom>
          <a:solidFill xmlns:a="http://schemas.openxmlformats.org/drawingml/2006/main">
            <a:srgbClr val="2D8355"/>
          </a:solidFill>
          <a:ln xmlns:a="http://schemas.openxmlformats.org/drawingml/2006/main" w="0">
            <a:solidFill>
              <a:srgbClr val="2D83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A54348-BA7C-452A-8802-CDED2DD85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575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8D440E-F6E3-4CFC-84C1-03A5A1B2D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90950"/>
            <a:ext cx="1752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62BA80-C931-4332-A0EF-9A6489AA2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43400"/>
            <a:ext cx="1752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200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rPr>
              <a:t>原始材料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rPr>
              <a:t>数据与来源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9DBBE0-E867-4837-A7A4-C01EBF483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028950"/>
            <a:ext cx="2305050" cy="2114550"/>
          </a:xfrm>
          <a:prstGeom xmlns:a="http://schemas.openxmlformats.org/drawingml/2006/main" prst="roundRect">
            <a:avLst>
              <a:gd name="adj" fmla="val 7207"/>
            </a:avLst>
          </a:prstGeom>
          <a:solidFill xmlns:a="http://schemas.openxmlformats.org/drawingml/2006/main">
            <a:srgbClr val="2D8355"/>
          </a:solidFill>
          <a:ln xmlns:a="http://schemas.openxmlformats.org/drawingml/2006/main" w="0">
            <a:solidFill>
              <a:srgbClr val="2D835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0698F0-101E-4E02-B3B5-A3982CE1F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2575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0758A1-FFA5-4F7F-8926-E9FC877D4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790950"/>
            <a:ext cx="1752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处理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AECE74-ADDB-424B-9608-F37860D4E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343400"/>
            <a:ext cx="1752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200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rPr>
              <a:t>归纳主题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rPr>
              <a:t>提取证据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4DE929-2C88-4D36-87DD-9E39B6CB0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28950"/>
            <a:ext cx="2305050" cy="2114550"/>
          </a:xfrm>
          <a:prstGeom xmlns:a="http://schemas.openxmlformats.org/drawingml/2006/main" prst="roundRect">
            <a:avLst>
              <a:gd name="adj" fmla="val 7207"/>
            </a:avLst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F21573-0520-455B-A97B-6DBD7029C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2575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3B2A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0B3B2A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331CEB-85E4-43C8-B62B-F70A9B0DA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790950"/>
            <a:ext cx="1752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3B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B3B2A"/>
                </a:solidFill>
                <a:latin typeface="Microsoft YaHei"/>
                <a:ea typeface="Microsoft YaHei"/>
                <a:cs typeface="Microsoft YaHei"/>
              </a:rPr>
              <a:t>验证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A38FE2-9D10-4C44-9C2B-CA4B3EB7F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343400"/>
            <a:ext cx="1752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200" b="0">
                <a:solidFill>
                  <a:srgbClr val="0B3B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0B3B2A"/>
                </a:solidFill>
                <a:latin typeface="Microsoft YaHei"/>
                <a:ea typeface="Microsoft YaHei"/>
                <a:cs typeface="Microsoft YaHei"/>
              </a:rPr>
              <a:t>核对事实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>
                <a:solidFill>
                  <a:srgbClr val="0B3B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0B3B2A"/>
                </a:solidFill>
                <a:latin typeface="Microsoft YaHei"/>
                <a:ea typeface="Microsoft YaHei"/>
                <a:cs typeface="Microsoft YaHei"/>
              </a:rPr>
              <a:t>检查偏差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5B4B17-9389-4755-8036-0AB8ADE29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028950"/>
            <a:ext cx="2305050" cy="2114550"/>
          </a:xfrm>
          <a:prstGeom xmlns:a="http://schemas.openxmlformats.org/drawingml/2006/main" prst="roundRect">
            <a:avLst>
              <a:gd name="adj" fmla="val 7207"/>
            </a:avLst>
          </a:prstGeom>
          <a:solidFill xmlns:a="http://schemas.openxmlformats.org/drawingml/2006/main">
            <a:srgbClr val="2D8355"/>
          </a:solidFill>
          <a:ln xmlns:a="http://schemas.openxmlformats.org/drawingml/2006/main" w="0">
            <a:solidFill>
              <a:srgbClr val="2D835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16C99F-8517-4994-9281-BEF0D5C9C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2575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CCE268-38A1-43C5-A751-F114B04E0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790950"/>
            <a:ext cx="1752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输出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F9BE17-320C-4D81-8166-622928896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343400"/>
            <a:ext cx="1752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200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rPr>
              <a:t>形成结论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rPr>
              <a:t>给出行动</a:t>
            </a:r>
          </a:p>
        </p:txBody>
      </p:sp>
    </p:spTree>
    <p:extLst>
      <p:ext uri="{BB962C8B-B14F-4D97-AF65-F5344CB8AC3E}">
        <p14:creationId xmlns:p14="http://schemas.microsoft.com/office/powerpoint/2010/main" val="203494261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8FA9ED-D2A0-4BB6-B740-33EA6F027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EDD6B0-4EAF-43A8-844C-F63DB17BC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76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FINDINGS MATRIX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FA01A2-CB89-4112-83E7-137556CD9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2C0BCD-DE0F-4E40-90C3-71E9CAF0B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rPr>
              <a:t>TWO DIMENSIONS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E67CAB-1AFF-4F06-AD33-23D9BD86A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8286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1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用二维矩阵，把信息转成优先级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702DA5-765E-464E-BB0A-F68147081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横轴表示价值，纵轴表示可行性。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254920-49EE-449F-94E5-98C36EA7D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857500"/>
            <a:ext cx="56197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C96837-EBF9-4613-8932-2DC33F572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2857500"/>
            <a:ext cx="952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C"/>
          </a:solidFill>
          <a:ln xmlns:a="http://schemas.openxmlformats.org/drawingml/2006/main" w="0">
            <a:solidFill>
              <a:srgbClr val="CBD5C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94892C-4AD5-4E2B-948F-7D999A338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286250"/>
            <a:ext cx="561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C"/>
          </a:solidFill>
          <a:ln xmlns:a="http://schemas.openxmlformats.org/drawingml/2006/main" w="0">
            <a:solidFill>
              <a:srgbClr val="CBD5C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DB30AF-1731-4036-BE83-E8EFD271A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146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高可行性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034C43-6510-4BB0-ADAA-29149CE4E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149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低可行性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8D75B9-B639-4FCF-BE56-C553409E3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8483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低价值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632871-9E4B-4B75-9C42-369D559F4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8483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高价值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FC86C3-E4E2-4588-A06B-441FBAF03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7625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FC3B2"/>
          </a:solidFill>
          <a:ln xmlns:a="http://schemas.openxmlformats.org/drawingml/2006/main" w="0">
            <a:solidFill>
              <a:srgbClr val="AFC3B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AAF496-2F41-4FCB-85BC-207A06906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467100"/>
            <a:ext cx="933450" cy="933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BCB5EA-5170-47D2-94D7-79B063F9C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162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516D6A-E818-4C3A-9DB8-BF3F51F17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9433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355"/>
          </a:solidFill>
          <a:ln xmlns:a="http://schemas.openxmlformats.org/drawingml/2006/main" w="0">
            <a:solidFill>
              <a:srgbClr val="2D835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53B261-3C1E-4242-B947-42AED6BE8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629150"/>
            <a:ext cx="72390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3B2A"/>
          </a:solidFill>
          <a:ln xmlns:a="http://schemas.openxmlformats.org/drawingml/2006/main" w="0">
            <a:solidFill>
              <a:srgbClr val="0B3B2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8F2D8A-EF40-4394-A064-973D631C6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086100"/>
            <a:ext cx="3219450" cy="2305050"/>
          </a:xfrm>
          <a:prstGeom xmlns:a="http://schemas.openxmlformats.org/drawingml/2006/main" prst="roundRect">
            <a:avLst>
              <a:gd name="adj" fmla="val 6612"/>
            </a:avLst>
          </a:prstGeom>
          <a:solidFill xmlns:a="http://schemas.openxmlformats.org/drawingml/2006/main">
            <a:srgbClr val="E7EFE8"/>
          </a:solidFill>
          <a:ln xmlns:a="http://schemas.openxmlformats.org/drawingml/2006/main" w="0">
            <a:solidFill>
              <a:srgbClr val="E7EF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C68E03-9DBA-41A3-AF73-303C7EEE9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3909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D6B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D6B43"/>
                </a:solidFill>
                <a:latin typeface="Microsoft YaHei"/>
                <a:ea typeface="Microsoft YaHei"/>
                <a:cs typeface="Microsoft YaHei"/>
              </a:rPr>
              <a:t>优先做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B0944D-9714-488A-860B-73C3C2F51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000500"/>
            <a:ext cx="2381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高价值、低阻力的事项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立即进入下一轮验证</a:t>
            </a:r>
          </a:p>
        </p:txBody>
      </p:sp>
    </p:spTree>
    <p:extLst>
      <p:ext uri="{BB962C8B-B14F-4D97-AF65-F5344CB8AC3E}">
        <p14:creationId xmlns:p14="http://schemas.microsoft.com/office/powerpoint/2010/main" val="158917854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90508DC-F42B-418A-A3FF-2054B687F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FD1EC7-1364-4DAA-92CF-DC60D1C57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76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RISK MATRIX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5B5579-7BB0-422D-B73B-6522E203E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D0B5F4-8B1B-4AD9-BAC5-62850B894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89A2B"/>
                </a:solidFill>
                <a:latin typeface="Microsoft YaHei"/>
                <a:ea typeface="Microsoft YaHei"/>
                <a:cs typeface="Microsoft YaHei"/>
              </a:rPr>
              <a:t>RISK + RESPONSE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7F1C1C-76DE-4A02-8378-96E6D1F3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8286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1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风险页必须同时给出应对方式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F6AE05-0030-46BE-839E-442C42183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只标红问题没有价值；明确触发条件、负责人和动作。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3C7405-D449-48F9-BD2B-D185D8A04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914900"/>
            <a:ext cx="11239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7EFE8"/>
          </a:solidFill>
          <a:ln xmlns:a="http://schemas.openxmlformats.org/drawingml/2006/main" w="0">
            <a:solidFill>
              <a:srgbClr val="E7EF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CA2B04-3216-404D-8C28-2F7583BB9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914900"/>
            <a:ext cx="11239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7EFE8"/>
          </a:solidFill>
          <a:ln xmlns:a="http://schemas.openxmlformats.org/drawingml/2006/main" w="0">
            <a:solidFill>
              <a:srgbClr val="E7EF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594BA0-7660-4555-92A6-E15A5633F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914900"/>
            <a:ext cx="11239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5E4BC"/>
          </a:solidFill>
          <a:ln xmlns:a="http://schemas.openxmlformats.org/drawingml/2006/main" w="0">
            <a:solidFill>
              <a:srgbClr val="F5E4B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0CEE26-E86D-4068-A87E-82A0CB52A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57650"/>
            <a:ext cx="11239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7EFE8"/>
          </a:solidFill>
          <a:ln xmlns:a="http://schemas.openxmlformats.org/drawingml/2006/main" w="0">
            <a:solidFill>
              <a:srgbClr val="E7EF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1A0C8E-443C-4A21-A39F-6083AC93F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057650"/>
            <a:ext cx="11239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5E4BC"/>
          </a:solidFill>
          <a:ln xmlns:a="http://schemas.openxmlformats.org/drawingml/2006/main" w="0">
            <a:solidFill>
              <a:srgbClr val="F5E4B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69AD13-C7BF-4B74-B561-2C799F5CD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057650"/>
            <a:ext cx="11239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BC17A"/>
          </a:solidFill>
          <a:ln xmlns:a="http://schemas.openxmlformats.org/drawingml/2006/main" w="0">
            <a:solidFill>
              <a:srgbClr val="EBC17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AEBE8B-683F-4E97-B0FD-93799D782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200400"/>
            <a:ext cx="11239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5E4BC"/>
          </a:solidFill>
          <a:ln xmlns:a="http://schemas.openxmlformats.org/drawingml/2006/main" w="0">
            <a:solidFill>
              <a:srgbClr val="F5E4B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C1724F-1BEE-44AB-A39A-300A3F3F9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200400"/>
            <a:ext cx="11239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BC17A"/>
          </a:solidFill>
          <a:ln xmlns:a="http://schemas.openxmlformats.org/drawingml/2006/main" w="0">
            <a:solidFill>
              <a:srgbClr val="EBC17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A938FA-AC96-4BD3-B82E-1CAB9ACF9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200400"/>
            <a:ext cx="11239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33BBE3-D715-40E9-AD90-217F1E4E9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影响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E2FEDF-C403-4B15-B764-9AEEDAE38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905500"/>
            <a:ext cx="3600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发生概率 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420CE0-371C-4CF1-8065-5D032FE26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429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3B2A"/>
          </a:solidFill>
          <a:ln xmlns:a="http://schemas.openxmlformats.org/drawingml/2006/main" w="0">
            <a:solidFill>
              <a:srgbClr val="0B3B2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1570C8-C3C5-4401-B3AA-90B62FBF9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49567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119B0B-C125-4D4A-BFC4-D42DA5717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3243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147051-E1F9-450E-B6B0-7A1F75AFA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39102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298AD0-51C2-4BA3-8CC2-8115F0CF8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51435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C8B0C3-3D65-40CB-8C69-28DBDE578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521017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546BE4-B044-4E30-90FC-8BFC15CFD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1146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7809F1-99FF-4530-B6A1-727B91933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1623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3593C1-39E9-4B72-AC13-C3832EE84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086100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事实错误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768D5F9-B083-4533-B867-41C59A479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429000"/>
            <a:ext cx="4533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关键数据逐项复核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CB154AB-D9B2-4253-BF07-5AB9235F8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9719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1E7D113-D974-4F4C-8B3B-1935DF79C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0195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C7D81C-3338-413F-8716-EDE9EA1F4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943350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信息泄露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9590F1B-0CC9-453E-BF0B-53C48A0CA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286250"/>
            <a:ext cx="4533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输入内容分级处理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A566A81-CE86-4464-A0F3-4E024C068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8291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AC476E2-5F18-4C36-B95A-FD07778E6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8768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7367797-7BC7-4CBA-BF1A-96C46A92A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800600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视觉失真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A66BC69-F7B9-46E2-9ADA-415B486C8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143500"/>
            <a:ext cx="4533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全套渲染后再交付</a:t>
            </a:r>
          </a:p>
        </p:txBody>
      </p:sp>
    </p:spTree>
    <p:extLst>
      <p:ext uri="{BB962C8B-B14F-4D97-AF65-F5344CB8AC3E}">
        <p14:creationId xmlns:p14="http://schemas.microsoft.com/office/powerpoint/2010/main" val="88084355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B3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5F5DE5-C347-4189-827D-CE7A42865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1C6F77-1DF2-4231-9D46-F80DBFCEE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76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7EF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7EFE8"/>
                </a:solidFill>
                <a:latin typeface="Microsoft YaHei"/>
                <a:ea typeface="Microsoft YaHei"/>
                <a:cs typeface="Microsoft YaHei"/>
              </a:rPr>
              <a:t>CASE / QUOTE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63FD68-26B4-43B7-9230-967F3DA14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A37231-FE96-4C94-9E30-BE147210B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1047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909"/>
          </a:bodyPr>
          <a:lstStyle xmlns:a="http://schemas.openxmlformats.org/drawingml/2006/main"/>
          <a:p xmlns:a="http://schemas.openxmlformats.org/drawingml/2006/main">
            <a:pPr algn="l">
              <a:defRPr sz="660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660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6F132E-9978-4968-99CB-1C0C84F62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04950"/>
            <a:ext cx="6096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用户不需要学会设计，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3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只需要把真实材料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3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交给系统。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EB069E-63C1-43D2-93D8-6E519B315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638550"/>
            <a:ext cx="209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C3B2"/>
          </a:solidFill>
          <a:ln xmlns:a="http://schemas.openxmlformats.org/drawingml/2006/main" w="0">
            <a:solidFill>
              <a:srgbClr val="AFC3B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DED32F-E530-437B-8C68-9103D290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94335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D7E2D8"/>
                </a:solidFill>
                <a:latin typeface="Microsoft YaHei"/>
                <a:ea typeface="Microsoft YaHei"/>
                <a:cs typeface="Microsoft YaHei"/>
              </a:rPr>
              <a:t>— 资源型 skill 的产品原则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4C61F0-C488-41FF-9BD8-49CBFB8AC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066800"/>
            <a:ext cx="3448050" cy="449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F30"/>
          </a:solidFill>
          <a:ln xmlns:a="http://schemas.openxmlformats.org/drawingml/2006/main" w="9525">
            <a:solidFill>
              <a:srgbClr val="2D83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BBC58A-8E0F-43B8-A283-296DB1627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466850"/>
            <a:ext cx="1066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300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660F90-EA10-4D0B-A7A2-0D8471A28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56210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推荐方向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5C9E4C-202B-4925-9536-17583AE81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495550"/>
            <a:ext cx="2838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8355"/>
          </a:solidFill>
          <a:ln xmlns:a="http://schemas.openxmlformats.org/drawingml/2006/main" w="0">
            <a:solidFill>
              <a:srgbClr val="2D835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713598-86E8-4FA8-A870-87F348A10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686050"/>
            <a:ext cx="1066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300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4F11BC-CF6B-492A-8643-486C3C10C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78130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必要问题上限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28E498-D1A5-42FB-A03F-7C4866E90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714750"/>
            <a:ext cx="2838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8355"/>
          </a:solidFill>
          <a:ln xmlns:a="http://schemas.openxmlformats.org/drawingml/2006/main" w="0">
            <a:solidFill>
              <a:srgbClr val="2D835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45F2D0-E6AE-4C10-A9B8-9B0AA48CB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905250"/>
            <a:ext cx="1066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3000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100%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577FBA-70F0-4094-A87F-ABA69FA03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00050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逐页渲染质检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2EF574-DF06-4826-9E22-B931576CB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6743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8355"/>
          </a:solidFill>
          <a:ln xmlns:a="http://schemas.openxmlformats.org/drawingml/2006/main" w="0">
            <a:solidFill>
              <a:srgbClr val="2D835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7D6977-10F5-423E-93F7-1DD92C2E5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81600"/>
            <a:ext cx="6248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RAW MATERIAL → CLEAR STORY → EDITABLE DECK → RENDER QA</a:t>
            </a:r>
          </a:p>
        </p:txBody>
      </p:sp>
    </p:spTree>
    <p:extLst>
      <p:ext uri="{BB962C8B-B14F-4D97-AF65-F5344CB8AC3E}">
        <p14:creationId xmlns:p14="http://schemas.microsoft.com/office/powerpoint/2010/main" val="39331071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758EBF-325F-4FEA-9A42-DC016F11F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43"/>
          </a:solidFill>
          <a:ln xmlns:a="http://schemas.openxmlformats.org/drawingml/2006/main" w="0">
            <a:solidFill>
              <a:srgbClr val="1D6B4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A0D01E-E100-43C5-8990-F93CDF6BA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76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CLOSING / NEXT ACTION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FB5E1F-C1AA-4C71-A823-50B1C7F46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50A4B5-DF98-4122-A9DE-1705064C0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6667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37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7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好的演示，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37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75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让下一步变得简单。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37F642-F39C-4CBB-A82C-7A31D7846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619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67168"/>
                </a:solidFill>
                <a:latin typeface="Microsoft YaHei"/>
                <a:ea typeface="Microsoft YaHei"/>
                <a:cs typeface="Microsoft YaHei"/>
              </a:rPr>
              <a:t>把材料交进来，剩下的由 skill 完成。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F144F5-C4BB-47B9-8027-BFF042E78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2305050" cy="1200150"/>
          </a:xfrm>
          <a:prstGeom xmlns:a="http://schemas.openxmlformats.org/drawingml/2006/main" prst="roundRect">
            <a:avLst>
              <a:gd name="adj" fmla="val 12698"/>
            </a:avLst>
          </a:prstGeom>
          <a:solidFill xmlns:a="http://schemas.openxmlformats.org/drawingml/2006/main">
            <a:srgbClr val="E7EFE8"/>
          </a:solidFill>
          <a:ln xmlns:a="http://schemas.openxmlformats.org/drawingml/2006/main" w="0">
            <a:solidFill>
              <a:srgbClr val="E7EF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A7FB71-57FA-475F-BF0C-BF4D5D951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291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D6B43"/>
                </a:solidFill>
                <a:latin typeface="Georgia"/>
                <a:ea typeface="Georgia"/>
                <a:cs typeface="Georgia"/>
              </a:defRPr>
            </a:pPr>
            <a:r>
              <a:rPr sz="1125" b="1">
                <a:solidFill>
                  <a:srgbClr val="1D6B43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4AA210-485D-4A29-83D2-E81600B8C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86300"/>
            <a:ext cx="1847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提供材料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324260-8A22-40AD-83FB-AD45C2835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019550"/>
            <a:ext cx="2305050" cy="1200150"/>
          </a:xfrm>
          <a:prstGeom xmlns:a="http://schemas.openxmlformats.org/drawingml/2006/main" prst="roundRect">
            <a:avLst>
              <a:gd name="adj" fmla="val 12698"/>
            </a:avLst>
          </a:prstGeom>
          <a:solidFill xmlns:a="http://schemas.openxmlformats.org/drawingml/2006/main">
            <a:srgbClr val="E7EFE8"/>
          </a:solidFill>
          <a:ln xmlns:a="http://schemas.openxmlformats.org/drawingml/2006/main" w="0">
            <a:solidFill>
              <a:srgbClr val="E7EF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8BADFB-DFC2-42D9-A06A-1295EE2A5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2291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D6B43"/>
                </a:solidFill>
                <a:latin typeface="Georgia"/>
                <a:ea typeface="Georgia"/>
                <a:cs typeface="Georgia"/>
              </a:defRPr>
            </a:pPr>
            <a:r>
              <a:rPr sz="1125" b="1">
                <a:solidFill>
                  <a:srgbClr val="1D6B43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B63652-3FDF-4220-AB86-E77DC8326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686300"/>
            <a:ext cx="1847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2019"/>
                </a:solidFill>
                <a:latin typeface="Microsoft YaHei"/>
                <a:ea typeface="Microsoft YaHei"/>
                <a:cs typeface="Microsoft YaHei"/>
              </a:rPr>
              <a:t>确认听众与时长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AE22B4-0EE6-4AEF-8464-A09457FE9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9550"/>
            <a:ext cx="2305050" cy="1200150"/>
          </a:xfrm>
          <a:prstGeom xmlns:a="http://schemas.openxmlformats.org/drawingml/2006/main" prst="roundRect">
            <a:avLst>
              <a:gd name="adj" fmla="val 12698"/>
            </a:avLst>
          </a:prstGeom>
          <a:solidFill xmlns:a="http://schemas.openxmlformats.org/drawingml/2006/main">
            <a:srgbClr val="0B3B2A"/>
          </a:solidFill>
          <a:ln xmlns:a="http://schemas.openxmlformats.org/drawingml/2006/main" w="0">
            <a:solidFill>
              <a:srgbClr val="0B3B2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AA8E85-D112-4A05-806D-F01F674ED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2291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89A2B"/>
                </a:solidFill>
                <a:latin typeface="Georgia"/>
                <a:ea typeface="Georgia"/>
                <a:cs typeface="Georgia"/>
              </a:defRPr>
            </a:pPr>
            <a:r>
              <a:rPr sz="1125" b="1">
                <a:solidFill>
                  <a:srgbClr val="D89A2B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C965EC-59DB-4D68-B793-95C7903D9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686300"/>
            <a:ext cx="1847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领取可编辑成品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15638F-78A1-4221-A117-EB2110980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066800"/>
            <a:ext cx="1962150" cy="434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569FD8-BB50-4DAE-81EA-C0C6183E8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1714500"/>
            <a:ext cx="1581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B3B2A"/>
                </a:solidFill>
                <a:latin typeface="Georgia"/>
                <a:ea typeface="Georgia"/>
                <a:cs typeface="Georgia"/>
              </a:defRPr>
            </a:pPr>
            <a:r>
              <a:rPr sz="2250" b="1">
                <a:solidFill>
                  <a:srgbClr val="0B3B2A"/>
                </a:solidFill>
                <a:latin typeface="Georgia"/>
                <a:ea typeface="Georgia"/>
                <a:cs typeface="Georgia"/>
              </a:rPr>
              <a:t>READY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D9BC75-6372-4DC7-B40B-2765F184C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552700"/>
            <a:ext cx="15811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2400" b="1">
                <a:solidFill>
                  <a:srgbClr val="0B3B2A"/>
                </a:solidFill>
                <a:latin typeface="Georgia"/>
                <a:ea typeface="Georgia"/>
                <a:cs typeface="Georgia"/>
              </a:defRPr>
            </a:pPr>
            <a:r>
              <a:rPr sz="2400" b="1">
                <a:solidFill>
                  <a:srgbClr val="0B3B2A"/>
                </a:solidFill>
                <a:latin typeface="Georgia"/>
                <a:ea typeface="Georgia"/>
                <a:cs typeface="Georgia"/>
              </a:rPr>
              <a:t>TO</a:t>
            </a:r>
          </a:p>
          <a:p xmlns:a="http://schemas.openxmlformats.org/drawingml/2006/main">
            <a:pPr algn="ctr">
              <a:lnSpc>
                <a:spcPct val="90000"/>
              </a:lnSpc>
              <a:buNone/>
              <a:defRPr sz="2400" b="1">
                <a:solidFill>
                  <a:srgbClr val="0B3B2A"/>
                </a:solidFill>
                <a:latin typeface="Georgia"/>
                <a:ea typeface="Georgia"/>
                <a:cs typeface="Georgia"/>
              </a:defRPr>
            </a:pPr>
            <a:r>
              <a:rPr sz="2400" b="1">
                <a:solidFill>
                  <a:srgbClr val="0B3B2A"/>
                </a:solidFill>
                <a:latin typeface="Georgia"/>
                <a:ea typeface="Georgia"/>
                <a:cs typeface="Georgia"/>
              </a:rPr>
              <a:t>PRESENT</a:t>
            </a:r>
          </a:p>
        </p:txBody>
      </p:sp>
    </p:spTree>
    <p:extLst>
      <p:ext uri="{BB962C8B-B14F-4D97-AF65-F5344CB8AC3E}">
        <p14:creationId xmlns:p14="http://schemas.microsoft.com/office/powerpoint/2010/main" val="131441685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2026-07-19T18:59:28.4070000Z</dcterms:created>
  <dcterms:modified xsi:type="dcterms:W3CDTF">2026-07-19T18:59:28.4080000Z</dcterms:modified>
</coreProperties>
</file>