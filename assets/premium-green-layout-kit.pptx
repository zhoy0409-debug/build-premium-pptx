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7f13ff24b34046" /><Relationship Type="http://schemas.openxmlformats.org/officeDocument/2006/relationships/extended-properties" Target="/docProps/app.xml" Id="Re7759bf405ff4b7f" /><Relationship Type="http://schemas.openxmlformats.org/officeDocument/2006/relationships/officeDocument" Target="/ppt/presentation.xml" Id="R0087d89506df42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27a7abe26e4f54"/>
  </p:sldMasterIdLst>
  <p:notesMasterIdLst>
    <p:notesMasterId xmlns:r="http://schemas.openxmlformats.org/officeDocument/2006/relationships" r:id="R8dde8edb3bb74e87"/>
  </p:notesMasterIdLst>
  <p:sldIdLst>
    <p:sldId xmlns:r="http://schemas.openxmlformats.org/officeDocument/2006/relationships" id="256" r:id="Rce20779e984f4403"/>
    <p:sldId xmlns:r="http://schemas.openxmlformats.org/officeDocument/2006/relationships" id="257" r:id="Rb0210b01ffbf47ef"/>
    <p:sldId xmlns:r="http://schemas.openxmlformats.org/officeDocument/2006/relationships" id="258" r:id="R6a41ae7646824c47"/>
    <p:sldId xmlns:r="http://schemas.openxmlformats.org/officeDocument/2006/relationships" id="259" r:id="Rf27b208313b2475b"/>
    <p:sldId xmlns:r="http://schemas.openxmlformats.org/officeDocument/2006/relationships" id="260" r:id="Rc0b864cfe56246c9"/>
    <p:sldId xmlns:r="http://schemas.openxmlformats.org/officeDocument/2006/relationships" id="261" r:id="R5981300d048f41cc"/>
    <p:sldId xmlns:r="http://schemas.openxmlformats.org/officeDocument/2006/relationships" id="262" r:id="R4baf63ffdc354cbb"/>
    <p:sldId xmlns:r="http://schemas.openxmlformats.org/officeDocument/2006/relationships" id="263" r:id="Rb87261e8ff7e455d"/>
    <p:sldId xmlns:r="http://schemas.openxmlformats.org/officeDocument/2006/relationships" id="264" r:id="R5e17b6ad436e4ff9"/>
    <p:sldId xmlns:r="http://schemas.openxmlformats.org/officeDocument/2006/relationships" id="265" r:id="Rb9b2641cc5f14dfb"/>
    <p:sldId xmlns:r="http://schemas.openxmlformats.org/officeDocument/2006/relationships" id="266" r:id="Rb7d8420aa60b43ee"/>
    <p:sldId xmlns:r="http://schemas.openxmlformats.org/officeDocument/2006/relationships" id="267" r:id="R61a928a005ab4101"/>
    <p:sldId xmlns:r="http://schemas.openxmlformats.org/officeDocument/2006/relationships" id="268" r:id="R7bf76ce5486548a5"/>
    <p:sldId xmlns:r="http://schemas.openxmlformats.org/officeDocument/2006/relationships" id="269" r:id="R949ef427a5714904"/>
    <p:sldId xmlns:r="http://schemas.openxmlformats.org/officeDocument/2006/relationships" id="270" r:id="R8f4fa3971a844c66"/>
    <p:sldId xmlns:r="http://schemas.openxmlformats.org/officeDocument/2006/relationships" id="271" r:id="Rebb2c27edc644073"/>
    <p:sldId xmlns:r="http://schemas.openxmlformats.org/officeDocument/2006/relationships" id="272" r:id="Rd359ec7bea5a4a87"/>
    <p:sldId xmlns:r="http://schemas.openxmlformats.org/officeDocument/2006/relationships" id="273" r:id="R18f86ecac7124c73"/>
    <p:sldId xmlns:r="http://schemas.openxmlformats.org/officeDocument/2006/relationships" id="274" r:id="Rf08f67fc542b4358"/>
    <p:sldId xmlns:r="http://schemas.openxmlformats.org/officeDocument/2006/relationships" id="275" r:id="R948136fd4e8040f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0b79905a994b8d" /><Relationship Type="http://schemas.openxmlformats.org/officeDocument/2006/relationships/slideMaster" Target="/ppt/slideMasters/slideMaster1.xml" Id="R2327a7abe26e4f54" /><Relationship Type="http://schemas.openxmlformats.org/officeDocument/2006/relationships/notesMaster" Target="/ppt/notesMasters/notesMaster1.xml" Id="R8dde8edb3bb74e87" /><Relationship Type="http://schemas.openxmlformats.org/officeDocument/2006/relationships/presProps" Target="/ppt/presProps.xml" Id="R51b4272d509842af" /><Relationship Type="http://schemas.openxmlformats.org/officeDocument/2006/relationships/tableStyles" Target="/ppt/tableStyles.xml" Id="R315bca1b98c44ee5" /><Relationship Type="http://schemas.openxmlformats.org/officeDocument/2006/relationships/slide" Target="/ppt/slides/slide1.xml" Id="Rce20779e984f4403" /><Relationship Type="http://schemas.openxmlformats.org/officeDocument/2006/relationships/slide" Target="/ppt/slides/slide2.xml" Id="Rb0210b01ffbf47ef" /><Relationship Type="http://schemas.openxmlformats.org/officeDocument/2006/relationships/slide" Target="/ppt/slides/slide3.xml" Id="R6a41ae7646824c47" /><Relationship Type="http://schemas.openxmlformats.org/officeDocument/2006/relationships/slide" Target="/ppt/slides/slide4.xml" Id="Rf27b208313b2475b" /><Relationship Type="http://schemas.openxmlformats.org/officeDocument/2006/relationships/slide" Target="/ppt/slides/slide5.xml" Id="Rc0b864cfe56246c9" /><Relationship Type="http://schemas.openxmlformats.org/officeDocument/2006/relationships/slide" Target="/ppt/slides/slide6.xml" Id="R5981300d048f41cc" /><Relationship Type="http://schemas.openxmlformats.org/officeDocument/2006/relationships/slide" Target="/ppt/slides/slide7.xml" Id="R4baf63ffdc354cbb" /><Relationship Type="http://schemas.openxmlformats.org/officeDocument/2006/relationships/slide" Target="/ppt/slides/slide8.xml" Id="Rb87261e8ff7e455d" /><Relationship Type="http://schemas.openxmlformats.org/officeDocument/2006/relationships/slide" Target="/ppt/slides/slide9.xml" Id="R5e17b6ad436e4ff9" /><Relationship Type="http://schemas.openxmlformats.org/officeDocument/2006/relationships/slide" Target="/ppt/slides/slide10.xml" Id="Rb9b2641cc5f14dfb" /><Relationship Type="http://schemas.openxmlformats.org/officeDocument/2006/relationships/slide" Target="/ppt/slides/slide11.xml" Id="Rb7d8420aa60b43ee" /><Relationship Type="http://schemas.openxmlformats.org/officeDocument/2006/relationships/slide" Target="/ppt/slides/slide12.xml" Id="R61a928a005ab4101" /><Relationship Type="http://schemas.openxmlformats.org/officeDocument/2006/relationships/slide" Target="/ppt/slides/slide13.xml" Id="R7bf76ce5486548a5" /><Relationship Type="http://schemas.openxmlformats.org/officeDocument/2006/relationships/slide" Target="/ppt/slides/slide14.xml" Id="R949ef427a5714904" /><Relationship Type="http://schemas.openxmlformats.org/officeDocument/2006/relationships/slide" Target="/ppt/slides/slide15.xml" Id="R8f4fa3971a844c66" /><Relationship Type="http://schemas.openxmlformats.org/officeDocument/2006/relationships/slide" Target="/ppt/slides/slide16.xml" Id="Rebb2c27edc644073" /><Relationship Type="http://schemas.openxmlformats.org/officeDocument/2006/relationships/slide" Target="/ppt/slides/slide17.xml" Id="Rd359ec7bea5a4a87" /><Relationship Type="http://schemas.openxmlformats.org/officeDocument/2006/relationships/slide" Target="/ppt/slides/slide18.xml" Id="R18f86ecac7124c73" /><Relationship Type="http://schemas.openxmlformats.org/officeDocument/2006/relationships/slide" Target="/ppt/slides/slide19.xml" Id="Rf08f67fc542b4358" /><Relationship Type="http://schemas.openxmlformats.org/officeDocument/2006/relationships/slide" Target="/ppt/slides/slide20.xml" Id="R948136fd4e8040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fb319a3d1041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6792dae07e4509" /><Relationship Type="http://schemas.openxmlformats.org/officeDocument/2006/relationships/notesMaster" Target="/ppt/notesMasters/notesMaster1.xml" Id="R31dbf162b04f44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db60627b2e497e" /><Relationship Type="http://schemas.openxmlformats.org/officeDocument/2006/relationships/notesMaster" Target="/ppt/notesMasters/notesMaster1.xml" Id="R127215b42a8947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689fa8bbe6460a" /><Relationship Type="http://schemas.openxmlformats.org/officeDocument/2006/relationships/notesMaster" Target="/ppt/notesMasters/notesMaster1.xml" Id="R433877c98b9f45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0f2eb5ad55475d" /><Relationship Type="http://schemas.openxmlformats.org/officeDocument/2006/relationships/notesMaster" Target="/ppt/notesMasters/notesMaster1.xml" Id="R955e7b804c3744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aa00750dce420f" /><Relationship Type="http://schemas.openxmlformats.org/officeDocument/2006/relationships/notesMaster" Target="/ppt/notesMasters/notesMaster1.xml" Id="R65d8ba365b5145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a234df974544f3" /><Relationship Type="http://schemas.openxmlformats.org/officeDocument/2006/relationships/notesMaster" Target="/ppt/notesMasters/notesMaster1.xml" Id="Ra86b99e9cb174a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ddd2ad5887432b" /><Relationship Type="http://schemas.openxmlformats.org/officeDocument/2006/relationships/notesMaster" Target="/ppt/notesMasters/notesMaster1.xml" Id="Rb4ee294827984f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cb3c6b0a2f4930" /><Relationship Type="http://schemas.openxmlformats.org/officeDocument/2006/relationships/notesMaster" Target="/ppt/notesMasters/notesMaster1.xml" Id="R196c416b1f5341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c0ea0943dc4b17" /><Relationship Type="http://schemas.openxmlformats.org/officeDocument/2006/relationships/notesMaster" Target="/ppt/notesMasters/notesMaster1.xml" Id="Rcf42386a767942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fbb07f7fa04e2e" /><Relationship Type="http://schemas.openxmlformats.org/officeDocument/2006/relationships/notesMaster" Target="/ppt/notesMasters/notesMaster1.xml" Id="R0e2a37a85ff64c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04e5b294354239" /><Relationship Type="http://schemas.openxmlformats.org/officeDocument/2006/relationships/notesMaster" Target="/ppt/notesMasters/notesMaster1.xml" Id="Rda186dd540234e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220acc8a9f4532" /><Relationship Type="http://schemas.openxmlformats.org/officeDocument/2006/relationships/notesMaster" Target="/ppt/notesMasters/notesMaster1.xml" Id="R98af98b2ec154c5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814a2cff02c4068" /><Relationship Type="http://schemas.openxmlformats.org/officeDocument/2006/relationships/notesMaster" Target="/ppt/notesMasters/notesMaster1.xml" Id="Rb7735b89bb3642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00510f74f34d0a" /><Relationship Type="http://schemas.openxmlformats.org/officeDocument/2006/relationships/notesMaster" Target="/ppt/notesMasters/notesMaster1.xml" Id="Re12feb72fb3746e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e545c9fda2940f6" /><Relationship Type="http://schemas.openxmlformats.org/officeDocument/2006/relationships/notesMaster" Target="/ppt/notesMasters/notesMaster1.xml" Id="R577eed357ee449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2d3ab96961c4b8d" /><Relationship Type="http://schemas.openxmlformats.org/officeDocument/2006/relationships/notesMaster" Target="/ppt/notesMasters/notesMaster1.xml" Id="R85d9f5f74a8c46b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33755dae97f40ee" /><Relationship Type="http://schemas.openxmlformats.org/officeDocument/2006/relationships/notesMaster" Target="/ppt/notesMasters/notesMaster1.xml" Id="Rbc355d83abf043b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112b9d9f1284fb3" /><Relationship Type="http://schemas.openxmlformats.org/officeDocument/2006/relationships/notesMaster" Target="/ppt/notesMasters/notesMaster1.xml" Id="R8e594632406d433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9d05e0b0ef47bf" /><Relationship Type="http://schemas.openxmlformats.org/officeDocument/2006/relationships/notesMaster" Target="/ppt/notesMasters/notesMaster1.xml" Id="R5f3e6fa8400b407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a28ac627a904c68" /><Relationship Type="http://schemas.openxmlformats.org/officeDocument/2006/relationships/notesMaster" Target="/ppt/notesMasters/notesMaster1.xml" Id="R9899e019bed440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c34076b6544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07a06754574084" /><Relationship Type="http://schemas.openxmlformats.org/officeDocument/2006/relationships/slideLayout" Target="/ppt/slideLayouts/slideLayout1.xml" Id="R7edc0fe9a01f4e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dc0fe9a01f4e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47a2ad1f64a30" /><Relationship Type="http://schemas.openxmlformats.org/officeDocument/2006/relationships/image" Target="/ppt/media/image.png" Id="R61a6cd84de6649b3" /><Relationship Type="http://schemas.openxmlformats.org/officeDocument/2006/relationships/notesSlide" Target="/ppt/notesSlides/notesSlide1.xml" Id="R9cf46765255a46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2f399d13749f6" /><Relationship Type="http://schemas.openxmlformats.org/officeDocument/2006/relationships/image" Target="/ppt/media/image2.png" Id="Rb27a361a872a4f76" /><Relationship Type="http://schemas.openxmlformats.org/officeDocument/2006/relationships/notesSlide" Target="/ppt/notesSlides/notesSlide2.xml" Id="R23c8db9fbae744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77ab94c644f80" /><Relationship Type="http://schemas.openxmlformats.org/officeDocument/2006/relationships/image" Target="/ppt/media/image3.png" Id="R100fd1916c9c4347" /><Relationship Type="http://schemas.openxmlformats.org/officeDocument/2006/relationships/notesSlide" Target="/ppt/notesSlides/notesSlide3.xml" Id="R246d271b1b5143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5b91e6c6042d5" /><Relationship Type="http://schemas.openxmlformats.org/officeDocument/2006/relationships/notesSlide" Target="/ppt/notesSlides/notesSlide4.xml" Id="Rae97675cb4294b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4735d4d5f4596" /><Relationship Type="http://schemas.openxmlformats.org/officeDocument/2006/relationships/notesSlide" Target="/ppt/notesSlides/notesSlide5.xml" Id="R058114b3ab364b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45a7d51e1455c" /><Relationship Type="http://schemas.openxmlformats.org/officeDocument/2006/relationships/notesSlide" Target="/ppt/notesSlides/notesSlide6.xml" Id="R5d45010b8c8f42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a800806554370" /><Relationship Type="http://schemas.openxmlformats.org/officeDocument/2006/relationships/notesSlide" Target="/ppt/notesSlides/notesSlide7.xml" Id="R05d6e2d8280442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007a6dc6847c7" /><Relationship Type="http://schemas.openxmlformats.org/officeDocument/2006/relationships/notesSlide" Target="/ppt/notesSlides/notesSlide8.xml" Id="R24e8d52185c443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eac6fe69a46ce" /><Relationship Type="http://schemas.openxmlformats.org/officeDocument/2006/relationships/notesSlide" Target="/ppt/notesSlides/notesSlide9.xml" Id="Rc408bdca7ec14e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55b6846d844d9" /><Relationship Type="http://schemas.openxmlformats.org/officeDocument/2006/relationships/notesSlide" Target="/ppt/notesSlides/notesSlide10.xml" Id="Rf2f733764fa447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6c16a8c754a54" /><Relationship Type="http://schemas.openxmlformats.org/officeDocument/2006/relationships/notesSlide" Target="/ppt/notesSlides/notesSlide11.xml" Id="R9e47aa9a3c8a4f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9f54a225f4a4c" /><Relationship Type="http://schemas.openxmlformats.org/officeDocument/2006/relationships/notesSlide" Target="/ppt/notesSlides/notesSlide12.xml" Id="Ra9f86d31498443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3648e0133411d" /><Relationship Type="http://schemas.openxmlformats.org/officeDocument/2006/relationships/chart" Target="/ppt/slides/charts/chart1.xml" Id="Rec674832aeda4fad" /><Relationship Type="http://schemas.openxmlformats.org/officeDocument/2006/relationships/notesSlide" Target="/ppt/notesSlides/notesSlide13.xml" Id="R0a97f313eb2746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51256b6664863" /><Relationship Type="http://schemas.openxmlformats.org/officeDocument/2006/relationships/chart" Target="/ppt/slides/charts/chart2.xml" Id="R70a0ad4fcb4d4d0c" /><Relationship Type="http://schemas.openxmlformats.org/officeDocument/2006/relationships/notesSlide" Target="/ppt/notesSlides/notesSlide14.xml" Id="R0acb204433a74fa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1abf3d63e4dc9" /><Relationship Type="http://schemas.openxmlformats.org/officeDocument/2006/relationships/chart" Target="/ppt/slides/charts/chart3.xml" Id="R900e1f8b926e40d4" /><Relationship Type="http://schemas.openxmlformats.org/officeDocument/2006/relationships/notesSlide" Target="/ppt/notesSlides/notesSlide15.xml" Id="R0641343ef7c94fd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8250894a843a9" /><Relationship Type="http://schemas.openxmlformats.org/officeDocument/2006/relationships/notesSlide" Target="/ppt/notesSlides/notesSlide16.xml" Id="R8a2519e4ece14bd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f48d2d2334f82" /><Relationship Type="http://schemas.openxmlformats.org/officeDocument/2006/relationships/notesSlide" Target="/ppt/notesSlides/notesSlide17.xml" Id="R645307d0a1c942c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9b2c8c12b4def" /><Relationship Type="http://schemas.openxmlformats.org/officeDocument/2006/relationships/notesSlide" Target="/ppt/notesSlides/notesSlide18.xml" Id="R1cb8d3fd9c694cd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66718773a427e" /><Relationship Type="http://schemas.openxmlformats.org/officeDocument/2006/relationships/notesSlide" Target="/ppt/notesSlides/notesSlide19.xml" Id="R83f3c70fd1264f3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b12cc2d0e45cf" /><Relationship Type="http://schemas.openxmlformats.org/officeDocument/2006/relationships/notesSlide" Target="/ppt/notesSlides/notesSlide20.xml" Id="R960304e05ce344f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分钟</c:v>
          </c:tx>
          <c:spPr>
            <a:solidFill xmlns:a="http://schemas.openxmlformats.org/drawingml/2006/main">
              <a:srgbClr val="1D6B43"/>
            </a:solidFill>
          </c:spPr>
          <c:cat>
            <c:strLit>
              <c:ptCount val="4"/>
              <c:pt idx="0">
                <c:v>材料整理</c:v>
              </c:pt>
              <c:pt idx="1">
                <c:v>故事组织</c:v>
              </c:pt>
              <c:pt idx="2">
                <c:v>版式制作</c:v>
              </c:pt>
              <c:pt idx="3">
                <c:v>最终质检</c:v>
              </c:pt>
            </c:strLit>
          </c:cat>
          <c:val>
            <c:numLit>
              <c:formatCode>General</c:formatCode>
              <c:ptCount val="4"/>
              <c:pt idx="0">
                <c:v>42</c:v>
              </c:pt>
              <c:pt idx="1">
                <c:v>31</c:v>
              </c:pt>
              <c:pt idx="2">
                <c:v>18</c:v>
              </c:pt>
              <c:pt idx="3">
                <c:v>14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6201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C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168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3EA"/>
        </a:solidFill>
      </c:spPr>
    </c:plotArea>
    <c:plotVisOnly val="1"/>
  </c:chart>
  <c:spPr>
    <a:solidFill xmlns:a="http://schemas.openxmlformats.org/drawingml/2006/main">
      <a:srgbClr val="F7F3EA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完成度</c:v>
          </c:tx>
          <c:spPr>
            <a:ln xmlns:a="http://schemas.openxmlformats.org/drawingml/2006/main" w="38100">
              <a:solidFill>
                <a:srgbClr val="1D6B43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第1次</c:v>
              </c:pt>
              <c:pt idx="1">
                <c:v>第2次</c:v>
              </c:pt>
              <c:pt idx="2">
                <c:v>第3次</c:v>
              </c:pt>
              <c:pt idx="3">
                <c:v>第4次</c:v>
              </c:pt>
              <c:pt idx="4">
                <c:v>第5次</c:v>
              </c:pt>
            </c:strLit>
          </c:cat>
          <c:val>
            <c:numLit>
              <c:formatCode>0%</c:formatCode>
              <c:ptCount val="5"/>
              <c:pt idx="0">
                <c:v>0.58</c:v>
              </c:pt>
              <c:pt idx="1">
                <c:v>0.66</c:v>
              </c:pt>
              <c:pt idx="2">
                <c:v>0.74</c:v>
              </c:pt>
              <c:pt idx="3">
                <c:v>0.85</c:v>
              </c:pt>
              <c:pt idx="4">
                <c:v>0.92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C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16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5CC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168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3EA"/>
        </a:solidFill>
      </c:spPr>
    </c:plotArea>
    <c:plotVisOnly val="1"/>
  </c:chart>
  <c:spPr>
    <a:solidFill xmlns:a="http://schemas.openxmlformats.org/drawingml/2006/main">
      <a:srgbClr val="F7F3EA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投入</c:v>
          </c:tx>
          <c:dPt>
            <c:idx val="0"/>
            <c:spPr>
              <a:solidFill xmlns:a="http://schemas.openxmlformats.org/drawingml/2006/main">
                <a:srgbClr val="0B3B2A"/>
              </a:solidFill>
            </c:spPr>
          </c:dPt>
          <c:dPt>
            <c:idx val="1"/>
            <c:spPr>
              <a:solidFill xmlns:a="http://schemas.openxmlformats.org/drawingml/2006/main">
                <a:srgbClr val="1D6B43"/>
              </a:solidFill>
            </c:spPr>
          </c:dPt>
          <c:dPt>
            <c:idx val="2"/>
            <c:spPr>
              <a:solidFill xmlns:a="http://schemas.openxmlformats.org/drawingml/2006/main">
                <a:srgbClr val="AFC3B2"/>
              </a:solidFill>
            </c:spPr>
          </c:dPt>
          <c:dPt>
            <c:idx val="3"/>
            <c:spPr>
              <a:solidFill xmlns:a="http://schemas.openxmlformats.org/drawingml/2006/main">
                <a:srgbClr val="D89A2B"/>
              </a:solidFill>
            </c:spPr>
          </c:dPt>
          <c:cat>
            <c:strLit>
              <c:ptCount val="4"/>
              <c:pt idx="0">
                <c:v>结构</c:v>
              </c:pt>
              <c:pt idx="1">
                <c:v>证据</c:v>
              </c:pt>
              <c:pt idx="2">
                <c:v>视觉</c:v>
              </c:pt>
              <c:pt idx="3">
                <c:v>装饰</c:v>
              </c:pt>
            </c:strLit>
          </c:cat>
          <c:val>
            <c:numLit>
              <c:formatCode>General</c:formatCode>
              <c:ptCount val="4"/>
              <c:pt idx="0">
                <c:v>35</c:v>
              </c:pt>
              <c:pt idx="1">
                <c:v>30</c:v>
              </c:pt>
              <c:pt idx="2">
                <c:v>25</c:v>
              </c:pt>
              <c:pt idx="3">
                <c:v>10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62019"/>
                  </a:solidFill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270"/>
        <c:holeSize val="62"/>
      </c:doughnutChart>
      <c:spPr>
        <a:solidFill xmlns:a="http://schemas.openxmlformats.org/drawingml/2006/main">
          <a:srgbClr val="F7F3EA"/>
        </a:solidFill>
      </c:spPr>
    </c:plotArea>
    <c:plotVisOnly val="1"/>
  </c:chart>
  <c:spPr>
    <a:solidFill xmlns:a="http://schemas.openxmlformats.org/drawingml/2006/main">
      <a:srgbClr val="F7F3EA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6cd84de6649b3"/>
          <a:srcRect xmlns:a="http://schemas.openxmlformats.org/drawingml/2006/main" l="18733" t="0" r="187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0"/>
            <a:ext cx="7620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57456-2941-47A1-BD92-DB05D8D0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86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95A51-21F5-4E69-8893-B93B3EE2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2E758-DAB8-4A4F-80C7-70C3A3B0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PREMIUM STORY DECK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6A541-6D80-478C-8DEB-D79F6E61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095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让复杂内容，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变成清晰结论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9D19F-4A8E-4D2A-9E44-9E1C434D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适合工作汇报 · 项目提案 · 科研分享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4DBD9-501B-41EB-81DE-6A49565F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342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11F4C-EC88-4C8C-B85A-2865E257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12 MIN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DCF86E-FAA6-4AB2-87C7-11FC28AF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演讲时长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ADEAA-A31F-41F5-9C99-1AA81265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91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A62BA9-925C-4667-93A6-E8A2834D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530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推荐方向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616D8E-0B87-46E3-978D-11527ABE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91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100%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E5F11-CE54-4492-ABC7-E710C262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530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可编辑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0E95A-7E5D-43A4-842A-B015164C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PROJECT BRIEF /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1CFE85-B89F-406D-A5BC-9E032A0B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209610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a361a872a4f7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627A86-0EB9-4ED1-8CB1-88BC69E8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09600"/>
            <a:ext cx="571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B3A18-03DE-4346-A687-0C0A6800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90600"/>
            <a:ext cx="398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SCIENCE /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A69B3-E43A-4070-9880-17E46A38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81150"/>
            <a:ext cx="44577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从问题出发，</a:t>
            </a:r>
          </a:p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让证据说话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11898-DFA1-4D66-BBB3-B8528FB4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194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学术报告 · 论文答辩 · 技术分享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BDF00-246B-4C0A-B6AB-0A3CC1B9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22595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fd1916c9c434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8E67D-01F7-432C-8E36-EBD3F7F8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810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STRATEGY /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283AD-5F62-442D-A8D7-0C9E2B25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181100"/>
            <a:ext cx="4324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把选择，</a:t>
            </a:r>
          </a:p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变成行动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856D5-1544-4AC6-96CF-7FEEFC22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86050"/>
            <a:ext cx="1733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A7593-B7CF-4D36-8143-482B0E1F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765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年度规划 · 商业方案 · 复盘总结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0B3AB-49AC-411C-BB76-9D35BC4F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72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386420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FC6564-067F-457C-836D-8A11FBDC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6D6B5-4683-4D3B-A50D-97ECA771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SECTION DIVIDER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72930-DFC7-4AF0-812B-2B4D3240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103C7-8CE9-45C0-8648-FC115156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29527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9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99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BF0B3-B96A-4DBB-A365-BDC2893B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77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70AA4-3721-4CE4-8594-7CC30316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581150"/>
            <a:ext cx="638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先确定故事，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再选择版式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4859F-445F-4608-984B-D683EA8C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124200"/>
            <a:ext cx="588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章节页负责切换节奏，不承担解释任务。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4B39A-6BFA-48EC-A1D6-61DDE572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6240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E53AD-D50A-4A89-BFF0-F9A760CE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3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D60BDE-EA5F-46FC-9FE2-9A60DDDE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148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4A5CD-7017-44A0-B66E-65A6BDBB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51485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为什么现在重要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5CD8D-0FF7-4846-822E-F5CFF49D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6240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48FA56-5612-497C-8785-72557A61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3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34D3C-0725-4BCE-94A9-E07BE9C4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148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962C35-BB1C-4AA5-ACA0-1FFF7A4C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1485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哪些事实支持判断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7021A6-A5CD-4401-A47F-F325EC5E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6240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909DE9-DE59-4869-95A9-9F043591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7F2E3-0D81-45E0-A625-6908D82A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148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CB89D4-70B5-4DA7-AD0A-233500EE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51485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下一步需要做什么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C4B79A-3B2E-4537-BF2F-BFF2947D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57850"/>
            <a:ext cx="12192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CF5B1A-3031-4272-B71C-FAE73362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STRUCTURE BEFORE DECORATION</a:t>
            </a:r>
          </a:p>
        </p:txBody>
      </p:sp>
    </p:spTree>
    <p:extLst>
      <p:ext uri="{BB962C8B-B14F-4D97-AF65-F5344CB8AC3E}">
        <p14:creationId xmlns:p14="http://schemas.microsoft.com/office/powerpoint/2010/main" val="13445675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7A01E7-FF6C-4589-873C-5EDE23E1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12377-AA78-4C7C-99FD-DE25DB68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AGENDA / CHAPTER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E8CE9-DA34-4AB0-9F8E-1BA48C0E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BDA554-5D98-49A4-B83C-201F9250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ONE CLEAR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871C6-167E-432A-8080-C6B1D53A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四个章节，回答一个核心问题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23F46-0464-4BCE-B8F9-65388316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让听众始终知道：现在讲到哪里，下一步为什么重要。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C618C-4913-4DEE-B5D8-B2C4C84E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31424A-330E-43FC-AC3C-62424CF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AF203F-FAD0-478A-979E-A3268C7E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C61D0-B4B3-45F0-B315-E6B5A627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47CDB7-8AFD-4A4E-8F02-02D021C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为什么现在必须讨论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C9128F-4793-44AC-94B9-375F4DF2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356E7-9298-411B-A570-3C766D6F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形成共同背景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B05F3C-F15B-406E-9768-E8830512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7C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07BF3-E7E7-482B-A920-EFB68B46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528950-D7AE-4D88-812D-079F8000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19180-018E-4487-BB75-90AA28B4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洞察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6C870-0636-45E7-AB66-76A552A7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证据揭示了什么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9A9E4F-8582-4BB2-8AE4-03EB51CE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457457-EA7E-4732-8140-196EB971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提炼关键判断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B0D620-2984-4C59-A9E2-9B6D581F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794E5B-23DA-4485-A25E-31FC6459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5A7C70-BD5A-4458-886B-358EF6F6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59741E-9579-48C4-97A1-C7D11A8B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方案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A14660-7371-4E52-AF21-6A8FA2F9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我们准备如何行动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478B0E-51BD-4318-9EA2-BC16AE05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829A87-CD00-4A67-8D09-DE324CD4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明确执行路径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11F6EC-86A1-443A-B2B1-E8198711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FF687E-A241-43FD-8625-831153C9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068C85-31D6-499D-867C-04511C57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E896D7-1E99-43BB-AA06-1C677F34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E4B1FB-2FD4-4AB3-A7FA-B7DFA477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成功将如何衡量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43A61E-B649-4AB4-B4CB-9B69E738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931FDA-1C22-4F18-A40F-BF8458B8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定义衡量标准</a:t>
            </a:r>
          </a:p>
        </p:txBody>
      </p:sp>
    </p:spTree>
    <p:extLst>
      <p:ext uri="{BB962C8B-B14F-4D97-AF65-F5344CB8AC3E}">
        <p14:creationId xmlns:p14="http://schemas.microsoft.com/office/powerpoint/2010/main" val="14150133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790472-1530-4BAE-B9DC-7C31921A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CD5DA-5618-43B4-BA42-3DD588EB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OPENING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73A418-D00A-4B3F-B31D-A12EF4CD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D0491-4155-4A82-B3B8-58152FD2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ONE THESIS / THREE PROOFS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96CF0-1259-4126-85CE-3DEAF2CB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6515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真正高级的演示，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不是信息更多，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而是判断更清楚。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E6BE6-E87E-4FF4-B1CE-4E78EC55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600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BF4DA-62F8-435E-9FDC-27121624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6115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结论先行，证据随后，行动收束。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每一页都承担清晰的叙事任务。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DE533-A9A1-4782-8D76-70BA4D96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6515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4587C-D689-4EBF-995F-22CAA5B8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判断标准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A69B6-34CC-4938-9B54-0B4BC4DC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582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听众能否在 5 秒内复述这一页的结论？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A8F27-8762-49F4-B042-967AFA8C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95700" cy="483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A72FC-F13D-452D-8E0F-51BAEA77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352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539144-158A-4B69-B407-9F92A079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33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少而关键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C2C247-3F93-4BCA-AFDB-E6299DEB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714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只保留推动结论的信息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6B8153-55AE-4D24-A9BF-C5F0BFBD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086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561A7-504C-4BC3-916B-4EC9C2FC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622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D5C72-6051-4C98-BE04-992C98C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743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标题有判断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5A448-E8BE-4A76-AA55-8F46A6B3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242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让听众先知道这页意味着什么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BE9575-AE20-4834-8236-397A4919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62400"/>
            <a:ext cx="3086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DC1F2B-A7FC-419B-84C3-4F6367FE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7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5AE5F1-1F8A-4584-AF91-B39A67B0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152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系统要稳定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63E19-F11E-4428-B27A-100537C3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339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图像、字体和节奏保持一致</a:t>
            </a:r>
          </a:p>
        </p:txBody>
      </p:sp>
    </p:spTree>
    <p:extLst>
      <p:ext uri="{BB962C8B-B14F-4D97-AF65-F5344CB8AC3E}">
        <p14:creationId xmlns:p14="http://schemas.microsoft.com/office/powerpoint/2010/main" val="20950292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BABA37-5BC6-4A67-A0B5-0331FFD0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6F26E-F016-4375-B3E3-1E258B8F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VISUAL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393B9-D285-4EA9-9C47-3A793192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795A8-B3A2-43AB-9820-7D4BE9F2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IMAGE + CLAIM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DC963-2888-49FA-89DF-10BF2D5D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一张图，只负责证明一个结论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B887C-04B0-49F6-836E-6BCE136C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用可替换主视觉建立情境，用三条证据完成解释。</a:t>
            </a:r>
          </a:p>
        </p:txBody>
      </p:sp>
      <p:sp>
        <p:nvSpPr>
          <p:cNvPr id="7" name="replaceable-visual-frame">
            <a:extLst xmlns:a="http://schemas.openxmlformats.org/drawingml/2006/main">
              <a:ext uri="{FF2B5EF4-FFF2-40B4-BE49-F238E27FC236}">
                <a16:creationId xmlns:a16="http://schemas.microsoft.com/office/drawing/2014/main" id="{B2EAEF6D-7CDD-42CD-814A-022D05C3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1531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CF17F3-8E95-45D6-B67F-5E325FBD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569595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FE0AD-00D0-4E08-9857-CA8E40A2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2905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可替换主视觉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B620F-BC22-4CE2-A987-14244719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569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950D92-272D-4D62-837D-57130E9B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CAPTION / SOURCE / KEY OBSERVATION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0E2E8-7ABF-4663-A338-83935BFF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813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F25A5-F235-41BD-A4DA-E06543DB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D5EE63-18E2-4DEF-B28B-649C92B5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146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先给结论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F83A7B-7495-4875-A77C-A5E8B25B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385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标题直接说明这张图意味着什么。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A283F3-6B0F-4E08-A77B-DB377A04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9525">
            <a:solidFill>
              <a:srgbClr val="0B3B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423F0-91D6-492A-BE15-B45BD7E9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81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19D974-B574-4B2E-B540-437FE8F4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43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再给证据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F98B32-CBAF-4AF4-A382-A734654F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保留数字、事实、来源和必要限定。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FFEC53-2497-4B39-96C8-56028B3C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387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BD0E3D-6E03-463B-B8E0-7F28D98D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101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2B9A5-BCB3-4481-AA6E-1B1C2AB4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720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最后给行动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C4EA9A-E091-4A5F-AE38-68D89FD5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959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明确下一步、风险或需要作出的决定。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896BDC-FBB2-4EC9-82F8-79D37CF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962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一张图 + 一个判断 + 三条解释</a:t>
            </a:r>
          </a:p>
        </p:txBody>
      </p:sp>
    </p:spTree>
    <p:extLst>
      <p:ext uri="{BB962C8B-B14F-4D97-AF65-F5344CB8AC3E}">
        <p14:creationId xmlns:p14="http://schemas.microsoft.com/office/powerpoint/2010/main" val="313073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481076-B05B-452C-9DC1-C845A4DB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0E927-D4A6-49B2-8CCE-5AB7AD75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VISUAL GALLERY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16A08B-761A-4941-9563-0501DAB2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52D7E-185E-4D04-85B2-C6E40956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THREE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961B0-1BF7-4E10-9172-60C778B6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用三种视角，解释同一个主题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A9AF4-39B4-4498-ADE9-952942DA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适合案例、产品、实验过程和阶段成果。</a:t>
            </a:r>
          </a:p>
        </p:txBody>
      </p:sp>
      <p:sp>
        <p:nvSpPr>
          <p:cNvPr id="7" name="gallery-frame-1">
            <a:extLst xmlns:a="http://schemas.openxmlformats.org/drawingml/2006/main">
              <a:ext uri="{FF2B5EF4-FFF2-40B4-BE49-F238E27FC236}">
                <a16:creationId xmlns:a16="http://schemas.microsoft.com/office/drawing/2014/main" id="{587667AC-80EA-4990-8B6D-92A0372A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575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62D82-D49E-4C48-95FB-358BEFAD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9630D-7C33-49AC-93B4-6241B1B2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0D2F79-FB03-43E9-AA80-3E26C652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19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全景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E97D10-8899-44BD-8CE2-1AAE36A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43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建立背景与尺度</a:t>
            </a:r>
          </a:p>
        </p:txBody>
      </p:sp>
      <p:sp>
        <p:nvSpPr>
          <p:cNvPr id="12" name="gallery-frame-2">
            <a:extLst xmlns:a="http://schemas.openxmlformats.org/drawingml/2006/main">
              <a:ext uri="{FF2B5EF4-FFF2-40B4-BE49-F238E27FC236}">
                <a16:creationId xmlns:a16="http://schemas.microsoft.com/office/drawing/2014/main" id="{7C7F827E-E946-4169-A15C-96F5FA4F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86050"/>
            <a:ext cx="32575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79D732-CABE-446B-928C-76D53664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863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0159D2-5B58-4C39-AB76-F1C48186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257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6F1643-A072-4CB0-9245-3645AFAB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19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细节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5E052-616D-4D13-9046-CA6088B6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543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突出关键差异</a:t>
            </a:r>
          </a:p>
        </p:txBody>
      </p:sp>
      <p:sp>
        <p:nvSpPr>
          <p:cNvPr id="17" name="gallery-frame-3">
            <a:extLst xmlns:a="http://schemas.openxmlformats.org/drawingml/2006/main">
              <a:ext uri="{FF2B5EF4-FFF2-40B4-BE49-F238E27FC236}">
                <a16:creationId xmlns:a16="http://schemas.microsoft.com/office/drawing/2014/main" id="{33B88848-BBA5-401A-9EAA-2B59A363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86050"/>
            <a:ext cx="32575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44C35A-9F26-45D4-BD52-6AD1F15D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863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1B72C2-BDA3-4578-BB0E-ACB93A01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17F69B-5B93-43C1-8235-EC4AA186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219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3B9200-EB9A-48F0-98E3-4AB81BB3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43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让价值可以被看见</a:t>
            </a:r>
          </a:p>
        </p:txBody>
      </p:sp>
    </p:spTree>
    <p:extLst>
      <p:ext uri="{BB962C8B-B14F-4D97-AF65-F5344CB8AC3E}">
        <p14:creationId xmlns:p14="http://schemas.microsoft.com/office/powerpoint/2010/main" val="12516445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2F9358-8F91-4912-8213-388B49EC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B1368-80FB-44CF-9C38-9052047F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EVIDENCE FRAME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F4DC4-3632-4277-87EF-D0EFE9E8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90AAD-6899-4480-B8C5-708E3831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THREE SIGNALS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8426E-F27D-462D-AC86-41FE343F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三个证据，共同支持一个判断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AC6C8-F793-428A-89FD-C9AA42D7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横向比较时保持同一尺度，避免把信息堆成卡片墙。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1FD3D-BB3E-4CAB-B36F-284AB990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2575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8A0458-D854-49E6-9525-D102B12B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257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F6ED1-E670-4E2C-9894-0EF1406D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612707-2105-46AF-BCAC-C613E30F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需求已经出现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27AEC-BB0D-4AE7-8282-AA10F9C0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781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受访者主动提出更快、更简单的流程。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55628-2EA7-447D-9BE8-18E1241A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7B381-EA60-4155-8C10-488B6588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SIGNAL / DEMAND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8B1609-9EB8-4D60-96F0-5C427677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81300"/>
            <a:ext cx="32575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9525">
            <a:solidFill>
              <a:srgbClr val="0B3B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F9396-E462-4CAF-B4CA-CBD6F620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81300"/>
            <a:ext cx="3257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D0EBB4-1FE0-4775-A53B-CB320244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432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2.4×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3E782E-70FD-4A5D-96B8-23BCBAA0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效率可以提升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D396C2-2957-409C-9D43-7561DF41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2781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重复工作被压缩，</a:t>
            </a:r>
          </a:p>
          <a:p xmlns:a="http://schemas.openxmlformats.org/drawingml/2006/main">
            <a:pPr algn="l"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团队把时间留给判断。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089D2B-5CC7-4096-B998-60E4860C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292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39A793-D0BC-419F-A1CB-1137BE0F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5626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SIGNAL / SPEED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F8B47-2433-4DE9-8596-D15AE8EB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575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A76035-93DF-465E-8475-67697FF6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57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87E03D-6C8C-4C8C-A95E-537A703C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18%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2A364C-0AD9-4B02-81E4-A6309B51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风险仍需管理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5820CE-3246-4C45-B6DA-0F2F2F70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10100"/>
            <a:ext cx="2781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必须保留人工复核和来源追踪。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41340-091B-497C-9FA5-F92667E2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292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968C18-F39E-463C-AE0E-2CB5F789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626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SIGNAL / CONTROL</a:t>
            </a:r>
          </a:p>
        </p:txBody>
      </p:sp>
    </p:spTree>
    <p:extLst>
      <p:ext uri="{BB962C8B-B14F-4D97-AF65-F5344CB8AC3E}">
        <p14:creationId xmlns:p14="http://schemas.microsoft.com/office/powerpoint/2010/main" val="15006134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C3D15C-2A09-4631-8CE3-86DCA2D2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ACD76-691D-4DC2-A727-0ABF0652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PROCESS / HOW IT WORKS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C44B24-74A7-49DD-A827-55CDFC32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50DA45-14E8-49C3-9978-BD5DE0C1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FOUR STEPS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A9FD1-9D1F-483D-BBC9-455E1DAD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从零散材料到可讲述的演示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FFCF1-ECCA-489C-85EC-D76D6D50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默认自动完成，用户只需提供内容。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FD296-A615-4B0D-991C-EB06E5F4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52C443-DB47-4155-8F9F-C332B4B8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CE8B88-4459-4134-979F-3A127534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93B74E-7E1C-490F-90F5-369CAF64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诊断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1DD73-F6DD-4DF6-B9EF-E9FC957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识别受众与目标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E0BBF-5EBB-44CA-9C53-80E8032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09342-AAFD-46E2-8D16-B857F467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6BCC86-3B65-4B37-B42D-6ABA7DD2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4E78A4-A0AB-4DCA-A4B1-37A8C78E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形成故事线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C5BDDE-EDE3-4D5E-B6EF-D6C53FC2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E21AF-4C46-4208-AB7F-2ED6F207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BFCC5F-2D2C-46EC-AE0A-67CF7E21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83AE3-98FC-4A7D-BBE7-CAE4E449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选择最佳版式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A0E81F-9C74-4CF1-A63C-AD06F06CA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154B1-0A53-427E-9099-ACECBA14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46A476-1095-4A54-8C94-487FF8CA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质检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E3867C-1770-4E32-BC14-65D13C82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渲染并修正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2D217-41DA-4884-8350-54E306F1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0"/>
          </a:solidFill>
          <a:ln xmlns:a="http://schemas.openxmlformats.org/drawingml/2006/main" w="0">
            <a:solidFill>
              <a:srgbClr val="123F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47CB8D-E4AE-4064-836C-49113825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BF9CB3-F6E7-4731-8137-67A93D97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原始材料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D3A99D-A6B2-45CA-A8A7-2110D9B9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8293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12D8DD-3A93-4F6B-92BF-988DBBA2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MAP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C849AC-0726-4CEC-BE75-F835236C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故事结构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EC4BAC-110D-4ABD-BB66-88FF608A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8293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0C125C-6973-453E-9D0E-34BF14F1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LAYOUT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91384F-6DD7-4B47-A131-A0B54286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可编辑页面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0A4024-B592-4C2B-996A-05134F5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8293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45BF1C-EF18-4224-B812-593E6352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QA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47CA8D-A06D-4213-AF44-A74C2C30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渲染成品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90ADFA-69C5-4817-AF5A-7E76AA38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30078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E7F319-C638-46D9-A35F-6682517D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3ADC16-023E-41F1-AB83-8B4E2E8F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TIMELINE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6D631-84D6-4E85-ABD9-DE562886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508AB-90FB-4C88-85AC-668634F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MOMENTUM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F900E-85ED-497D-88CA-5FFDEF99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把时间线写成变化，而不是日期清单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FE2B7-987B-4AEB-8090-A3F7D42E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每个节点只回答：发生了什么，以及它为何改变下一步。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C845B-1D3C-496D-B3E6-C7206A9E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33800"/>
            <a:ext cx="990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67D5D-282F-4DEA-B7A9-66C9923E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EFFDC-D709-4D7F-84F6-7CD29E6A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D9A11-638C-43C0-9446-20490646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验证问题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4C97C8-E933-4201-ABD3-977559A5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93F08-2331-4690-836B-B45D70A6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EB520-650E-462C-AAD9-A7C78499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E87805-2F53-4B01-85FC-7BB40174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形成方法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51CBDB-D92D-4524-8249-839A992B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ADBCF6-2FB5-450E-A648-3B6E614A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BF32DE-897A-4640-A124-1FD3CA6C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05D341-85DB-4A16-A93F-1734A80D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扩大应用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8ADB1-B46F-4BCF-B7C2-1B6A154B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E09F9-DFD2-42FF-817E-0C4D00FD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9F4572-0AB5-440D-82DC-F4D13DE0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2025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37D319-1BCF-44F3-A4FE-E694FEBF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建立标准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7FA623-0F11-43B5-91BE-475571E8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E8FE3D-6331-457F-9F15-C88E15E7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7CB5A3-FEED-4B9A-9CFE-8FF67EC4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01E1D0-F4CE-4D62-BFE3-3B8EE978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规模化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C4B99A-CF97-4951-B658-87CFDB02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</p:spTree>
    <p:extLst>
      <p:ext uri="{BB962C8B-B14F-4D97-AF65-F5344CB8AC3E}">
        <p14:creationId xmlns:p14="http://schemas.microsoft.com/office/powerpoint/2010/main" val="895143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C20541-8AD9-47B6-B4D9-13E57134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EF9B9E-6A5E-4A1B-A02C-2D3F094F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232D5-6019-497E-A803-BB931140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9C44FD-556B-4B9A-93FE-55D81B93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BEFORE / AFTER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B3D93-E568-469A-9047-D8B674B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对比的重点，是变化带来的意义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F2B25-0F8C-4665-893C-2E715CDF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使用同一维度和同一尺度，避免左右两边各说各话。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0BCE2-4BCC-45DA-BC2F-CAF8C2F9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7625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97DA8-92C3-442D-BD41-BE260266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7625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B7EBD6-7751-491F-A11E-4C42F94A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过去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E4BC9F-DC92-449D-9F30-610DF44D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材料分散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结构依赖个人经验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修改成本高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A750E-0B1A-458A-A299-21B91135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623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现在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8DCBAD-F134-4F56-A664-C05D4338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2905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自动诊断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按任务匹配版式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全套渲染质检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FA58D-F821-4AAF-A055-792CE44F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2430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280333-5EA7-49AA-BFD1-9340D9AE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195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1376214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50DEB-E7D4-4D52-A518-9CA5FDAE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DD58A-4737-4F4E-8297-45D11C57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DATA / BAR CHART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4CDDD-0502-4957-889A-27482A39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E7EBB-1D1E-4F0E-8172-782F65AD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DECISION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222C9-AF84-4CEB-8F1E-2FAE173A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效率提升来自流程简化，而非减少判断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DD776-9862-43EF-B228-8BCB8A5F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用一个主指标和一张图回答问题。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6291A-E7D6-4D82-A018-E04BB9A1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46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2.4×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F3C00-5719-4770-A024-8F88AC35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交付速度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899FA2-3A1E-4F10-934D-5092019C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从整理到初稿的平均时间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3676650" y="2800350"/>
          <a:ext xmlns:a="http://schemas.openxmlformats.org/drawingml/2006/main" cx="7524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674832aeda4fad"/>
          </a:graphicData>
        </a:graphic>
      </p:graphicFrame>
    </p:spTree>
    <p:extLst>
      <p:ext uri="{BB962C8B-B14F-4D97-AF65-F5344CB8AC3E}">
        <p14:creationId xmlns:p14="http://schemas.microsoft.com/office/powerpoint/2010/main" val="7488621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AC2B6-D8EE-4397-971D-2FA0030F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5C3DB-7629-4327-938F-D785DFDE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DATA / TREND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1D6AF-27DE-4244-85BB-7191FEFE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9A235-5AB4-49F6-95AA-4C723815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TREND + MEANING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566CE-9027-4AC9-A1F6-C2F1CC65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质量提升发生在每一次复用之后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733392-BB27-4259-BA4D-74DB23C9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趋势图负责显示变化，右侧结论负责解释变化。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85800" y="2781300"/>
          <a:ext xmlns:a="http://schemas.openxmlformats.org/drawingml/2006/main" cx="6858000" cy="2876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a0ad4fcb4d4d0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3D177-166E-43DF-92C1-FF4FA60E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90850"/>
            <a:ext cx="32194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36F97F-5072-4F9A-8174-5EF87C25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147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+34pt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0CCB7-0160-4003-896C-E0AA149B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复用带来的质量增益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70F4C-0397-4D65-A02E-DC07C30C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6291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把经验写进资源，而不是留在个人记忆里。</a:t>
            </a:r>
          </a:p>
        </p:txBody>
      </p:sp>
    </p:spTree>
    <p:extLst>
      <p:ext uri="{BB962C8B-B14F-4D97-AF65-F5344CB8AC3E}">
        <p14:creationId xmlns:p14="http://schemas.microsoft.com/office/powerpoint/2010/main" val="13093051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44F615-CED5-4FDA-8A3A-59E59676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F1C36-6E30-4237-9D05-ED619082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DATA / COMPOSITION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48013-8B8D-4E4A-9E75-7A5494E1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0DC76-AD7D-4EFA-979A-6F21A1C7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COMPOSITION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34C5E-EE76-4180-AFF1-BF606063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一套好演示，时间应该花在哪里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F0053-DED8-4752-B00C-5E93DCD1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结构和证据优先，装饰只负责强化层级。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85800" y="2724150"/>
          <a:ext xmlns:a="http://schemas.openxmlformats.org/drawingml/2006/main" cx="4953000" cy="3105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0e1f8b926e40d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33B2D-E11F-4A28-A9FA-A6174AD2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28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37C19F-DD0E-4A7B-B847-A17EBB43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908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结构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FD921E-CD7B-46FE-A533-EFD3C937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35%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483A18-D7C5-47D5-A6CF-57327AC0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D212D6-37A0-41B5-B2F7-00AA7874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57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158699-55D5-4CB5-A595-39F13E31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195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FCAD7-AE53-4650-8441-DEBADFA0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19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30%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6445AA-4453-45D8-B0BF-F1712ACD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1955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0D1986-88D3-4BF8-92DA-C3D3C9C1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86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8601EC-0B41-4667-BD90-7D66B549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48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视觉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16774C-BF61-4484-A3EC-D0A7F9CD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248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AFC3B2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AFC3B2"/>
                </a:solidFill>
                <a:latin typeface="Georgia"/>
                <a:ea typeface="Georgia"/>
                <a:cs typeface="Georgia"/>
              </a:rPr>
              <a:t>25%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936AD0-4728-476E-8DC7-03ED3A05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482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6FDB2E-20C0-4B9D-8694-55A3F3F3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14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845FF8-6C3C-4EA6-B104-8DF10FC4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768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装饰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6B707B-0B5E-4A71-9A58-ACD56363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923EF1-F2CD-4861-9127-B85EA0AE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7685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44585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31BF7B-9FD3-4687-A910-0AF2ED4D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5F566-3D89-4591-B526-FE2FF551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RESEARCH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6D3E6-7476-4215-9372-C0500486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B9AD4-453A-4CD5-A4E9-90F792C4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METHOD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9F6C6-4E55-4091-BD75-C4A1DEE8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方法页要让过程可复核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8E395-C7A1-4C51-AAD4-371BDB7E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用输入、处理、验证、输出四个环节建立可信度。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BE5862-0EB8-4FFA-AD2F-99B5CCB8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7AFDE-51FC-4D5B-9ADE-01EB957A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554513-1CDD-4B41-85CA-FFA28F45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1A424-A038-47C9-B531-FE47B739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原始材料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数据与来源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505F26-13E4-457D-AEDD-56BE9F76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9808B-256F-43F7-BECC-F7DE8CCC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87E99F-226A-4D3C-B0A6-6F2D66FA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480CC-9A18-4C31-A59A-A8B4B645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归纳主题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提取证据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185918-2D7A-4EFD-A18D-7D007146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A16D4-13CB-4A4B-82CC-8C84F169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588168-FA97-4BAA-94D1-8A1BAC62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7F8AB2-319F-472C-BDE2-27FAF800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核对事实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检查偏差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8AAA4-D536-41FD-9A7B-2A4FEA30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32C4DF-D7BB-4DF2-9051-D83A92CA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E73D31-F050-4D38-88A6-11AB9216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02D9F-1E10-4DBC-B07B-EA1F8C28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形成结论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给出行动</a:t>
            </a:r>
          </a:p>
        </p:txBody>
      </p:sp>
    </p:spTree>
    <p:extLst>
      <p:ext uri="{BB962C8B-B14F-4D97-AF65-F5344CB8AC3E}">
        <p14:creationId xmlns:p14="http://schemas.microsoft.com/office/powerpoint/2010/main" val="4343696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4DE1AF-0226-4B79-BCE4-E355C7A3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627EA-AFE9-4242-A6FD-312FFA32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FINDINGS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E690A-5132-4FA5-9474-2E2085C2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917F5-7329-4C89-A1AC-63786008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TWO DIMENSIONS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DE78E-4DA3-42D8-89AE-3D699C25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用二维矩阵，把信息转成优先级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E8B370-32C8-43D8-924F-51E8D8EB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横轴表示价值，纵轴表示可行性。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AFEBF-5537-4804-B04C-DF16919B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5619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0E986-EDD2-4108-AFFD-4B584A45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857500"/>
            <a:ext cx="95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F272A9-B86B-4807-BDFF-21CC0C34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8625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8588DF-C2E7-4E33-9B0F-4F97BC0B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高可行性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F68AC-A5FE-4E13-9CDF-D6FB61CF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低可行性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1A77B-F350-4B6A-8F8C-A7B0FE73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483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低价值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731391-85EB-4702-A787-EEE3C64B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8483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高价值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1E0BE-3E83-4E24-ADDF-4771C49B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62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BABD5F-760C-47CB-9979-876A7BDB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67100"/>
            <a:ext cx="933450" cy="933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3DEB5-C78E-4D26-BEEC-0F719F98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62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0BB2E2-AF46-498C-9152-34B0D5C3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43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DE8F6C-4C4E-45AB-A97A-D78CC7D0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2915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8B654D-B162-4B94-8F87-CD20C482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86100"/>
            <a:ext cx="3219450" cy="2305050"/>
          </a:xfrm>
          <a:prstGeom xmlns:a="http://schemas.openxmlformats.org/drawingml/2006/main" prst="roundRect">
            <a:avLst>
              <a:gd name="adj" fmla="val 661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DD65B-1820-42B9-82D6-38BA057F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90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优先做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717540-149B-4A30-9AE5-58076617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005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高价值、低阻力的事项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立即进入下一轮验证</a:t>
            </a:r>
          </a:p>
        </p:txBody>
      </p:sp>
    </p:spTree>
    <p:extLst>
      <p:ext uri="{BB962C8B-B14F-4D97-AF65-F5344CB8AC3E}">
        <p14:creationId xmlns:p14="http://schemas.microsoft.com/office/powerpoint/2010/main" val="1488711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B5687C-651F-4E4C-927C-7B93DB4A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B9215-A1F1-463E-ABA9-9D75AB5A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RISK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1E305-6215-488E-ADDB-BFD7EA23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72FD9-CDB3-4C38-BF03-FA1F07C7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RISK + RESPONSE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5B420-7355-4CB7-9297-F50976C7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风险页必须同时给出应对方式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23F03-6B77-4EB2-AB75-C72521D5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只标红问题没有价值；明确触发条件、负责人和动作。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D51B7-7955-467D-92A4-2C54503C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053174-B8F7-4C5B-B60C-6969254B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9149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E4C43-EB8B-479E-8CDB-D13A14D2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149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5E4BC"/>
          </a:solidFill>
          <a:ln xmlns:a="http://schemas.openxmlformats.org/drawingml/2006/main" w="0">
            <a:solidFill>
              <a:srgbClr val="F5E4B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F1E44-E010-4F9F-8CBB-3BBF33DE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FFC73E-D10D-4AE4-BDD5-53BB4F64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5765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5E4BC"/>
          </a:solidFill>
          <a:ln xmlns:a="http://schemas.openxmlformats.org/drawingml/2006/main" w="0">
            <a:solidFill>
              <a:srgbClr val="F5E4B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8EFD7-1484-47D5-8310-AFC7E2C5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BC17A"/>
          </a:solidFill>
          <a:ln xmlns:a="http://schemas.openxmlformats.org/drawingml/2006/main" w="0">
            <a:solidFill>
              <a:srgbClr val="EBC17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B3128F-7784-4C5C-AB43-1F8618C8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004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5E4BC"/>
          </a:solidFill>
          <a:ln xmlns:a="http://schemas.openxmlformats.org/drawingml/2006/main" w="0">
            <a:solidFill>
              <a:srgbClr val="F5E4B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460CA-5DE0-4117-B46E-BBDE33BE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004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BC17A"/>
          </a:solidFill>
          <a:ln xmlns:a="http://schemas.openxmlformats.org/drawingml/2006/main" w="0">
            <a:solidFill>
              <a:srgbClr val="EBC17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C35F1-41FD-4573-8481-08992B90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04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A7727-A70A-4E76-9FEB-76120C72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影响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A5C6CE-E4BD-46DD-89BB-55EEAEE5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05500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发生概率 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F39AE9-0C0E-4BD1-8957-8B485807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29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51DAA4-3720-4E83-9119-A83B5EFB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956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06CFA8-161D-4E61-A908-81CCF006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24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986C5B-324D-4EED-8AB9-DEAC9554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910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7D9D48-6200-4400-8F97-8498C980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143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33ABE2-870E-4119-B141-C3475573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101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8C8E16-9D47-4DFA-A199-E63CF4A7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114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EF2AAC-1DDC-4624-A10E-308339B6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1623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32C62F-A8ED-4807-AABD-7368304B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861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事实错误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D4DF0C-0CDC-4413-9FC9-931CFFA3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关键数据逐项复核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E8F1D0-8F65-4C45-BE8B-05C96F09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71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D18E8B-81F1-4C5A-8DA3-DFD47D13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195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F49802-2E30-4CF4-96FD-E1A179BA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4335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信息泄露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EA1D65-94D5-46B2-A607-283B7FB6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862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输入内容分级处理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143C96-F5CA-4662-A558-87A22039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829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F75F47-D5AD-4B5D-A94A-4173F82D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8768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63CD1-5746-4C09-BE8E-9922E99E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006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视觉失真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CE8562-35B7-4DDA-A982-ADF57380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全套渲染后再交付</a:t>
            </a:r>
          </a:p>
        </p:txBody>
      </p:sp>
    </p:spTree>
    <p:extLst>
      <p:ext uri="{BB962C8B-B14F-4D97-AF65-F5344CB8AC3E}">
        <p14:creationId xmlns:p14="http://schemas.microsoft.com/office/powerpoint/2010/main" val="1767401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D40DDA-2345-4630-A752-814DD3AD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068893-072E-4F7E-83AB-6C0E15A9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CASE / QUOTE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A8100-BB4D-4B07-9E2E-86B8EA1F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79209-6A32-4BDD-8F3D-41FD0DED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4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66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66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1C907-F356-4DC7-811B-1091F324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609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用户不需要学会设计，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只需要把真实材料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交给系统。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4A282-A340-4F27-962B-E5AE98EC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385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C80936-5F03-4541-9414-17C20C6E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433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3B2"/>
                </a:solidFill>
                <a:latin typeface="Microsoft YaHei"/>
                <a:ea typeface="Microsoft YaHei"/>
                <a:cs typeface="Microsoft YaHei"/>
              </a:rPr>
              <a:t>— 资源型 skill 的产品原则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60537-4703-4707-AC13-8E8C3656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066800"/>
            <a:ext cx="344805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0"/>
          </a:solidFill>
          <a:ln xmlns:a="http://schemas.openxmlformats.org/drawingml/2006/main" w="9525">
            <a:solidFill>
              <a:srgbClr val="2D83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0241B-B2F2-4548-A31A-21A0276E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66850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52383-C404-4821-9255-E13F3AC3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621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推荐方向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51F78-2BD7-4A5D-8FDC-2568878D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95550"/>
            <a:ext cx="2838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1396AD-5C65-4E69-9EFF-7B29517C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86050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B78134-7178-492C-BAF4-A6FFF77A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813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必要问题上限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4132CD-B93E-4148-920B-B2598CD7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14750"/>
            <a:ext cx="2838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62488-41FD-429D-8574-B5C4ED33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100%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0684C-CF8D-40EF-92B4-849B23CB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逐页渲染质检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BB256B-790F-44CB-8AE1-1803F811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743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A6CAFC-F64E-4703-81A9-FD5A5C1F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81600"/>
            <a:ext cx="624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RAW MATERIAL → CLEAR STORY → EDITABLE DECK → RENDER QA</a:t>
            </a:r>
          </a:p>
        </p:txBody>
      </p:sp>
    </p:spTree>
    <p:extLst>
      <p:ext uri="{BB962C8B-B14F-4D97-AF65-F5344CB8AC3E}">
        <p14:creationId xmlns:p14="http://schemas.microsoft.com/office/powerpoint/2010/main" val="10217268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E1DCEE-B783-437B-A243-7EF02CCA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541311-7043-4340-B2D8-E65C5791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CLOSING / NEXT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205F08-9FBD-44F3-8B80-A2F05E82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0CFB02-3223-4529-831C-59350D19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66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好的演示，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让下一步变得简单。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F2BF17-91F2-4C66-BF19-DAA2839D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把材料交进来，剩下的由 skill 完成。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8722F-5E62-4235-B509-35174AAA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23050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FA745-D97C-471D-A851-EA12C625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AD894-0034-4E84-8360-B979949C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提供材料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75769-0354-4DE1-8617-7A2AB495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19550"/>
            <a:ext cx="23050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9770CE-A5A5-4458-93E7-E6B0095A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291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36FAAF-CF4A-4F95-87D9-0ED8260A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86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确认听众与时长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54244-5ECE-449C-A8C3-3AF95C8D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23050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AFDB72-063C-4CE4-BDF7-09FABBB5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291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7E564-3A02-4AD3-A5EA-2FE0872D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86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领取可编辑成品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7BFE1-2902-4154-ACB9-BFF561E1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066800"/>
            <a:ext cx="19621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1F9017-18E9-4523-9233-D1DCC7B7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714500"/>
            <a:ext cx="1581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READY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7666A-090E-4807-95C8-6D446ADA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52700"/>
            <a:ext cx="15811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240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TO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240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PRESENT</a:t>
            </a:r>
          </a:p>
        </p:txBody>
      </p:sp>
    </p:spTree>
    <p:extLst>
      <p:ext uri="{BB962C8B-B14F-4D97-AF65-F5344CB8AC3E}">
        <p14:creationId xmlns:p14="http://schemas.microsoft.com/office/powerpoint/2010/main" val="8885491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2026-07-19T18:45:12.3730000Z</dcterms:created>
  <dcterms:modified xsi:type="dcterms:W3CDTF">2026-07-19T18:45:12.3730000Z</dcterms:modified>
</coreProperties>
</file>